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6db3b211c845a6" /><Relationship Type="http://schemas.openxmlformats.org/officeDocument/2006/relationships/extended-properties" Target="/docProps/app.xml" Id="R5141e9f9397f49a4" /><Relationship Type="http://schemas.openxmlformats.org/officeDocument/2006/relationships/officeDocument" Target="/ppt/presentation.xml" Id="R51502743637c46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29bb2f7ccb48f3"/>
  </p:sldMasterIdLst>
  <p:notesMasterIdLst>
    <p:notesMasterId xmlns:r="http://schemas.openxmlformats.org/officeDocument/2006/relationships" r:id="R07eb683eb389479f"/>
  </p:notesMasterIdLst>
  <p:sldIdLst>
    <p:sldId xmlns:r="http://schemas.openxmlformats.org/officeDocument/2006/relationships" id="256" r:id="R06aa2d45093a4e49"/>
    <p:sldId xmlns:r="http://schemas.openxmlformats.org/officeDocument/2006/relationships" id="257" r:id="Raf6aff74fb64454c"/>
    <p:sldId xmlns:r="http://schemas.openxmlformats.org/officeDocument/2006/relationships" id="258" r:id="Rb1edd68eeec8453f"/>
    <p:sldId xmlns:r="http://schemas.openxmlformats.org/officeDocument/2006/relationships" id="259" r:id="Rf99f31e855f348c0"/>
    <p:sldId xmlns:r="http://schemas.openxmlformats.org/officeDocument/2006/relationships" id="260" r:id="R80de9f1d71d24ef1"/>
    <p:sldId xmlns:r="http://schemas.openxmlformats.org/officeDocument/2006/relationships" id="261" r:id="R5c75244222254c3d"/>
    <p:sldId xmlns:r="http://schemas.openxmlformats.org/officeDocument/2006/relationships" id="262" r:id="R4640629490ce4eee"/>
    <p:sldId xmlns:r="http://schemas.openxmlformats.org/officeDocument/2006/relationships" id="263" r:id="R50e00030ada048ed"/>
    <p:sldId xmlns:r="http://schemas.openxmlformats.org/officeDocument/2006/relationships" id="264" r:id="R2908adbcdab146ea"/>
    <p:sldId xmlns:r="http://schemas.openxmlformats.org/officeDocument/2006/relationships" id="265" r:id="R2e91af1954214ff6"/>
    <p:sldId xmlns:r="http://schemas.openxmlformats.org/officeDocument/2006/relationships" id="266" r:id="R9bb0e13d943a42b0"/>
    <p:sldId xmlns:r="http://schemas.openxmlformats.org/officeDocument/2006/relationships" id="267" r:id="Raed987275d6647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43bc6d7c04723" /><Relationship Type="http://schemas.openxmlformats.org/officeDocument/2006/relationships/slideMaster" Target="/ppt/slideMasters/slideMaster1.xml" Id="R2f29bb2f7ccb48f3" /><Relationship Type="http://schemas.openxmlformats.org/officeDocument/2006/relationships/notesMaster" Target="/ppt/notesMasters/notesMaster1.xml" Id="R07eb683eb389479f" /><Relationship Type="http://schemas.openxmlformats.org/officeDocument/2006/relationships/presProps" Target="/ppt/presProps.xml" Id="Rddc0fa4d3ae64c30" /><Relationship Type="http://schemas.openxmlformats.org/officeDocument/2006/relationships/viewProps" Target="/ppt/viewProps.xml" Id="R169999075f064013" /><Relationship Type="http://schemas.openxmlformats.org/officeDocument/2006/relationships/tableStyles" Target="/ppt/tableStyles.xml" Id="R3b74163729404bc6" /><Relationship Type="http://schemas.openxmlformats.org/officeDocument/2006/relationships/slide" Target="/ppt/slides/slide1.xml" Id="R06aa2d45093a4e49" /><Relationship Type="http://schemas.openxmlformats.org/officeDocument/2006/relationships/slide" Target="/ppt/slides/slide2.xml" Id="Raf6aff74fb64454c" /><Relationship Type="http://schemas.openxmlformats.org/officeDocument/2006/relationships/slide" Target="/ppt/slides/slide3.xml" Id="Rb1edd68eeec8453f" /><Relationship Type="http://schemas.openxmlformats.org/officeDocument/2006/relationships/slide" Target="/ppt/slides/slide4.xml" Id="Rf99f31e855f348c0" /><Relationship Type="http://schemas.openxmlformats.org/officeDocument/2006/relationships/slide" Target="/ppt/slides/slide5.xml" Id="R80de9f1d71d24ef1" /><Relationship Type="http://schemas.openxmlformats.org/officeDocument/2006/relationships/slide" Target="/ppt/slides/slide6.xml" Id="R5c75244222254c3d" /><Relationship Type="http://schemas.openxmlformats.org/officeDocument/2006/relationships/slide" Target="/ppt/slides/slide7.xml" Id="R4640629490ce4eee" /><Relationship Type="http://schemas.openxmlformats.org/officeDocument/2006/relationships/slide" Target="/ppt/slides/slide8.xml" Id="R50e00030ada048ed" /><Relationship Type="http://schemas.openxmlformats.org/officeDocument/2006/relationships/slide" Target="/ppt/slides/slide9.xml" Id="R2908adbcdab146ea" /><Relationship Type="http://schemas.openxmlformats.org/officeDocument/2006/relationships/slide" Target="/ppt/slides/slide10.xml" Id="R2e91af1954214ff6" /><Relationship Type="http://schemas.openxmlformats.org/officeDocument/2006/relationships/slide" Target="/ppt/slides/slide11.xml" Id="R9bb0e13d943a42b0" /><Relationship Type="http://schemas.openxmlformats.org/officeDocument/2006/relationships/slide" Target="/ppt/slides/slide12.xml" Id="Raed987275d6647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aec000fc544b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254c1f77c478d" /><Relationship Type="http://schemas.openxmlformats.org/officeDocument/2006/relationships/notesMaster" Target="/ppt/notesMasters/notesMaster1.xml" Id="R59d2ffc9810340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470cb241464988" /><Relationship Type="http://schemas.openxmlformats.org/officeDocument/2006/relationships/notesMaster" Target="/ppt/notesMasters/notesMaster1.xml" Id="R7efb4d56b45940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ff49c63d2948b1" /><Relationship Type="http://schemas.openxmlformats.org/officeDocument/2006/relationships/notesMaster" Target="/ppt/notesMasters/notesMaster1.xml" Id="Re47e38ee7c224f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55c999781492d" /><Relationship Type="http://schemas.openxmlformats.org/officeDocument/2006/relationships/notesMaster" Target="/ppt/notesMasters/notesMaster1.xml" Id="Rdec0aaedb405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4382af4a42400c" /><Relationship Type="http://schemas.openxmlformats.org/officeDocument/2006/relationships/notesMaster" Target="/ppt/notesMasters/notesMaster1.xml" Id="Rd21f7dba6cfe41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6a8615228c46f2" /><Relationship Type="http://schemas.openxmlformats.org/officeDocument/2006/relationships/notesMaster" Target="/ppt/notesMasters/notesMaster1.xml" Id="Rd29d32a6c26b47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bb73a199f4c8b" /><Relationship Type="http://schemas.openxmlformats.org/officeDocument/2006/relationships/notesMaster" Target="/ppt/notesMasters/notesMaster1.xml" Id="R682f373bd0d942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641505caad452c" /><Relationship Type="http://schemas.openxmlformats.org/officeDocument/2006/relationships/notesMaster" Target="/ppt/notesMasters/notesMaster1.xml" Id="Rd99dba70b2ef41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246f14f1024c30" /><Relationship Type="http://schemas.openxmlformats.org/officeDocument/2006/relationships/notesMaster" Target="/ppt/notesMasters/notesMaster1.xml" Id="R010f3a0710bf40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3bdca1c9c44509" /><Relationship Type="http://schemas.openxmlformats.org/officeDocument/2006/relationships/notesMaster" Target="/ppt/notesMasters/notesMaster1.xml" Id="R0172c5c3d7ef4f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7506670d1c4509" /><Relationship Type="http://schemas.openxmlformats.org/officeDocument/2006/relationships/notesMaster" Target="/ppt/notesMasters/notesMaster1.xml" Id="R3b40b03036ef41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a7070699924963" /><Relationship Type="http://schemas.openxmlformats.org/officeDocument/2006/relationships/notesMaster" Target="/ppt/notesMasters/notesMaster1.xml" Id="R45c87f4a77054a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abe802d3645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48a99520b64416" /><Relationship Type="http://schemas.openxmlformats.org/officeDocument/2006/relationships/slideLayout" Target="/ppt/slideLayouts/slideLayout1.xml" Id="R6ed86f85bb1d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d86f85bb1d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db93871d349cc" /><Relationship Type="http://schemas.openxmlformats.org/officeDocument/2006/relationships/notesSlide" Target="/ppt/notesSlides/notesSlide1.xml" Id="R7989232203904f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a901089b34a31" /><Relationship Type="http://schemas.openxmlformats.org/officeDocument/2006/relationships/notesSlide" Target="/ppt/notesSlides/notesSlide2.xml" Id="R8a2701a78a9c43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15aea8c2a49f9" /><Relationship Type="http://schemas.openxmlformats.org/officeDocument/2006/relationships/notesSlide" Target="/ppt/notesSlides/notesSlide3.xml" Id="R2d191932226847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47b63bccf40f2" /><Relationship Type="http://schemas.openxmlformats.org/officeDocument/2006/relationships/notesSlide" Target="/ppt/notesSlides/notesSlide4.xml" Id="R50588a5c062e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4fb1af8914b2d" /><Relationship Type="http://schemas.openxmlformats.org/officeDocument/2006/relationships/notesSlide" Target="/ppt/notesSlides/notesSlide5.xml" Id="R3ce40313aa8d4f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80cf40dff4100" /><Relationship Type="http://schemas.openxmlformats.org/officeDocument/2006/relationships/notesSlide" Target="/ppt/notesSlides/notesSlide6.xml" Id="R27fe96609a6e44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5b3fb22724c66" /><Relationship Type="http://schemas.openxmlformats.org/officeDocument/2006/relationships/notesSlide" Target="/ppt/notesSlides/notesSlide7.xml" Id="R86aebe08eb0642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2f79c49824a02" /><Relationship Type="http://schemas.openxmlformats.org/officeDocument/2006/relationships/notesSlide" Target="/ppt/notesSlides/notesSlide8.xml" Id="R9790bdfce78649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6801ac54d40e0" /><Relationship Type="http://schemas.openxmlformats.org/officeDocument/2006/relationships/notesSlide" Target="/ppt/notesSlides/notesSlide9.xml" Id="R8c9332295ff04d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8c6f6b01483c" /><Relationship Type="http://schemas.openxmlformats.org/officeDocument/2006/relationships/notesSlide" Target="/ppt/notesSlides/notesSlide10.xml" Id="R473d4343045648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1f056efb94b75" /><Relationship Type="http://schemas.openxmlformats.org/officeDocument/2006/relationships/notesSlide" Target="/ppt/notesSlides/notesSlide11.xml" Id="R145b69c7976043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921cb703e488b" /><Relationship Type="http://schemas.openxmlformats.org/officeDocument/2006/relationships/notesSlide" Target="/ppt/notesSlides/notesSlide12.xml" Id="Rfd835eb9a1a248bd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">
            <a:extLst>
              <a:ext uri="{FF2B5EF4-FFF2-40B4-BE49-F238E27FC236}">
                <ns2:creationId id="{026A5D35-FF67-4C9D-A70A-894AA05335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99DC4897-C52A-492B-95FE-67F321DB05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79989CBB-5518-4C60-9B11-11CD1515CA12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762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深圳市安居建业投资运营有限公司</a:t>
            </a:r>
          </a:p>
        </p:txBody>
      </p:sp>
      <p:sp>
        <p:nvSpPr>
          <p:cNvPr id="4" name="">
            <a:extLst>
              <a:ext uri="{FF2B5EF4-FFF2-40B4-BE49-F238E27FC236}">
                <ns2:creationId id="{FE8FAE41-068A-4332-A15A-3F9C2D63920E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7429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2026年6月至12月AI协会竹网行动推进计划</a:t>
            </a:r>
          </a:p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">
            <a:extLst>
              <a:ext uri="{FF2B5EF4-FFF2-40B4-BE49-F238E27FC236}">
                <ns2:creationId id="{F4EC0DCD-B582-4254-9630-E627FC0883D5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685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5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rPr>
              <a:t>以领导确定方案为准：承接集团AI应用“三个一”，通过AI兴趣协会、薪火计划和平台协同支撑，从个人探索走向全员应用。</a:t>
            </a:r>
          </a:p>
        </p:txBody>
      </p:sp>
      <p:sp>
        <p:nvSpPr>
          <p:cNvPr id="6" name="metric-1-有效答卷">
            <a:extLst>
              <a:ext uri="{FF2B5EF4-FFF2-40B4-BE49-F238E27FC236}">
                <ns2:creationId id="{8A099A00-06E0-4F7A-9C49-3F46BDCEB26D}"/>
              </a:ext>
            </a:extLst>
          </p:cNvPr>
          <p:cNvSpPr>
            <a:spLocks noGrp="1"/>
          </p:cNvSpPr>
          <p:nvPr/>
        </p:nvSpPr>
        <p:spPr>
          <a:xfrm>
            <a:off x="8096250" y="1104900"/>
            <a:ext cx="171450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B4EC51C8-D253-43F2-A96A-C860FB75E3E1}"/>
              </a:ext>
            </a:extLst>
          </p:cNvPr>
          <p:cNvSpPr>
            <a:spLocks noGrp="1"/>
          </p:cNvSpPr>
          <p:nvPr/>
        </p:nvSpPr>
        <p:spPr>
          <a:xfrm>
            <a:off x="8229600" y="123825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竹网行动</a:t>
            </a:r>
          </a:p>
        </p:txBody>
      </p:sp>
      <p:sp>
        <p:nvSpPr>
          <p:cNvPr id="8" name="">
            <a:extLst>
              <a:ext uri="{FF2B5EF4-FFF2-40B4-BE49-F238E27FC236}">
                <ns2:creationId id="{17BA137F-4949-44FE-9263-229DBAE80D0B}"/>
              </a:ext>
            </a:extLst>
          </p:cNvPr>
          <p:cNvSpPr>
            <a:spLocks noGrp="1"/>
          </p:cNvSpPr>
          <p:nvPr/>
        </p:nvSpPr>
        <p:spPr>
          <a:xfrm>
            <a:off x="8229600" y="164782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主线代号</a:t>
            </a:r>
          </a:p>
        </p:txBody>
      </p:sp>
      <p:sp>
        <p:nvSpPr>
          <p:cNvPr id="9" name="">
            <a:extLst>
              <a:ext uri="{FF2B5EF4-FFF2-40B4-BE49-F238E27FC236}">
                <ns2:creationId id="{00E3BD48-69D4-4006-9384-1DAF2CBA10A2}"/>
              </a:ext>
            </a:extLst>
          </p:cNvPr>
          <p:cNvSpPr>
            <a:spLocks noGrp="1"/>
          </p:cNvSpPr>
          <p:nvPr/>
        </p:nvSpPr>
        <p:spPr>
          <a:xfrm>
            <a:off x="8229600" y="18859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破土/拔节/成林/扎根</a:t>
            </a:r>
          </a:p>
        </p:txBody>
      </p:sp>
      <p:sp>
        <p:nvSpPr>
          <p:cNvPr id="10" name="metric-1-正式业务单位">
            <a:extLst>
              <a:ext uri="{FF2B5EF4-FFF2-40B4-BE49-F238E27FC236}">
                <ns2:creationId id="{7C10CB4A-6BA8-4E05-9972-1A1E126B62D2}"/>
              </a:ext>
            </a:extLst>
          </p:cNvPr>
          <p:cNvSpPr>
            <a:spLocks noGrp="1"/>
          </p:cNvSpPr>
          <p:nvPr/>
        </p:nvSpPr>
        <p:spPr>
          <a:xfrm>
            <a:off x="9982200" y="1104900"/>
            <a:ext cx="171450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CDC9C882-0A3C-4538-AE35-FB0A484FAE8D}"/>
              </a:ext>
            </a:extLst>
          </p:cNvPr>
          <p:cNvSpPr>
            <a:spLocks noGrp="1"/>
          </p:cNvSpPr>
          <p:nvPr/>
        </p:nvSpPr>
        <p:spPr>
          <a:xfrm>
            <a:off x="10115550" y="123825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3条线</a:t>
            </a:r>
          </a:p>
        </p:txBody>
      </p:sp>
      <p:sp>
        <p:nvSpPr>
          <p:cNvPr id="12" name="">
            <a:extLst>
              <a:ext uri="{FF2B5EF4-FFF2-40B4-BE49-F238E27FC236}">
                <ns2:creationId id="{B9C7BC26-90C3-45FA-87EB-C8CBFA87ED2C}"/>
              </a:ext>
            </a:extLst>
          </p:cNvPr>
          <p:cNvSpPr>
            <a:spLocks noGrp="1"/>
          </p:cNvSpPr>
          <p:nvPr/>
        </p:nvSpPr>
        <p:spPr>
          <a:xfrm>
            <a:off x="10115550" y="164782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协会/薪火/平台</a:t>
            </a:r>
          </a:p>
        </p:txBody>
      </p:sp>
      <p:sp>
        <p:nvSpPr>
          <p:cNvPr id="13" name="">
            <a:extLst>
              <a:ext uri="{FF2B5EF4-FFF2-40B4-BE49-F238E27FC236}">
                <ns2:creationId id="{0FC6E7B6-8E00-4DB3-8F17-A4917A97B863}"/>
              </a:ext>
            </a:extLst>
          </p:cNvPr>
          <p:cNvSpPr>
            <a:spLocks noGrp="1"/>
          </p:cNvSpPr>
          <p:nvPr/>
        </p:nvSpPr>
        <p:spPr>
          <a:xfrm>
            <a:off x="10115550" y="18859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协同推进</a:t>
            </a:r>
          </a:p>
        </p:txBody>
      </p:sp>
      <p:sp>
        <p:nvSpPr>
          <p:cNvPr id="14" name="metric-1-重点试点建议">
            <a:extLst>
              <a:ext uri="{FF2B5EF4-FFF2-40B4-BE49-F238E27FC236}">
                <ns2:creationId id="{ADC02B7D-A3D1-4819-A1B7-B136A34BEC15}"/>
              </a:ext>
            </a:extLst>
          </p:cNvPr>
          <p:cNvSpPr>
            <a:spLocks noGrp="1"/>
          </p:cNvSpPr>
          <p:nvPr/>
        </p:nvSpPr>
        <p:spPr>
          <a:xfrm>
            <a:off x="8096250" y="2343150"/>
            <a:ext cx="171450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BDB8B9AE-33BE-42BA-8300-CB0728915441}"/>
              </a:ext>
            </a:extLst>
          </p:cNvPr>
          <p:cNvSpPr>
            <a:spLocks noGrp="1"/>
          </p:cNvSpPr>
          <p:nvPr/>
        </p:nvSpPr>
        <p:spPr>
          <a:xfrm>
            <a:off x="8229600" y="247650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3万元/年</a:t>
            </a:r>
          </a:p>
        </p:txBody>
      </p:sp>
      <p:sp>
        <p:nvSpPr>
          <p:cNvPr id="16" name="">
            <a:extLst>
              <a:ext uri="{FF2B5EF4-FFF2-40B4-BE49-F238E27FC236}">
                <ns2:creationId id="{7406BF6A-9481-4F7C-BC8C-6EF6F64AE6EF}"/>
              </a:ext>
            </a:extLst>
          </p:cNvPr>
          <p:cNvSpPr>
            <a:spLocks noGrp="1"/>
          </p:cNvSpPr>
          <p:nvPr/>
        </p:nvSpPr>
        <p:spPr>
          <a:xfrm>
            <a:off x="8229600" y="288607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工具支持</a:t>
            </a:r>
          </a:p>
        </p:txBody>
      </p:sp>
      <p:sp>
        <p:nvSpPr>
          <p:cNvPr id="17" name="">
            <a:extLst>
              <a:ext uri="{FF2B5EF4-FFF2-40B4-BE49-F238E27FC236}">
                <ns2:creationId id="{48CB6EB5-773E-462F-A862-652BE33C4592}"/>
              </a:ext>
            </a:extLst>
          </p:cNvPr>
          <p:cNvSpPr>
            <a:spLocks noGrp="1"/>
          </p:cNvSpPr>
          <p:nvPr/>
        </p:nvSpPr>
        <p:spPr>
          <a:xfrm>
            <a:off x="8229600" y="31242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使用换分享</a:t>
            </a:r>
          </a:p>
        </p:txBody>
      </p:sp>
      <p:sp>
        <p:nvSpPr>
          <p:cNvPr id="18" name="metric-1-AI大赛决赛">
            <a:extLst>
              <a:ext uri="{FF2B5EF4-FFF2-40B4-BE49-F238E27FC236}">
                <ns2:creationId id="{E3183910-CBF8-404D-8D0D-4C6D93415A96}"/>
              </a:ext>
            </a:extLst>
          </p:cNvPr>
          <p:cNvSpPr>
            <a:spLocks noGrp="1"/>
          </p:cNvSpPr>
          <p:nvPr/>
        </p:nvSpPr>
        <p:spPr>
          <a:xfrm>
            <a:off x="9982200" y="2343150"/>
            <a:ext cx="171450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FC9F09ED-AA55-4722-BC16-E1482966808C}"/>
              </a:ext>
            </a:extLst>
          </p:cNvPr>
          <p:cNvSpPr>
            <a:spLocks noGrp="1"/>
          </p:cNvSpPr>
          <p:nvPr/>
        </p:nvSpPr>
        <p:spPr>
          <a:xfrm>
            <a:off x="10115550" y="247650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会后节点</a:t>
            </a:r>
          </a:p>
        </p:txBody>
      </p:sp>
      <p:sp>
        <p:nvSpPr>
          <p:cNvPr id="20" name="">
            <a:extLst>
              <a:ext uri="{FF2B5EF4-FFF2-40B4-BE49-F238E27FC236}">
                <ns2:creationId id="{3EE24282-62A6-40DE-9089-059526223A0F}"/>
              </a:ext>
            </a:extLst>
          </p:cNvPr>
          <p:cNvSpPr>
            <a:spLocks noGrp="1"/>
          </p:cNvSpPr>
          <p:nvPr/>
        </p:nvSpPr>
        <p:spPr>
          <a:xfrm>
            <a:off x="10115550" y="288607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2周/1月/2月</a:t>
            </a:r>
          </a:p>
        </p:txBody>
      </p:sp>
      <p:sp>
        <p:nvSpPr>
          <p:cNvPr id="21" name="">
            <a:extLst>
              <a:ext uri="{FF2B5EF4-FFF2-40B4-BE49-F238E27FC236}">
                <ns2:creationId id="{EBC10A5F-6742-47CC-814D-4D1EF1B01E96}"/>
              </a:ext>
            </a:extLst>
          </p:cNvPr>
          <p:cNvSpPr>
            <a:spLocks noGrp="1"/>
          </p:cNvSpPr>
          <p:nvPr/>
        </p:nvSpPr>
        <p:spPr>
          <a:xfrm>
            <a:off x="10115550" y="31242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滚动推进</a:t>
            </a:r>
          </a:p>
        </p:txBody>
      </p:sp>
      <p:sp>
        <p:nvSpPr>
          <p:cNvPr id="22" name="stage-1-0">
            <a:extLst>
              <a:ext uri="{FF2B5EF4-FFF2-40B4-BE49-F238E27FC236}">
                <ns2:creationId id="{8CF01B31-CE7B-44C5-B636-CD0DB4CA597B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746250" cy="10287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504F67DA-C142-49E7-84B9-CDD8DE4A1665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">
            <a:extLst>
              <a:ext uri="{FF2B5EF4-FFF2-40B4-BE49-F238E27FC236}">
                <ns2:creationId id="{9064E8B3-00BD-4CF7-96DB-2DE724287601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会后2周</a:t>
            </a:r>
          </a:p>
        </p:txBody>
      </p:sp>
      <p:sp>
        <p:nvSpPr>
          <p:cNvPr id="25" name="">
            <a:extLst>
              <a:ext uri="{FF2B5EF4-FFF2-40B4-BE49-F238E27FC236}">
                <ns2:creationId id="{84CD902B-E3AE-433D-9A31-A2B0EE113455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确认方向</a:t>
            </a:r>
          </a:p>
        </p:txBody>
      </p:sp>
      <p:sp>
        <p:nvSpPr>
          <p:cNvPr id="26" name="stage-link-1-0">
            <a:extLst>
              <a:ext uri="{FF2B5EF4-FFF2-40B4-BE49-F238E27FC236}">
                <ns2:creationId id="{20DF8CFA-0A61-47C9-A939-02C565FF637B}"/>
              </a:ext>
            </a:extLst>
          </p:cNvPr>
          <p:cNvSpPr>
            <a:spLocks noGrp="1"/>
          </p:cNvSpPr>
          <p:nvPr/>
        </p:nvSpPr>
        <p:spPr>
          <a:xfrm>
            <a:off x="2317750" y="51435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tage-1-1">
            <a:extLst>
              <a:ext uri="{FF2B5EF4-FFF2-40B4-BE49-F238E27FC236}">
                <ns2:creationId id="{AD406150-EE13-45E3-967B-49715EE6098E}"/>
              </a:ext>
            </a:extLst>
          </p:cNvPr>
          <p:cNvSpPr>
            <a:spLocks noGrp="1"/>
          </p:cNvSpPr>
          <p:nvPr/>
        </p:nvSpPr>
        <p:spPr>
          <a:xfrm>
            <a:off x="2432050" y="4667250"/>
            <a:ext cx="1746250" cy="10287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0D00B50C-14CE-4587-803C-136691B0E7F3}"/>
              </a:ext>
            </a:extLst>
          </p:cNvPr>
          <p:cNvSpPr>
            <a:spLocks noGrp="1"/>
          </p:cNvSpPr>
          <p:nvPr/>
        </p:nvSpPr>
        <p:spPr>
          <a:xfrm>
            <a:off x="2546350" y="47815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">
            <a:extLst>
              <a:ext uri="{FF2B5EF4-FFF2-40B4-BE49-F238E27FC236}">
                <ns2:creationId id="{09BAB8E1-1B7F-4E86-9728-5245999BD88E}"/>
              </a:ext>
            </a:extLst>
          </p:cNvPr>
          <p:cNvSpPr>
            <a:spLocks noGrp="1"/>
          </p:cNvSpPr>
          <p:nvPr/>
        </p:nvSpPr>
        <p:spPr>
          <a:xfrm>
            <a:off x="2546350" y="50292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会后1个月</a:t>
            </a:r>
          </a:p>
        </p:txBody>
      </p:sp>
      <p:sp>
        <p:nvSpPr>
          <p:cNvPr id="30" name="">
            <a:extLst>
              <a:ext uri="{FF2B5EF4-FFF2-40B4-BE49-F238E27FC236}">
                <ns2:creationId id="{0EDFE006-7963-4960-8192-3F2B187978D6}"/>
              </a:ext>
            </a:extLst>
          </p:cNvPr>
          <p:cNvSpPr>
            <a:spLocks noGrp="1"/>
          </p:cNvSpPr>
          <p:nvPr/>
        </p:nvSpPr>
        <p:spPr>
          <a:xfrm>
            <a:off x="2546350" y="53244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一页纸计划</a:t>
            </a:r>
          </a:p>
        </p:txBody>
      </p:sp>
      <p:sp>
        <p:nvSpPr>
          <p:cNvPr id="31" name="stage-link-1-1">
            <a:extLst>
              <a:ext uri="{FF2B5EF4-FFF2-40B4-BE49-F238E27FC236}">
                <ns2:creationId id="{B78908C8-16E4-4C59-BEDF-61057DD562D6}"/>
              </a:ext>
            </a:extLst>
          </p:cNvPr>
          <p:cNvSpPr>
            <a:spLocks noGrp="1"/>
          </p:cNvSpPr>
          <p:nvPr/>
        </p:nvSpPr>
        <p:spPr>
          <a:xfrm>
            <a:off x="4178300" y="51435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tage-1-2">
            <a:extLst>
              <a:ext uri="{FF2B5EF4-FFF2-40B4-BE49-F238E27FC236}">
                <ns2:creationId id="{9931500C-7181-446E-8702-BA19B1E91622}"/>
              </a:ext>
            </a:extLst>
          </p:cNvPr>
          <p:cNvSpPr>
            <a:spLocks noGrp="1"/>
          </p:cNvSpPr>
          <p:nvPr/>
        </p:nvSpPr>
        <p:spPr>
          <a:xfrm>
            <a:off x="4292600" y="4667250"/>
            <a:ext cx="1746250" cy="10287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C4AE05B2-975C-421A-B179-1705FEF65F3E}"/>
              </a:ext>
            </a:extLst>
          </p:cNvPr>
          <p:cNvSpPr>
            <a:spLocks noGrp="1"/>
          </p:cNvSpPr>
          <p:nvPr/>
        </p:nvSpPr>
        <p:spPr>
          <a:xfrm>
            <a:off x="4406900" y="47815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>
              <a:ext uri="{FF2B5EF4-FFF2-40B4-BE49-F238E27FC236}">
                <ns2:creationId id="{16D4A3DE-559E-4515-8A4C-18960871676D}"/>
              </a:ext>
            </a:extLst>
          </p:cNvPr>
          <p:cNvSpPr>
            <a:spLocks noGrp="1"/>
          </p:cNvSpPr>
          <p:nvPr/>
        </p:nvSpPr>
        <p:spPr>
          <a:xfrm>
            <a:off x="4406900" y="50292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会后2个月</a:t>
            </a:r>
          </a:p>
        </p:txBody>
      </p:sp>
      <p:sp>
        <p:nvSpPr>
          <p:cNvPr id="35" name="">
            <a:extLst>
              <a:ext uri="{FF2B5EF4-FFF2-40B4-BE49-F238E27FC236}">
                <ns2:creationId id="{40A65BE2-C9FF-483D-B4F0-D2A165B2AC67}"/>
              </a:ext>
            </a:extLst>
          </p:cNvPr>
          <p:cNvSpPr>
            <a:spLocks noGrp="1"/>
          </p:cNvSpPr>
          <p:nvPr/>
        </p:nvSpPr>
        <p:spPr>
          <a:xfrm>
            <a:off x="4406900" y="53244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交流会</a:t>
            </a:r>
          </a:p>
        </p:txBody>
      </p:sp>
      <p:sp>
        <p:nvSpPr>
          <p:cNvPr id="36" name="stage-link-1-2">
            <a:extLst>
              <a:ext uri="{FF2B5EF4-FFF2-40B4-BE49-F238E27FC236}">
                <ns2:creationId id="{3791B481-47C7-49DF-B2F5-341267211543}"/>
              </a:ext>
            </a:extLst>
          </p:cNvPr>
          <p:cNvSpPr>
            <a:spLocks noGrp="1"/>
          </p:cNvSpPr>
          <p:nvPr/>
        </p:nvSpPr>
        <p:spPr>
          <a:xfrm>
            <a:off x="6038850" y="51435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tage-1-3">
            <a:extLst>
              <a:ext uri="{FF2B5EF4-FFF2-40B4-BE49-F238E27FC236}">
                <ns2:creationId id="{2C13B59D-B371-4EBE-8EFB-38A1C8CC9EE4}"/>
              </a:ext>
            </a:extLst>
          </p:cNvPr>
          <p:cNvSpPr>
            <a:spLocks noGrp="1"/>
          </p:cNvSpPr>
          <p:nvPr/>
        </p:nvSpPr>
        <p:spPr>
          <a:xfrm>
            <a:off x="6153150" y="4667250"/>
            <a:ext cx="1746250" cy="10287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CAB9D952-A089-4FA6-9507-6F97806311FA}"/>
              </a:ext>
            </a:extLst>
          </p:cNvPr>
          <p:cNvSpPr>
            <a:spLocks noGrp="1"/>
          </p:cNvSpPr>
          <p:nvPr/>
        </p:nvSpPr>
        <p:spPr>
          <a:xfrm>
            <a:off x="6267450" y="47815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9" name="">
            <a:extLst>
              <a:ext uri="{FF2B5EF4-FFF2-40B4-BE49-F238E27FC236}">
                <ns2:creationId id="{494F6C17-37E3-4A5C-80A1-210101258789}"/>
              </a:ext>
            </a:extLst>
          </p:cNvPr>
          <p:cNvSpPr>
            <a:spLocks noGrp="1"/>
          </p:cNvSpPr>
          <p:nvPr/>
        </p:nvSpPr>
        <p:spPr>
          <a:xfrm>
            <a:off x="6267450" y="50292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年底</a:t>
            </a:r>
          </a:p>
        </p:txBody>
      </p:sp>
      <p:sp>
        <p:nvSpPr>
          <p:cNvPr id="40" name="">
            <a:extLst>
              <a:ext uri="{FF2B5EF4-FFF2-40B4-BE49-F238E27FC236}">
                <ns2:creationId id="{CC200EE8-08BD-472A-B325-48388C35E890}"/>
              </a:ext>
            </a:extLst>
          </p:cNvPr>
          <p:cNvSpPr>
            <a:spLocks noGrp="1"/>
          </p:cNvSpPr>
          <p:nvPr/>
        </p:nvSpPr>
        <p:spPr>
          <a:xfrm>
            <a:off x="6267450" y="53244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知识库/表彰</a:t>
            </a:r>
          </a:p>
        </p:txBody>
      </p:sp>
      <p:sp>
        <p:nvSpPr>
          <p:cNvPr id="41" name="stage-link-1-3">
            <a:extLst>
              <a:ext uri="{FF2B5EF4-FFF2-40B4-BE49-F238E27FC236}">
                <ns2:creationId id="{84D71237-01CD-446E-9146-903BA24EA393}"/>
              </a:ext>
            </a:extLst>
          </p:cNvPr>
          <p:cNvSpPr>
            <a:spLocks noGrp="1"/>
          </p:cNvSpPr>
          <p:nvPr/>
        </p:nvSpPr>
        <p:spPr>
          <a:xfrm>
            <a:off x="7899400" y="51435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tage-1-4">
            <a:extLst>
              <a:ext uri="{FF2B5EF4-FFF2-40B4-BE49-F238E27FC236}">
                <ns2:creationId id="{D8C42DCE-E8EC-4087-8D91-56E16FCD6074}"/>
              </a:ext>
            </a:extLst>
          </p:cNvPr>
          <p:cNvSpPr>
            <a:spLocks noGrp="1"/>
          </p:cNvSpPr>
          <p:nvPr/>
        </p:nvSpPr>
        <p:spPr>
          <a:xfrm>
            <a:off x="8013700" y="4667250"/>
            <a:ext cx="1746250" cy="10287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4F139DFC-0822-49C7-8FC1-5B3B867DD10E}"/>
              </a:ext>
            </a:extLst>
          </p:cNvPr>
          <p:cNvSpPr>
            <a:spLocks noGrp="1"/>
          </p:cNvSpPr>
          <p:nvPr/>
        </p:nvSpPr>
        <p:spPr>
          <a:xfrm>
            <a:off x="8128000" y="47815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4" name="">
            <a:extLst>
              <a:ext uri="{FF2B5EF4-FFF2-40B4-BE49-F238E27FC236}">
                <ns2:creationId id="{14CE6999-1FD7-417F-A229-80348720DA7C}"/>
              </a:ext>
            </a:extLst>
          </p:cNvPr>
          <p:cNvSpPr>
            <a:spLocks noGrp="1"/>
          </p:cNvSpPr>
          <p:nvPr/>
        </p:nvSpPr>
        <p:spPr>
          <a:xfrm>
            <a:off x="8128000" y="50292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OA模块</a:t>
            </a:r>
          </a:p>
        </p:txBody>
      </p:sp>
      <p:sp>
        <p:nvSpPr>
          <p:cNvPr id="45" name="">
            <a:extLst>
              <a:ext uri="{FF2B5EF4-FFF2-40B4-BE49-F238E27FC236}">
                <ns2:creationId id="{FA2826B5-5116-4EB0-8330-1CF59DE100BE}"/>
              </a:ext>
            </a:extLst>
          </p:cNvPr>
          <p:cNvSpPr>
            <a:spLocks noGrp="1"/>
          </p:cNvSpPr>
          <p:nvPr/>
        </p:nvSpPr>
        <p:spPr>
          <a:xfrm>
            <a:off x="8128000" y="53244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系统固化</a:t>
            </a:r>
          </a:p>
        </p:txBody>
      </p:sp>
      <p:sp>
        <p:nvSpPr>
          <p:cNvPr id="46" name="stage-link-1-4">
            <a:extLst>
              <a:ext uri="{FF2B5EF4-FFF2-40B4-BE49-F238E27FC236}">
                <ns2:creationId id="{8C5C4923-B304-4210-997E-6E3129A90A91}"/>
              </a:ext>
            </a:extLst>
          </p:cNvPr>
          <p:cNvSpPr>
            <a:spLocks noGrp="1"/>
          </p:cNvSpPr>
          <p:nvPr/>
        </p:nvSpPr>
        <p:spPr>
          <a:xfrm>
            <a:off x="9759950" y="51435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stage-1-5">
            <a:extLst>
              <a:ext uri="{FF2B5EF4-FFF2-40B4-BE49-F238E27FC236}">
                <ns2:creationId id="{88CAFDF4-F036-4E9B-BEA9-33178457EF2B}"/>
              </a:ext>
            </a:extLst>
          </p:cNvPr>
          <p:cNvSpPr>
            <a:spLocks noGrp="1"/>
          </p:cNvSpPr>
          <p:nvPr/>
        </p:nvSpPr>
        <p:spPr>
          <a:xfrm>
            <a:off x="9874250" y="4667250"/>
            <a:ext cx="1746250" cy="10287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>
              <a:ext uri="{FF2B5EF4-FFF2-40B4-BE49-F238E27FC236}">
                <ns2:creationId id="{3B49523E-71F7-4829-9947-197A1BC75935}"/>
              </a:ext>
            </a:extLst>
          </p:cNvPr>
          <p:cNvSpPr>
            <a:spLocks noGrp="1"/>
          </p:cNvSpPr>
          <p:nvPr/>
        </p:nvSpPr>
        <p:spPr>
          <a:xfrm>
            <a:off x="9988550" y="47815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9" name="">
            <a:extLst>
              <a:ext uri="{FF2B5EF4-FFF2-40B4-BE49-F238E27FC236}">
                <ns2:creationId id="{DFC5C4B6-3FC6-43D2-AAA9-03A78D5CDD1A}"/>
              </a:ext>
            </a:extLst>
          </p:cNvPr>
          <p:cNvSpPr>
            <a:spLocks noGrp="1"/>
          </p:cNvSpPr>
          <p:nvPr/>
        </p:nvSpPr>
        <p:spPr>
          <a:xfrm>
            <a:off x="9988550" y="50292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">
            <a:extLst>
              <a:ext uri="{FF2B5EF4-FFF2-40B4-BE49-F238E27FC236}">
                <ns2:creationId id="{F83A3F86-2DC5-4343-A541-9EA48837761F}"/>
              </a:ext>
            </a:extLst>
          </p:cNvPr>
          <p:cNvSpPr>
            <a:spLocks noGrp="1"/>
          </p:cNvSpPr>
          <p:nvPr/>
        </p:nvSpPr>
        <p:spPr>
          <a:xfrm>
            <a:off x="9988550" y="53244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footer-rule-1">
            <a:extLst>
              <a:ext uri="{FF2B5EF4-FFF2-40B4-BE49-F238E27FC236}">
                <ns2:creationId id="{73A06105-561C-4427-BA35-D53402D4A475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3653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footer-source-1">
            <a:extLst>
              <a:ext uri="{FF2B5EF4-FFF2-40B4-BE49-F238E27FC236}">
                <ns2:creationId id="{B968BF4D-08B8-4E1F-88BC-7233DDEEE7C8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footer-page-1">
            <a:extLst>
              <a:ext uri="{FF2B5EF4-FFF2-40B4-BE49-F238E27FC236}">
                <ns2:creationId id="{706ABA6C-F420-491D-9384-98ED9BD7AAD1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885954553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2">
            <a:extLst>
              <a:ext uri="{FF2B5EF4-FFF2-40B4-BE49-F238E27FC236}">
                <ns2:creationId id="{1E2D0F81-ACBD-4293-8C79-C3E4D7C711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>
              <a:ext uri="{FF2B5EF4-FFF2-40B4-BE49-F238E27FC236}">
                <ns2:creationId id="{2B12B59E-DC67-43C1-9F0A-265FC0D6053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>
              <a:ext uri="{FF2B5EF4-FFF2-40B4-BE49-F238E27FC236}">
                <ns2:creationId id="{DC679F41-BFCB-4CA0-92A3-C2E74DA9387E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领导方案口径</a:t>
            </a:r>
          </a:p>
        </p:txBody>
      </p:sp>
      <p:sp>
        <p:nvSpPr>
          <p:cNvPr id="4" name="title-2">
            <a:extLst>
              <a:ext uri="{FF2B5EF4-FFF2-40B4-BE49-F238E27FC236}">
                <ns2:creationId id="{1C2112C9-BD6C-41C3-BB50-D38F31200E08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竹网行动是本轮AI推进唯一主线</a:t>
            </a:r>
          </a:p>
        </p:txBody>
      </p:sp>
      <p:sp>
        <p:nvSpPr>
          <p:cNvPr id="5" name="support-2">
            <a:extLst>
              <a:ext uri="{FF2B5EF4-FFF2-40B4-BE49-F238E27FC236}">
                <ns2:creationId id="{C6BE9811-88D4-4DFF-A0C4-00D055E8156B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问卷和场景清单作为支撑材料保留，不能覆盖领导确定的执行方案。</a:t>
            </a:r>
          </a:p>
        </p:txBody>
      </p:sp>
      <p:sp>
        <p:nvSpPr>
          <p:cNvPr id="6" name="metric-2-原始表频率均分">
            <a:extLst>
              <a:ext uri="{FF2B5EF4-FFF2-40B4-BE49-F238E27FC236}">
                <ns2:creationId id="{EA87FE5E-4B3D-430E-BADD-DB76A989A557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2000250" cy="106680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B5A9A48D-B1BE-4CAF-B0B3-23792239B712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集团AI应用“三个一”</a:t>
            </a:r>
          </a:p>
        </p:txBody>
      </p:sp>
      <p:sp>
        <p:nvSpPr>
          <p:cNvPr id="8" name="">
            <a:extLst>
              <a:ext uri="{FF2B5EF4-FFF2-40B4-BE49-F238E27FC236}">
                <ns2:creationId id="{C0AC9377-8DCD-42E2-A537-1B55E24F0991}"/>
              </a:ext>
            </a:extLst>
          </p:cNvPr>
          <p:cNvSpPr>
            <a:spLocks noGrp="1"/>
          </p:cNvSpPr>
          <p:nvPr/>
        </p:nvSpPr>
        <p:spPr>
          <a:xfrm>
            <a:off x="704850" y="2543175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员工掌握一个AI工具</a:t>
            </a:r>
          </a:p>
        </p:txBody>
      </p:sp>
      <p:sp>
        <p:nvSpPr>
          <p:cNvPr id="9" name="">
            <a:extLst>
              <a:ext uri="{FF2B5EF4-FFF2-40B4-BE49-F238E27FC236}">
                <ns2:creationId id="{0F45EB1D-5049-45C5-B956-1EBFFE9991CB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1733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各单位新增一个业务场景</a:t>
            </a:r>
          </a:p>
        </p:txBody>
      </p:sp>
      <p:sp>
        <p:nvSpPr>
          <p:cNvPr id="10" name="metric-2-高频使用">
            <a:extLst>
              <a:ext uri="{FF2B5EF4-FFF2-40B4-BE49-F238E27FC236}">
                <ns2:creationId id="{70CCB1DF-5EB7-4755-AB9F-9D9F3A389123}"/>
              </a:ext>
            </a:extLst>
          </p:cNvPr>
          <p:cNvSpPr>
            <a:spLocks noGrp="1"/>
          </p:cNvSpPr>
          <p:nvPr/>
        </p:nvSpPr>
        <p:spPr>
          <a:xfrm>
            <a:off x="2781300" y="2000250"/>
            <a:ext cx="2000250" cy="106680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6F4D70B4-0F45-4C9B-B014-475B065EE103}"/>
              </a:ext>
            </a:extLst>
          </p:cNvPr>
          <p:cNvSpPr>
            <a:spLocks noGrp="1"/>
          </p:cNvSpPr>
          <p:nvPr/>
        </p:nvSpPr>
        <p:spPr>
          <a:xfrm>
            <a:off x="2914650" y="21336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公司建立一个核心场景</a:t>
            </a:r>
          </a:p>
        </p:txBody>
      </p:sp>
      <p:sp>
        <p:nvSpPr>
          <p:cNvPr id="12" name="">
            <a:extLst>
              <a:ext uri="{FF2B5EF4-FFF2-40B4-BE49-F238E27FC236}">
                <ns2:creationId id="{D8FB4AA2-C65B-44B3-8180-393DE8A3C7C9}"/>
              </a:ext>
            </a:extLst>
          </p:cNvPr>
          <p:cNvSpPr>
            <a:spLocks noGrp="1"/>
          </p:cNvSpPr>
          <p:nvPr/>
        </p:nvSpPr>
        <p:spPr>
          <a:xfrm>
            <a:off x="2914650" y="2543175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竹网行动</a:t>
            </a:r>
          </a:p>
        </p:txBody>
      </p:sp>
      <p:sp>
        <p:nvSpPr>
          <p:cNvPr id="13" name="">
            <a:extLst>
              <a:ext uri="{FF2B5EF4-FFF2-40B4-BE49-F238E27FC236}">
                <ns2:creationId id="{39300D69-10EB-4727-B855-E6421DB34515}"/>
              </a:ext>
            </a:extLst>
          </p:cNvPr>
          <p:cNvSpPr>
            <a:spLocks noGrp="1"/>
          </p:cNvSpPr>
          <p:nvPr/>
        </p:nvSpPr>
        <p:spPr>
          <a:xfrm>
            <a:off x="2914650" y="2781300"/>
            <a:ext cx="1733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破土</a:t>
            </a:r>
          </a:p>
        </p:txBody>
      </p:sp>
      <p:sp>
        <p:nvSpPr>
          <p:cNvPr id="14" name="metric-2-低频使用">
            <a:extLst>
              <a:ext uri="{FF2B5EF4-FFF2-40B4-BE49-F238E27FC236}">
                <ns2:creationId id="{90721BAD-FE50-4683-9BEC-252A9AC0E9F5}"/>
              </a:ext>
            </a:extLst>
          </p:cNvPr>
          <p:cNvSpPr>
            <a:spLocks noGrp="1"/>
          </p:cNvSpPr>
          <p:nvPr/>
        </p:nvSpPr>
        <p:spPr>
          <a:xfrm>
            <a:off x="4991100" y="2000250"/>
            <a:ext cx="2000250" cy="106680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76D8D825-5DD4-4B09-8D7D-94ED3F6DEB34}"/>
              </a:ext>
            </a:extLst>
          </p:cNvPr>
          <p:cNvSpPr>
            <a:spLocks noGrp="1"/>
          </p:cNvSpPr>
          <p:nvPr/>
        </p:nvSpPr>
        <p:spPr>
          <a:xfrm>
            <a:off x="5124450" y="21336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基层自发，兴趣驱动</a:t>
            </a:r>
          </a:p>
        </p:txBody>
      </p:sp>
      <p:sp>
        <p:nvSpPr>
          <p:cNvPr id="16" name="">
            <a:extLst>
              <a:ext uri="{FF2B5EF4-FFF2-40B4-BE49-F238E27FC236}">
                <ns2:creationId id="{244DE8FB-0A3F-49A4-90DE-845224F2B345}"/>
              </a:ext>
            </a:extLst>
          </p:cNvPr>
          <p:cNvSpPr>
            <a:spLocks noGrp="1"/>
          </p:cNvSpPr>
          <p:nvPr/>
        </p:nvSpPr>
        <p:spPr>
          <a:xfrm>
            <a:off x="5124450" y="2543175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拔节</a:t>
            </a:r>
          </a:p>
        </p:txBody>
      </p:sp>
      <p:sp>
        <p:nvSpPr>
          <p:cNvPr id="17" name="">
            <a:extLst>
              <a:ext uri="{FF2B5EF4-FFF2-40B4-BE49-F238E27FC236}">
                <ns2:creationId id="{85434FE6-D4EE-4B8B-9CAF-D93BA4BABC87}"/>
              </a:ext>
            </a:extLst>
          </p:cNvPr>
          <p:cNvSpPr>
            <a:spLocks noGrp="1"/>
          </p:cNvSpPr>
          <p:nvPr/>
        </p:nvSpPr>
        <p:spPr>
          <a:xfrm>
            <a:off x="5124450" y="2781300"/>
            <a:ext cx="1733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以点带面，快速生长</a:t>
            </a:r>
          </a:p>
        </p:txBody>
      </p:sp>
      <p:sp>
        <p:nvSpPr>
          <p:cNvPr id="18" name="">
            <a:extLst>
              <a:ext uri="{FF2B5EF4-FFF2-40B4-BE49-F238E27FC236}">
                <ns2:creationId id="{3CC41618-86B6-4392-932B-3E7AD9AABD4A}"/>
              </a:ext>
            </a:extLst>
          </p:cNvPr>
          <p:cNvSpPr>
            <a:spLocks noGrp="1"/>
          </p:cNvSpPr>
          <p:nvPr/>
        </p:nvSpPr>
        <p:spPr>
          <a:xfrm>
            <a:off x="571500" y="35433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成林</a:t>
            </a:r>
          </a:p>
        </p:txBody>
      </p:sp>
      <p:sp>
        <p:nvSpPr>
          <p:cNvPr id="19" name="">
            <a:extLst>
              <a:ext uri="{FF2B5EF4-FFF2-40B4-BE49-F238E27FC236}">
                <ns2:creationId id="{0B5C04A0-5EAF-4062-ADDD-9FD14C32F272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9906000" cy="342900"/>
          </a:xfrm>
          <a:prstGeom prst="rect">
            <a:avLst/>
          </a:prstGeom>
          <a:solidFill>
            <a:srgbClr val="FC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3CC4CB69-8CFF-4F33-9A89-BE1203922437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3031236" cy="3429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FD7E0066-B7D1-48C3-ABC0-821609942FB3}"/>
              </a:ext>
            </a:extLst>
          </p:cNvPr>
          <p:cNvSpPr>
            <a:spLocks noGrp="1"/>
          </p:cNvSpPr>
          <p:nvPr/>
        </p:nvSpPr>
        <p:spPr>
          <a:xfrm>
            <a:off x="3602736" y="3924300"/>
            <a:ext cx="2516124" cy="3429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292B4737-C94B-40D9-8FEF-C486EA7E9C61}"/>
              </a:ext>
            </a:extLst>
          </p:cNvPr>
          <p:cNvSpPr>
            <a:spLocks noGrp="1"/>
          </p:cNvSpPr>
          <p:nvPr/>
        </p:nvSpPr>
        <p:spPr>
          <a:xfrm>
            <a:off x="6118860" y="3924300"/>
            <a:ext cx="4358640" cy="3429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1E500131-239E-4C2D-BAE2-EF06632908D0}"/>
              </a:ext>
            </a:extLst>
          </p:cNvPr>
          <p:cNvSpPr>
            <a:spLocks noGrp="1"/>
          </p:cNvSpPr>
          <p:nvPr/>
        </p:nvSpPr>
        <p:spPr>
          <a:xfrm>
            <a:off x="571500" y="43815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各单位共享共创</a:t>
            </a:r>
          </a:p>
        </p:txBody>
      </p:sp>
      <p:sp>
        <p:nvSpPr>
          <p:cNvPr id="24" name="">
            <a:extLst>
              <a:ext uri="{FF2B5EF4-FFF2-40B4-BE49-F238E27FC236}">
                <ns2:creationId id="{B3190B82-3F97-46A7-9D61-DBD1D78FB362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defRPr sz="10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扎根</a:t>
            </a:r>
          </a:p>
        </p:txBody>
      </p:sp>
      <p:sp>
        <p:nvSpPr>
          <p:cNvPr id="25" name="">
            <a:extLst>
              <a:ext uri="{FF2B5EF4-FFF2-40B4-BE49-F238E27FC236}">
                <ns2:creationId id="{E254DD88-B93A-4016-B0AE-929301960357}"/>
              </a:ext>
            </a:extLst>
          </p:cNvPr>
          <p:cNvSpPr>
            <a:spLocks noGrp="1"/>
          </p:cNvSpPr>
          <p:nvPr/>
        </p:nvSpPr>
        <p:spPr>
          <a:xfrm>
            <a:off x="8572500" y="438150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AI能力固化到系统</a:t>
            </a:r>
          </a:p>
        </p:txBody>
      </p:sp>
      <p:sp>
        <p:nvSpPr>
          <p:cNvPr id="26" name="quote-2-行动含义">
            <a:extLst>
              <a:ext uri="{FF2B5EF4-FFF2-40B4-BE49-F238E27FC236}">
                <ns2:creationId id="{D52EC038-C399-49A6-9D91-69FF96A0C05D}"/>
              </a:ext>
            </a:extLst>
          </p:cNvPr>
          <p:cNvSpPr>
            <a:spLocks noGrp="1"/>
          </p:cNvSpPr>
          <p:nvPr/>
        </p:nvSpPr>
        <p:spPr>
          <a:xfrm>
            <a:off x="571500" y="5143500"/>
            <a:ext cx="9906000" cy="7429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348C4B85-EF77-46BF-ADD1-513C647DB708}"/>
              </a:ext>
            </a:extLst>
          </p:cNvPr>
          <p:cNvSpPr>
            <a:spLocks noGrp="1"/>
          </p:cNvSpPr>
          <p:nvPr/>
        </p:nvSpPr>
        <p:spPr>
          <a:xfrm>
            <a:off x="571500" y="5143500"/>
            <a:ext cx="47625" cy="7429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244F00DA-176C-4377-A8DD-99DBCDFC4637}"/>
              </a:ext>
            </a:extLst>
          </p:cNvPr>
          <p:cNvSpPr>
            <a:spLocks noGrp="1"/>
          </p:cNvSpPr>
          <p:nvPr/>
        </p:nvSpPr>
        <p:spPr>
          <a:xfrm>
            <a:off x="742950" y="5257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统一关键词</a:t>
            </a:r>
          </a:p>
        </p:txBody>
      </p:sp>
      <p:sp>
        <p:nvSpPr>
          <p:cNvPr id="29" name="">
            <a:extLst>
              <a:ext uri="{FF2B5EF4-FFF2-40B4-BE49-F238E27FC236}">
                <ns2:creationId id="{60BCD624-E6A4-459D-B0F1-D015EB2CF36B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956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竹网行动、AI兴趣协会、薪火计划、平台协同、3万元/年、使用换分享、会后2周/1个月/2个月、OA模块</a:t>
            </a:r>
          </a:p>
        </p:txBody>
      </p:sp>
      <p:sp>
        <p:nvSpPr>
          <p:cNvPr id="30" name="footer-rule-2">
            <a:extLst>
              <a:ext uri="{FF2B5EF4-FFF2-40B4-BE49-F238E27FC236}">
                <ns2:creationId id="{9590B5FA-0146-4A90-8F40-A7E7AF65C127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ooter-source-2">
            <a:extLst>
              <a:ext uri="{FF2B5EF4-FFF2-40B4-BE49-F238E27FC236}">
                <ns2:creationId id="{473EA6AA-0383-428E-99A6-2984C3024AD5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32" name="footer-page-2">
            <a:extLst>
              <a:ext uri="{FF2B5EF4-FFF2-40B4-BE49-F238E27FC236}">
                <ns2:creationId id="{50AB1573-6E29-400F-80CD-77962A0CF1EF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AI专题研讨会会议议程；AI应用推动工作方案</a:t>
            </a:r>
          </a:p>
        </p:txBody>
      </p:sp>
    </p:spTree>
    <p:extLst>
      <p:ext uri="{BB962C8B-B14F-4D97-AF65-F5344CB8AC3E}">
        <ns3:creationId val="1228696127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3">
            <a:extLst>
              <a:ext uri="{FF2B5EF4-FFF2-40B4-BE49-F238E27FC236}">
                <ns2:creationId id="{41054C63-727A-4D52-B123-43F3782E16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>
              <a:ext uri="{FF2B5EF4-FFF2-40B4-BE49-F238E27FC236}">
                <ns2:creationId id="{CE0225C4-16DB-4F0D-A2E8-808FD9143C8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>
              <a:ext uri="{FF2B5EF4-FFF2-40B4-BE49-F238E27FC236}">
                <ns2:creationId id="{A2A5A1C5-F9BA-4D3B-8CCA-66DACCE83428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总体思路</a:t>
            </a:r>
          </a:p>
        </p:txBody>
      </p:sp>
      <p:sp>
        <p:nvSpPr>
          <p:cNvPr id="4" name="title-3">
            <a:extLst>
              <a:ext uri="{FF2B5EF4-FFF2-40B4-BE49-F238E27FC236}">
                <ns2:creationId id="{D4FEEB4A-7851-4D76-AEDB-8AC17AC77E14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兴趣驱动、以点带面、渐进深入</a:t>
            </a:r>
          </a:p>
        </p:txBody>
      </p:sp>
      <p:sp>
        <p:nvSpPr>
          <p:cNvPr id="5" name="support-3">
            <a:extLst>
              <a:ext uri="{FF2B5EF4-FFF2-40B4-BE49-F238E27FC236}">
                <ns2:creationId id="{AA3C5348-5956-4BDD-A410-FC18C600B125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从个人探索到全员应用，让AI从少数人的工具变成公司的能力。</a:t>
            </a:r>
          </a:p>
        </p:txBody>
      </p:sp>
      <p:sp>
        <p:nvSpPr>
          <p:cNvPr id="6" name="">
            <a:extLst>
              <a:ext uri="{FF2B5EF4-FFF2-40B4-BE49-F238E27FC236}">
                <ns2:creationId id="{373CEFB3-50C7-445D-A7E6-25409DFEC944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破土</a:t>
            </a:r>
          </a:p>
        </p:txBody>
      </p:sp>
      <p:sp>
        <p:nvSpPr>
          <p:cNvPr id="7" name="">
            <a:extLst>
              <a:ext uri="{FF2B5EF4-FFF2-40B4-BE49-F238E27FC236}">
                <ns2:creationId id="{3CE4CA12-8AD5-4706-8ADD-EFF2CF360381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从基层自发冒出</a:t>
            </a:r>
          </a:p>
        </p:txBody>
      </p:sp>
      <p:sp>
        <p:nvSpPr>
          <p:cNvPr id="8" name="bar-track-3-0">
            <a:extLst>
              <a:ext uri="{FF2B5EF4-FFF2-40B4-BE49-F238E27FC236}">
                <ns2:creationId id="{6C7AD2D9-3C95-4DC8-A9A8-390107C14FAB}"/>
              </a:ext>
            </a:extLst>
          </p:cNvPr>
          <p:cNvSpPr>
            <a:spLocks noGrp="1"/>
          </p:cNvSpPr>
          <p:nvPr/>
        </p:nvSpPr>
        <p:spPr>
          <a:xfrm>
            <a:off x="1714500" y="2524125"/>
            <a:ext cx="295275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ar-3-0">
            <a:extLst>
              <a:ext uri="{FF2B5EF4-FFF2-40B4-BE49-F238E27FC236}">
                <ns2:creationId id="{D33F3203-2B86-46B6-B3AE-45DDD81BDF5D}"/>
              </a:ext>
            </a:extLst>
          </p:cNvPr>
          <p:cNvSpPr>
            <a:spLocks noGrp="1"/>
          </p:cNvSpPr>
          <p:nvPr/>
        </p:nvSpPr>
        <p:spPr>
          <a:xfrm>
            <a:off x="1714500" y="2524125"/>
            <a:ext cx="2699183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193250E9-D2BA-49CF-A0F1-F4B7D78B0D93}"/>
              </a:ext>
            </a:extLst>
          </p:cNvPr>
          <p:cNvSpPr>
            <a:spLocks noGrp="1"/>
          </p:cNvSpPr>
          <p:nvPr/>
        </p:nvSpPr>
        <p:spPr>
          <a:xfrm>
            <a:off x="4762500" y="238125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不勉强，不行政化</a:t>
            </a:r>
          </a:p>
        </p:txBody>
      </p:sp>
      <p:sp>
        <p:nvSpPr>
          <p:cNvPr id="11" name="">
            <a:extLst>
              <a:ext uri="{FF2B5EF4-FFF2-40B4-BE49-F238E27FC236}">
                <ns2:creationId id="{CB453C83-2121-4FE0-9701-950DF9DA9D24}"/>
              </a:ext>
            </a:extLst>
          </p:cNvPr>
          <p:cNvSpPr>
            <a:spLocks noGrp="1"/>
          </p:cNvSpPr>
          <p:nvPr/>
        </p:nvSpPr>
        <p:spPr>
          <a:xfrm>
            <a:off x="571500" y="2867025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拔节</a:t>
            </a:r>
          </a:p>
        </p:txBody>
      </p:sp>
      <p:sp>
        <p:nvSpPr>
          <p:cNvPr id="12" name="bar-track-3-1">
            <a:extLst>
              <a:ext uri="{FF2B5EF4-FFF2-40B4-BE49-F238E27FC236}">
                <ns2:creationId id="{53D91C1A-8D5E-4939-8657-D098585044A5}"/>
              </a:ext>
            </a:extLst>
          </p:cNvPr>
          <p:cNvSpPr>
            <a:spLocks noGrp="1"/>
          </p:cNvSpPr>
          <p:nvPr/>
        </p:nvSpPr>
        <p:spPr>
          <a:xfrm>
            <a:off x="1714500" y="3000375"/>
            <a:ext cx="295275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bar-3-1">
            <a:extLst>
              <a:ext uri="{FF2B5EF4-FFF2-40B4-BE49-F238E27FC236}">
                <ns2:creationId id="{CCA403DB-408B-4DAC-AB93-42C49BE1726D}"/>
              </a:ext>
            </a:extLst>
          </p:cNvPr>
          <p:cNvSpPr>
            <a:spLocks noGrp="1"/>
          </p:cNvSpPr>
          <p:nvPr/>
        </p:nvSpPr>
        <p:spPr>
          <a:xfrm>
            <a:off x="1714500" y="3000375"/>
            <a:ext cx="2038136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198EE484-2767-42F3-8CE2-3FA6CC57A489}"/>
              </a:ext>
            </a:extLst>
          </p:cNvPr>
          <p:cNvSpPr>
            <a:spLocks noGrp="1"/>
          </p:cNvSpPr>
          <p:nvPr/>
        </p:nvSpPr>
        <p:spPr>
          <a:xfrm>
            <a:off x="4762500" y="285750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以点带面</a:t>
            </a:r>
          </a:p>
        </p:txBody>
      </p:sp>
      <p:sp>
        <p:nvSpPr>
          <p:cNvPr id="15" name="">
            <a:extLst>
              <a:ext uri="{FF2B5EF4-FFF2-40B4-BE49-F238E27FC236}">
                <ns2:creationId id="{AC424D94-1CD1-4A08-B1AB-68BB39970BC1}"/>
              </a:ext>
            </a:extLst>
          </p:cNvPr>
          <p:cNvSpPr>
            <a:spLocks noGrp="1"/>
          </p:cNvSpPr>
          <p:nvPr/>
        </p:nvSpPr>
        <p:spPr>
          <a:xfrm>
            <a:off x="571500" y="3343275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先行者带动更多人</a:t>
            </a:r>
          </a:p>
        </p:txBody>
      </p:sp>
      <p:sp>
        <p:nvSpPr>
          <p:cNvPr id="16" name="bar-track-3-2">
            <a:extLst>
              <a:ext uri="{FF2B5EF4-FFF2-40B4-BE49-F238E27FC236}">
                <ns2:creationId id="{2F6E258D-A550-43E4-9469-0406871B74CF}"/>
              </a:ext>
            </a:extLst>
          </p:cNvPr>
          <p:cNvSpPr>
            <a:spLocks noGrp="1"/>
          </p:cNvSpPr>
          <p:nvPr/>
        </p:nvSpPr>
        <p:spPr>
          <a:xfrm>
            <a:off x="1714500" y="3476625"/>
            <a:ext cx="295275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bar-3-2">
            <a:extLst>
              <a:ext uri="{FF2B5EF4-FFF2-40B4-BE49-F238E27FC236}">
                <ns2:creationId id="{D2F77BAB-3E10-4570-9CB8-C200D5CC26AA}"/>
              </a:ext>
            </a:extLst>
          </p:cNvPr>
          <p:cNvSpPr>
            <a:spLocks noGrp="1"/>
          </p:cNvSpPr>
          <p:nvPr/>
        </p:nvSpPr>
        <p:spPr>
          <a:xfrm>
            <a:off x="1714500" y="3476625"/>
            <a:ext cx="1873151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EF8018BB-0EC8-478F-A11F-4032546F89EA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成林</a:t>
            </a:r>
          </a:p>
        </p:txBody>
      </p:sp>
      <p:sp>
        <p:nvSpPr>
          <p:cNvPr id="19" name="">
            <a:extLst>
              <a:ext uri="{FF2B5EF4-FFF2-40B4-BE49-F238E27FC236}">
                <ns2:creationId id="{59B6CF68-FFCF-4F01-A4E0-344575886C57}"/>
              </a:ext>
            </a:extLst>
          </p:cNvPr>
          <p:cNvSpPr>
            <a:spLocks noGrp="1"/>
          </p:cNvSpPr>
          <p:nvPr/>
        </p:nvSpPr>
        <p:spPr>
          <a:xfrm>
            <a:off x="571500" y="3819525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各单位经验共享</a:t>
            </a:r>
          </a:p>
        </p:txBody>
      </p:sp>
      <p:sp>
        <p:nvSpPr>
          <p:cNvPr id="20" name="bar-track-3-3">
            <a:extLst>
              <a:ext uri="{FF2B5EF4-FFF2-40B4-BE49-F238E27FC236}">
                <ns2:creationId id="{0C785D32-36EF-4D31-907F-65A48DD872E4}"/>
              </a:ext>
            </a:extLst>
          </p:cNvPr>
          <p:cNvSpPr>
            <a:spLocks noGrp="1"/>
          </p:cNvSpPr>
          <p:nvPr/>
        </p:nvSpPr>
        <p:spPr>
          <a:xfrm>
            <a:off x="1714500" y="3952875"/>
            <a:ext cx="295275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bar-3-3">
            <a:extLst>
              <a:ext uri="{FF2B5EF4-FFF2-40B4-BE49-F238E27FC236}">
                <ns2:creationId id="{082E28CA-EA99-46B1-AC22-C0E081A9E797}"/>
              </a:ext>
            </a:extLst>
          </p:cNvPr>
          <p:cNvSpPr>
            <a:spLocks noGrp="1"/>
          </p:cNvSpPr>
          <p:nvPr/>
        </p:nvSpPr>
        <p:spPr>
          <a:xfrm>
            <a:off x="1714500" y="3952875"/>
            <a:ext cx="1762792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279F892C-42E5-40DD-BA58-025D452A5BF6}"/>
              </a:ext>
            </a:extLst>
          </p:cNvPr>
          <p:cNvSpPr>
            <a:spLocks noGrp="1"/>
          </p:cNvSpPr>
          <p:nvPr/>
        </p:nvSpPr>
        <p:spPr>
          <a:xfrm>
            <a:off x="4762500" y="381000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跨单位协同共创</a:t>
            </a:r>
          </a:p>
        </p:txBody>
      </p:sp>
      <p:sp>
        <p:nvSpPr>
          <p:cNvPr id="23" name="">
            <a:extLst>
              <a:ext uri="{FF2B5EF4-FFF2-40B4-BE49-F238E27FC236}">
                <ns2:creationId id="{0FBFD2EF-D9E1-47AA-B2CD-36DF9EFFD8C1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扎根</a:t>
            </a:r>
          </a:p>
        </p:txBody>
      </p:sp>
      <p:sp>
        <p:nvSpPr>
          <p:cNvPr id="24" name="bar-track-3-4">
            <a:extLst>
              <a:ext uri="{FF2B5EF4-FFF2-40B4-BE49-F238E27FC236}">
                <ns2:creationId id="{DCCF2822-54FB-4271-83DC-83C7161E29B8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295275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bar-3-4">
            <a:extLst>
              <a:ext uri="{FF2B5EF4-FFF2-40B4-BE49-F238E27FC236}">
                <ns2:creationId id="{5BF4D981-D3DB-4C3C-8935-78CDCECFA009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964073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BCB1F1FA-4DAF-464C-A287-97345B182E5F}"/>
              </a:ext>
            </a:extLst>
          </p:cNvPr>
          <p:cNvSpPr>
            <a:spLocks noGrp="1"/>
          </p:cNvSpPr>
          <p:nvPr/>
        </p:nvSpPr>
        <p:spPr>
          <a:xfrm>
            <a:off x="4762500" y="428625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系统级嵌入</a:t>
            </a:r>
          </a:p>
        </p:txBody>
      </p:sp>
      <p:sp>
        <p:nvSpPr>
          <p:cNvPr id="27" name="">
            <a:extLst>
              <a:ext uri="{FF2B5EF4-FFF2-40B4-BE49-F238E27FC236}">
                <ns2:creationId id="{90D59C8D-0D8D-4AB4-BE5B-D34B83DDBD4A}"/>
              </a:ext>
            </a:extLst>
          </p:cNvPr>
          <p:cNvSpPr>
            <a:spLocks noGrp="1"/>
          </p:cNvSpPr>
          <p:nvPr/>
        </p:nvSpPr>
        <p:spPr>
          <a:xfrm>
            <a:off x="571500" y="4772025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OA模块日常可用</a:t>
            </a:r>
          </a:p>
        </p:txBody>
      </p:sp>
      <p:sp>
        <p:nvSpPr>
          <p:cNvPr id="28" name="bar-track-3-5">
            <a:extLst>
              <a:ext uri="{FF2B5EF4-FFF2-40B4-BE49-F238E27FC236}">
                <ns2:creationId id="{A090B7A2-68E8-48B4-8216-0DDB2082FCF2}"/>
              </a:ext>
            </a:extLst>
          </p:cNvPr>
          <p:cNvSpPr>
            <a:spLocks noGrp="1"/>
          </p:cNvSpPr>
          <p:nvPr/>
        </p:nvSpPr>
        <p:spPr>
          <a:xfrm>
            <a:off x="1714500" y="4905375"/>
            <a:ext cx="295275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bar-3-5">
            <a:extLst>
              <a:ext uri="{FF2B5EF4-FFF2-40B4-BE49-F238E27FC236}">
                <ns2:creationId id="{303EA520-C19F-4D4C-AA58-89392F9E8781}"/>
              </a:ext>
            </a:extLst>
          </p:cNvPr>
          <p:cNvSpPr>
            <a:spLocks noGrp="1"/>
          </p:cNvSpPr>
          <p:nvPr/>
        </p:nvSpPr>
        <p:spPr>
          <a:xfrm>
            <a:off x="1714500" y="4905375"/>
            <a:ext cx="633365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ADC80BDC-D066-44CD-ABC7-89C29DBBC4CF}"/>
              </a:ext>
            </a:extLst>
          </p:cNvPr>
          <p:cNvSpPr>
            <a:spLocks noGrp="1"/>
          </p:cNvSpPr>
          <p:nvPr/>
        </p:nvSpPr>
        <p:spPr>
          <a:xfrm>
            <a:off x="4762500" y="476250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预期目标</a:t>
            </a:r>
          </a:p>
        </p:txBody>
      </p:sp>
      <p:sp>
        <p:nvSpPr>
          <p:cNvPr id="31" name="">
            <a:extLst>
              <a:ext uri="{FF2B5EF4-FFF2-40B4-BE49-F238E27FC236}">
                <ns2:creationId id="{562C44B3-4C01-4CE1-BAD7-ED129590AB57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承接“三个一”行动</a:t>
            </a:r>
          </a:p>
        </p:txBody>
      </p:sp>
      <p:sp>
        <p:nvSpPr>
          <p:cNvPr id="32" name="">
            <a:extLst>
              <a:ext uri="{FF2B5EF4-FFF2-40B4-BE49-F238E27FC236}">
                <ns2:creationId id="{FE560D58-1C57-444D-8FC8-79386C92EDD7}"/>
              </a:ext>
            </a:extLst>
          </p:cNvPr>
          <p:cNvSpPr>
            <a:spLocks noGrp="1"/>
          </p:cNvSpPr>
          <p:nvPr/>
        </p:nvSpPr>
        <p:spPr>
          <a:xfrm>
            <a:off x="6477000" y="2390775"/>
            <a:ext cx="133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提升人效</a:t>
            </a:r>
          </a:p>
        </p:txBody>
      </p:sp>
      <p:sp>
        <p:nvSpPr>
          <p:cNvPr id="33" name="bar-track-3-0">
            <a:extLst>
              <a:ext uri="{FF2B5EF4-FFF2-40B4-BE49-F238E27FC236}">
                <ns2:creationId id="{98848FC4-571C-4E14-97F9-343724CA7D91}"/>
              </a:ext>
            </a:extLst>
          </p:cNvPr>
          <p:cNvSpPr>
            <a:spLocks noGrp="1"/>
          </p:cNvSpPr>
          <p:nvPr/>
        </p:nvSpPr>
        <p:spPr>
          <a:xfrm>
            <a:off x="7905750" y="2524125"/>
            <a:ext cx="26670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bar-3-0">
            <a:extLst>
              <a:ext uri="{FF2B5EF4-FFF2-40B4-BE49-F238E27FC236}">
                <ns2:creationId id="{03674A59-3ED6-4D05-9D84-B4184B493CD6}"/>
              </a:ext>
            </a:extLst>
          </p:cNvPr>
          <p:cNvSpPr>
            <a:spLocks noGrp="1"/>
          </p:cNvSpPr>
          <p:nvPr/>
        </p:nvSpPr>
        <p:spPr>
          <a:xfrm>
            <a:off x="7905750" y="2524125"/>
            <a:ext cx="2454529" cy="1143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52DDF549-6B5D-44F7-B43F-625FE5DEB9C9}"/>
              </a:ext>
            </a:extLst>
          </p:cNvPr>
          <p:cNvSpPr>
            <a:spLocks noGrp="1"/>
          </p:cNvSpPr>
          <p:nvPr/>
        </p:nvSpPr>
        <p:spPr>
          <a:xfrm>
            <a:off x="10668000" y="238125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形成网格化铺开的推进路径</a:t>
            </a:r>
          </a:p>
        </p:txBody>
      </p:sp>
      <p:sp>
        <p:nvSpPr>
          <p:cNvPr id="36" name="">
            <a:extLst>
              <a:ext uri="{FF2B5EF4-FFF2-40B4-BE49-F238E27FC236}">
                <ns2:creationId id="{B461BD8E-3482-4E45-9DAD-EBD136CA1DF9}"/>
              </a:ext>
            </a:extLst>
          </p:cNvPr>
          <p:cNvSpPr>
            <a:spLocks noGrp="1"/>
          </p:cNvSpPr>
          <p:nvPr/>
        </p:nvSpPr>
        <p:spPr>
          <a:xfrm>
            <a:off x="6477000" y="2867025"/>
            <a:ext cx="133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bar-track-3-1">
            <a:extLst>
              <a:ext uri="{FF2B5EF4-FFF2-40B4-BE49-F238E27FC236}">
                <ns2:creationId id="{0178C525-797D-44E2-B6CC-7F169A6F8055}"/>
              </a:ext>
            </a:extLst>
          </p:cNvPr>
          <p:cNvSpPr>
            <a:spLocks noGrp="1"/>
          </p:cNvSpPr>
          <p:nvPr/>
        </p:nvSpPr>
        <p:spPr>
          <a:xfrm>
            <a:off x="7905750" y="3000375"/>
            <a:ext cx="26670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bar-3-1">
            <a:extLst>
              <a:ext uri="{FF2B5EF4-FFF2-40B4-BE49-F238E27FC236}">
                <ns2:creationId id="{EEE561CA-4DED-4150-A093-D0B435D91C6E}"/>
              </a:ext>
            </a:extLst>
          </p:cNvPr>
          <p:cNvSpPr>
            <a:spLocks noGrp="1"/>
          </p:cNvSpPr>
          <p:nvPr/>
        </p:nvSpPr>
        <p:spPr>
          <a:xfrm>
            <a:off x="7905750" y="3000375"/>
            <a:ext cx="2388299" cy="1143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476E910C-9032-4076-8A3C-8AE3ADEA0089}"/>
              </a:ext>
            </a:extLst>
          </p:cNvPr>
          <p:cNvSpPr>
            <a:spLocks noGrp="1"/>
          </p:cNvSpPr>
          <p:nvPr/>
        </p:nvSpPr>
        <p:spPr>
          <a:xfrm>
            <a:off x="10668000" y="285750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0" name="">
            <a:extLst>
              <a:ext uri="{FF2B5EF4-FFF2-40B4-BE49-F238E27FC236}">
                <ns2:creationId id="{06D08833-4FFC-4C86-9A5A-8B34BD830A9B}"/>
              </a:ext>
            </a:extLst>
          </p:cNvPr>
          <p:cNvSpPr>
            <a:spLocks noGrp="1"/>
          </p:cNvSpPr>
          <p:nvPr/>
        </p:nvSpPr>
        <p:spPr>
          <a:xfrm>
            <a:off x="6477000" y="3343275"/>
            <a:ext cx="133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1" name="bar-track-3-2">
            <a:extLst>
              <a:ext uri="{FF2B5EF4-FFF2-40B4-BE49-F238E27FC236}">
                <ns2:creationId id="{6482BE2D-00CE-435F-8D69-E5E34BECC425}"/>
              </a:ext>
            </a:extLst>
          </p:cNvPr>
          <p:cNvSpPr>
            <a:spLocks noGrp="1"/>
          </p:cNvSpPr>
          <p:nvPr/>
        </p:nvSpPr>
        <p:spPr>
          <a:xfrm>
            <a:off x="7905750" y="3476625"/>
            <a:ext cx="26670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bar-3-2">
            <a:extLst>
              <a:ext uri="{FF2B5EF4-FFF2-40B4-BE49-F238E27FC236}">
                <ns2:creationId id="{34EEEC62-EA7E-4F65-B8B5-3D856885C4D1}"/>
              </a:ext>
            </a:extLst>
          </p:cNvPr>
          <p:cNvSpPr>
            <a:spLocks noGrp="1"/>
          </p:cNvSpPr>
          <p:nvPr/>
        </p:nvSpPr>
        <p:spPr>
          <a:xfrm>
            <a:off x="7905750" y="3476625"/>
            <a:ext cx="2388299" cy="1143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C9B1F201-F798-433D-914E-C2344BF69F79}"/>
              </a:ext>
            </a:extLst>
          </p:cNvPr>
          <p:cNvSpPr>
            <a:spLocks noGrp="1"/>
          </p:cNvSpPr>
          <p:nvPr/>
        </p:nvSpPr>
        <p:spPr>
          <a:xfrm>
            <a:off x="10668000" y="333375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4" name="">
            <a:extLst>
              <a:ext uri="{FF2B5EF4-FFF2-40B4-BE49-F238E27FC236}">
                <ns2:creationId id="{431EDF35-E97B-44C2-B030-64CD0DA2E91A}"/>
              </a:ext>
            </a:extLst>
          </p:cNvPr>
          <p:cNvSpPr>
            <a:spLocks noGrp="1"/>
          </p:cNvSpPr>
          <p:nvPr/>
        </p:nvSpPr>
        <p:spPr>
          <a:xfrm>
            <a:off x="6477000" y="3819525"/>
            <a:ext cx="133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5" name="bar-track-3-3">
            <a:extLst>
              <a:ext uri="{FF2B5EF4-FFF2-40B4-BE49-F238E27FC236}">
                <ns2:creationId id="{E276AA04-7DDB-4B41-946C-B0DCB2A60847}"/>
              </a:ext>
            </a:extLst>
          </p:cNvPr>
          <p:cNvSpPr>
            <a:spLocks noGrp="1"/>
          </p:cNvSpPr>
          <p:nvPr/>
        </p:nvSpPr>
        <p:spPr>
          <a:xfrm>
            <a:off x="7905750" y="3952875"/>
            <a:ext cx="26670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bar-3-3">
            <a:extLst>
              <a:ext uri="{FF2B5EF4-FFF2-40B4-BE49-F238E27FC236}">
                <ns2:creationId id="{F053EFB7-480B-498B-8F10-6988CB6E1C60}"/>
              </a:ext>
            </a:extLst>
          </p:cNvPr>
          <p:cNvSpPr>
            <a:spLocks noGrp="1"/>
          </p:cNvSpPr>
          <p:nvPr/>
        </p:nvSpPr>
        <p:spPr>
          <a:xfrm>
            <a:off x="7905750" y="3952875"/>
            <a:ext cx="2322068" cy="1143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>
              <a:ext uri="{FF2B5EF4-FFF2-40B4-BE49-F238E27FC236}">
                <ns2:creationId id="{336072AE-3925-4CD8-96F5-87AA382DED12}"/>
              </a:ext>
            </a:extLst>
          </p:cNvPr>
          <p:cNvSpPr>
            <a:spLocks noGrp="1"/>
          </p:cNvSpPr>
          <p:nvPr/>
        </p:nvSpPr>
        <p:spPr>
          <a:xfrm>
            <a:off x="10668000" y="381000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">
            <a:extLst>
              <a:ext uri="{FF2B5EF4-FFF2-40B4-BE49-F238E27FC236}">
                <ns2:creationId id="{0026262D-C90B-4249-8195-CF69D86A4520}"/>
              </a:ext>
            </a:extLst>
          </p:cNvPr>
          <p:cNvSpPr>
            <a:spLocks noGrp="1"/>
          </p:cNvSpPr>
          <p:nvPr/>
        </p:nvSpPr>
        <p:spPr>
          <a:xfrm>
            <a:off x="6477000" y="4295775"/>
            <a:ext cx="133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9" name="bar-track-3-4">
            <a:extLst>
              <a:ext uri="{FF2B5EF4-FFF2-40B4-BE49-F238E27FC236}">
                <ns2:creationId id="{8ACD884A-5675-4940-8EC1-91628830ED2D}"/>
              </a:ext>
            </a:extLst>
          </p:cNvPr>
          <p:cNvSpPr>
            <a:spLocks noGrp="1"/>
          </p:cNvSpPr>
          <p:nvPr/>
        </p:nvSpPr>
        <p:spPr>
          <a:xfrm>
            <a:off x="7905750" y="4429125"/>
            <a:ext cx="26670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bar-3-4">
            <a:extLst>
              <a:ext uri="{FF2B5EF4-FFF2-40B4-BE49-F238E27FC236}">
                <ns2:creationId id="{AB436172-DC96-4113-BBC0-B0F894F4BE42}"/>
              </a:ext>
            </a:extLst>
          </p:cNvPr>
          <p:cNvSpPr>
            <a:spLocks noGrp="1"/>
          </p:cNvSpPr>
          <p:nvPr/>
        </p:nvSpPr>
        <p:spPr>
          <a:xfrm>
            <a:off x="7905750" y="4429125"/>
            <a:ext cx="1393063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>
              <a:ext uri="{FF2B5EF4-FFF2-40B4-BE49-F238E27FC236}">
                <ns2:creationId id="{E5F30A3E-1494-4655-8459-BB8C441F3D9B}"/>
              </a:ext>
            </a:extLst>
          </p:cNvPr>
          <p:cNvSpPr>
            <a:spLocks noGrp="1"/>
          </p:cNvSpPr>
          <p:nvPr/>
        </p:nvSpPr>
        <p:spPr>
          <a:xfrm>
            <a:off x="10668000" y="428625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2" name="">
            <a:extLst>
              <a:ext uri="{FF2B5EF4-FFF2-40B4-BE49-F238E27FC236}">
                <ns2:creationId id="{7BBB3EAF-AFF4-4EDF-A7D9-B3D62646548E}"/>
              </a:ext>
            </a:extLst>
          </p:cNvPr>
          <p:cNvSpPr>
            <a:spLocks noGrp="1"/>
          </p:cNvSpPr>
          <p:nvPr/>
        </p:nvSpPr>
        <p:spPr>
          <a:xfrm>
            <a:off x="6477000" y="4772025"/>
            <a:ext cx="133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bar-track-3-5">
            <a:extLst>
              <a:ext uri="{FF2B5EF4-FFF2-40B4-BE49-F238E27FC236}">
                <ns2:creationId id="{33F400B5-CBE5-4A32-910C-DF315AE1012D}"/>
              </a:ext>
            </a:extLst>
          </p:cNvPr>
          <p:cNvSpPr>
            <a:spLocks noGrp="1"/>
          </p:cNvSpPr>
          <p:nvPr/>
        </p:nvSpPr>
        <p:spPr>
          <a:xfrm>
            <a:off x="7905750" y="4905375"/>
            <a:ext cx="26670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bar-3-5">
            <a:extLst>
              <a:ext uri="{FF2B5EF4-FFF2-40B4-BE49-F238E27FC236}">
                <ns2:creationId id="{88C07DD0-287F-45E4-A78F-8D85A728DF61}"/>
              </a:ext>
            </a:extLst>
          </p:cNvPr>
          <p:cNvSpPr>
            <a:spLocks noGrp="1"/>
          </p:cNvSpPr>
          <p:nvPr/>
        </p:nvSpPr>
        <p:spPr>
          <a:xfrm>
            <a:off x="7905750" y="4905375"/>
            <a:ext cx="729869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>
              <a:ext uri="{FF2B5EF4-FFF2-40B4-BE49-F238E27FC236}">
                <ns2:creationId id="{90AC1126-E817-4557-B4FB-FB79BD618872}"/>
              </a:ext>
            </a:extLst>
          </p:cNvPr>
          <p:cNvSpPr>
            <a:spLocks noGrp="1"/>
          </p:cNvSpPr>
          <p:nvPr/>
        </p:nvSpPr>
        <p:spPr>
          <a:xfrm>
            <a:off x="10668000" y="476250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6" name="quote-3-结论">
            <a:extLst>
              <a:ext uri="{FF2B5EF4-FFF2-40B4-BE49-F238E27FC236}">
                <ns2:creationId id="{BE891EAC-FF6D-405E-AD1D-617BC4D658D8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10668000" cy="7429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57" name="">
            <a:extLst>
              <a:ext uri="{FF2B5EF4-FFF2-40B4-BE49-F238E27FC236}">
                <ns2:creationId id="{CEDBEF7A-90FA-45F5-8A0B-9AA9FDDA5C86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47625" cy="7429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>
              <a:ext uri="{FF2B5EF4-FFF2-40B4-BE49-F238E27FC236}">
                <ns2:creationId id="{086F3129-F12B-4817-AEEE-C34B3CEEDACF}"/>
              </a:ext>
            </a:extLst>
          </p:cNvPr>
          <p:cNvSpPr>
            <a:spLocks noGrp="1"/>
          </p:cNvSpPr>
          <p:nvPr/>
        </p:nvSpPr>
        <p:spPr>
          <a:xfrm>
            <a:off x="742950" y="5638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9" name="">
            <a:extLst>
              <a:ext uri="{FF2B5EF4-FFF2-40B4-BE49-F238E27FC236}">
                <ns2:creationId id="{53591860-02E8-4EED-8913-CCFD7E113395}"/>
              </a:ext>
            </a:extLst>
          </p:cNvPr>
          <p:cNvSpPr>
            <a:spLocks noGrp="1"/>
          </p:cNvSpPr>
          <p:nvPr/>
        </p:nvSpPr>
        <p:spPr>
          <a:xfrm>
            <a:off x="742950" y="5848350"/>
            <a:ext cx="10325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0" name="footer-rule-3">
            <a:extLst>
              <a:ext uri="{FF2B5EF4-FFF2-40B4-BE49-F238E27FC236}">
                <ns2:creationId id="{ACC88DAD-D98D-4E04-B87D-26A4665021B5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footer-source-3">
            <a:extLst>
              <a:ext uri="{FF2B5EF4-FFF2-40B4-BE49-F238E27FC236}">
                <ns2:creationId id="{7EBBF19C-AC1F-4A2B-BEE2-703782B9EBD8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2" name="footer-page-3">
            <a:extLst>
              <a:ext uri="{FF2B5EF4-FFF2-40B4-BE49-F238E27FC236}">
                <ns2:creationId id="{23557EC2-7A07-4758-A878-26ACFE901BDC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157883640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4">
            <a:extLst>
              <a:ext uri="{FF2B5EF4-FFF2-40B4-BE49-F238E27FC236}">
                <ns2:creationId id="{1276058C-9934-49E0-9DCB-4A90C17F9C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>
              <a:ext uri="{FF2B5EF4-FFF2-40B4-BE49-F238E27FC236}">
                <ns2:creationId id="{6B07DAE7-0315-4F0C-84C7-3C8BA5780092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>
              <a:ext uri="{FF2B5EF4-FFF2-40B4-BE49-F238E27FC236}">
                <ns2:creationId id="{AFBD7CDF-90C5-4524-8D89-5E44861143FD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组织架构</a:t>
            </a:r>
          </a:p>
        </p:txBody>
      </p:sp>
      <p:sp>
        <p:nvSpPr>
          <p:cNvPr id="4" name="title-4">
            <a:extLst>
              <a:ext uri="{FF2B5EF4-FFF2-40B4-BE49-F238E27FC236}">
                <ns2:creationId id="{4318ED5B-F3F0-44DA-A6A2-ACC92E389955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AI兴趣协会、薪火计划、平台协同支撑三线联动</a:t>
            </a:r>
          </a:p>
        </p:txBody>
      </p:sp>
      <p:sp>
        <p:nvSpPr>
          <p:cNvPr id="5" name="support-4">
            <a:extLst>
              <a:ext uri="{FF2B5EF4-FFF2-40B4-BE49-F238E27FC236}">
                <ns2:creationId id="{23DDBB3B-3E6E-44F2-9742-6FB95CC4CFA7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三者共同回答：如何让AI从少数人的工具，变成全公司的能力。</a:t>
            </a:r>
          </a:p>
        </p:txBody>
      </p:sp>
      <p:sp>
        <p:nvSpPr>
          <p:cNvPr id="6" name="leaders-panel">
            <a:extLst>
              <a:ext uri="{FF2B5EF4-FFF2-40B4-BE49-F238E27FC236}">
                <ns2:creationId id="{CDD94FC4-49D0-4B45-80CB-7E8F9066AE15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5048250" cy="31051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2126E6F7-6344-481D-8781-49C9ACC401AD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AI兴趣协会</a:t>
            </a:r>
          </a:p>
        </p:txBody>
      </p:sp>
      <p:sp>
        <p:nvSpPr>
          <p:cNvPr id="8" name="">
            <a:extLst>
              <a:ext uri="{FF2B5EF4-FFF2-40B4-BE49-F238E27FC236}">
                <ns2:creationId id="{2CF83C7F-34E6-4199-8DA9-F8ACE81136B2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播种机</a:t>
            </a:r>
          </a:p>
        </p:txBody>
      </p:sp>
      <p:sp>
        <p:nvSpPr>
          <p:cNvPr id="9" name="quote-4-匿名共识">
            <a:extLst>
              <a:ext uri="{FF2B5EF4-FFF2-40B4-BE49-F238E27FC236}">
                <ns2:creationId id="{B0FF2E3E-B548-49D4-B87C-F1D9F8EAA613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4286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52C41D1C-EC85-4AA8-B4F9-594371D0706E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47625" cy="7429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D522780E-8D10-40C5-B245-02DB4CFE4508}"/>
              </a:ext>
            </a:extLst>
          </p:cNvPr>
          <p:cNvSpPr>
            <a:spLocks noGrp="1"/>
          </p:cNvSpPr>
          <p:nvPr/>
        </p:nvSpPr>
        <p:spPr>
          <a:xfrm>
            <a:off x="971550" y="32575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传播兴趣种子</a:t>
            </a:r>
          </a:p>
        </p:txBody>
      </p:sp>
      <p:sp>
        <p:nvSpPr>
          <p:cNvPr id="12" name="">
            <a:extLst>
              <a:ext uri="{FF2B5EF4-FFF2-40B4-BE49-F238E27FC236}">
                <ns2:creationId id="{86A31328-26AB-463C-B3F7-6A7C00F714DD}"/>
              </a:ext>
            </a:extLst>
          </p:cNvPr>
          <p:cNvSpPr>
            <a:spLocks noGrp="1"/>
          </p:cNvSpPr>
          <p:nvPr/>
        </p:nvSpPr>
        <p:spPr>
          <a:xfrm>
            <a:off x="971550" y="3467100"/>
            <a:ext cx="3943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员工AI应用推动力量；每月由程总主持召开AI应用推动工作会议；向公司汇报推进情况。</a:t>
            </a:r>
          </a:p>
        </p:txBody>
      </p:sp>
      <p:sp>
        <p:nvSpPr>
          <p:cNvPr id="13" name="quote-4-匿名共识">
            <a:extLst>
              <a:ext uri="{FF2B5EF4-FFF2-40B4-BE49-F238E27FC236}">
                <ns2:creationId id="{C3184110-FA41-4430-89F8-FE2F9800FB63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4286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DCB81D9E-E5BE-4981-B8AE-75FF6F36B354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47625" cy="7429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3E935766-F1F3-4A04-B3DF-AF90C1B67FE2}"/>
              </a:ext>
            </a:extLst>
          </p:cNvPr>
          <p:cNvSpPr>
            <a:spLocks noGrp="1"/>
          </p:cNvSpPr>
          <p:nvPr/>
        </p:nvSpPr>
        <p:spPr>
          <a:xfrm>
            <a:off x="971550" y="4114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薪火计划</a:t>
            </a:r>
          </a:p>
        </p:txBody>
      </p:sp>
      <p:sp>
        <p:nvSpPr>
          <p:cNvPr id="16" name="">
            <a:extLst>
              <a:ext uri="{FF2B5EF4-FFF2-40B4-BE49-F238E27FC236}">
                <ns2:creationId id="{72F4AA02-4143-4BB5-8C4C-EC180DA98717}"/>
              </a:ext>
            </a:extLst>
          </p:cNvPr>
          <p:cNvSpPr>
            <a:spLocks noGrp="1"/>
          </p:cNvSpPr>
          <p:nvPr/>
        </p:nvSpPr>
        <p:spPr>
          <a:xfrm>
            <a:off x="971550" y="4324350"/>
            <a:ext cx="3943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催化剂</a:t>
            </a:r>
          </a:p>
        </p:txBody>
      </p:sp>
      <p:sp>
        <p:nvSpPr>
          <p:cNvPr id="17" name="middle-panel">
            <a:extLst>
              <a:ext uri="{FF2B5EF4-FFF2-40B4-BE49-F238E27FC236}">
                <ns2:creationId id="{04F81E33-0A9F-4EAC-ABFF-B2D62D71BB2C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048250" cy="31051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79DF2630-574A-4B96-AD87-F50B2CBECB9D}"/>
              </a:ext>
            </a:extLst>
          </p:cNvPr>
          <p:cNvSpPr>
            <a:spLocks noGrp="1"/>
          </p:cNvSpPr>
          <p:nvPr/>
        </p:nvSpPr>
        <p:spPr>
          <a:xfrm>
            <a:off x="6419850" y="23241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润滑和燃料</a:t>
            </a:r>
          </a:p>
        </p:txBody>
      </p:sp>
      <p:sp>
        <p:nvSpPr>
          <p:cNvPr id="19" name="">
            <a:extLst>
              <a:ext uri="{FF2B5EF4-FFF2-40B4-BE49-F238E27FC236}">
                <ns2:creationId id="{BAB86153-12F6-4870-A5B3-3E6439F6ED86}"/>
              </a:ext>
            </a:extLst>
          </p:cNvPr>
          <p:cNvSpPr>
            <a:spLocks noGrp="1"/>
          </p:cNvSpPr>
          <p:nvPr/>
        </p:nvSpPr>
        <p:spPr>
          <a:xfrm>
            <a:off x="6419850" y="268605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每月2-3场内部分享；线下实操、录屏归档；员工提需求、协会认领、分享人钻研。</a:t>
            </a:r>
          </a:p>
        </p:txBody>
      </p:sp>
      <p:sp>
        <p:nvSpPr>
          <p:cNvPr id="20" name="quote-4-匿名共识">
            <a:extLst>
              <a:ext uri="{FF2B5EF4-FFF2-40B4-BE49-F238E27FC236}">
                <ns2:creationId id="{CBCA018B-EC2B-4FB4-88B0-9678D68A66A7}"/>
              </a:ext>
            </a:extLst>
          </p:cNvPr>
          <p:cNvSpPr>
            <a:spLocks noGrp="1"/>
          </p:cNvSpPr>
          <p:nvPr/>
        </p:nvSpPr>
        <p:spPr>
          <a:xfrm>
            <a:off x="6419850" y="3143250"/>
            <a:ext cx="4286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1CC69789-66AE-4279-8A0B-BABA013BE6A5}"/>
              </a:ext>
            </a:extLst>
          </p:cNvPr>
          <p:cNvSpPr>
            <a:spLocks noGrp="1"/>
          </p:cNvSpPr>
          <p:nvPr/>
        </p:nvSpPr>
        <p:spPr>
          <a:xfrm>
            <a:off x="6419850" y="3143250"/>
            <a:ext cx="47625" cy="7429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F1025E59-D73F-4D44-B677-AFBE2C0E261B}"/>
              </a:ext>
            </a:extLst>
          </p:cNvPr>
          <p:cNvSpPr>
            <a:spLocks noGrp="1"/>
          </p:cNvSpPr>
          <p:nvPr/>
        </p:nvSpPr>
        <p:spPr>
          <a:xfrm>
            <a:off x="6591300" y="32575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平台协同支撑</a:t>
            </a:r>
          </a:p>
        </p:txBody>
      </p:sp>
      <p:sp>
        <p:nvSpPr>
          <p:cNvPr id="23" name="">
            <a:extLst>
              <a:ext uri="{FF2B5EF4-FFF2-40B4-BE49-F238E27FC236}">
                <ns2:creationId id="{C346A595-8B57-4E48-8785-32251437C6BB}"/>
              </a:ext>
            </a:extLst>
          </p:cNvPr>
          <p:cNvSpPr>
            <a:spLocks noGrp="1"/>
          </p:cNvSpPr>
          <p:nvPr/>
        </p:nvSpPr>
        <p:spPr>
          <a:xfrm>
            <a:off x="6591300" y="3467100"/>
            <a:ext cx="3943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孵化场</a:t>
            </a:r>
          </a:p>
        </p:txBody>
      </p:sp>
      <p:sp>
        <p:nvSpPr>
          <p:cNvPr id="24" name="quote-4-匿名共识">
            <a:extLst>
              <a:ext uri="{FF2B5EF4-FFF2-40B4-BE49-F238E27FC236}">
                <ns2:creationId id="{41DCEF94-B808-4B28-AF29-2BF920B92F0F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4286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49971F3F-2DB0-46F9-AD00-AB2258C7F9DE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47625" cy="7429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ADCBAE66-8261-4F59-972D-D389E2568DF4}"/>
              </a:ext>
            </a:extLst>
          </p:cNvPr>
          <p:cNvSpPr>
            <a:spLocks noGrp="1"/>
          </p:cNvSpPr>
          <p:nvPr/>
        </p:nvSpPr>
        <p:spPr>
          <a:xfrm>
            <a:off x="6591300" y="4114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平台建设</a:t>
            </a:r>
          </a:p>
        </p:txBody>
      </p:sp>
      <p:sp>
        <p:nvSpPr>
          <p:cNvPr id="27" name="">
            <a:extLst>
              <a:ext uri="{FF2B5EF4-FFF2-40B4-BE49-F238E27FC236}">
                <ns2:creationId id="{728357CE-7F96-4B3F-8541-31BE3A2B02FC}"/>
              </a:ext>
            </a:extLst>
          </p:cNvPr>
          <p:cNvSpPr>
            <a:spLocks noGrp="1"/>
          </p:cNvSpPr>
          <p:nvPr/>
        </p:nvSpPr>
        <p:spPr>
          <a:xfrm>
            <a:off x="6591300" y="4324350"/>
            <a:ext cx="3943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公司领导、各单位、人力资源中心共同支撑；成熟场景纳入OA模块规划。</a:t>
            </a:r>
          </a:p>
        </p:txBody>
      </p:sp>
      <p:sp>
        <p:nvSpPr>
          <p:cNvPr id="28" name="footer-rule-4">
            <a:extLst>
              <a:ext uri="{FF2B5EF4-FFF2-40B4-BE49-F238E27FC236}">
                <ns2:creationId id="{8805152E-5770-4063-B5F6-18A385E3AEF2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source-4">
            <a:extLst>
              <a:ext uri="{FF2B5EF4-FFF2-40B4-BE49-F238E27FC236}">
                <ns2:creationId id="{FFF5F064-BF77-4867-AEEB-EA908C5B0C1E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0" name="footer-page-4">
            <a:extLst>
              <a:ext uri="{FF2B5EF4-FFF2-40B4-BE49-F238E27FC236}">
                <ns2:creationId id="{4B8D4425-CDDE-4B36-A337-832772F7677C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21849127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5">
            <a:extLst>
              <a:ext uri="{FF2B5EF4-FFF2-40B4-BE49-F238E27FC236}">
                <ns2:creationId id="{B5003005-5E22-4903-A525-B7395F818B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>
              <a:ext uri="{FF2B5EF4-FFF2-40B4-BE49-F238E27FC236}">
                <ns2:creationId id="{47BC5223-16B9-4E0F-92EE-0651A52C669E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>
              <a:ext uri="{FF2B5EF4-FFF2-40B4-BE49-F238E27FC236}">
                <ns2:creationId id="{585E65EC-6A96-4FE1-8A93-B06BF8CF1E19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AI兴趣协会</a:t>
            </a:r>
          </a:p>
        </p:txBody>
      </p:sp>
      <p:sp>
        <p:nvSpPr>
          <p:cNvPr id="4" name="title-5">
            <a:extLst>
              <a:ext uri="{FF2B5EF4-FFF2-40B4-BE49-F238E27FC236}">
                <ns2:creationId id="{58A1974A-AAA2-4E0A-9A29-0172000A872A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播种机：让AI兴趣在员工中自然扎根</a:t>
            </a:r>
          </a:p>
        </p:txBody>
      </p:sp>
      <p:sp>
        <p:nvSpPr>
          <p:cNvPr id="5" name="support-5">
            <a:extLst>
              <a:ext uri="{FF2B5EF4-FFF2-40B4-BE49-F238E27FC236}">
                <ns2:creationId id="{33662B93-71C4-4C39-AC59-3E91BD078C61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rPr>
              <a:t>协会不是传统运动兴趣协会，而是员工AI应用推动力量。</a:t>
            </a:r>
          </a:p>
        </p:txBody>
      </p:sp>
      <p:sp>
        <p:nvSpPr>
          <p:cNvPr id="6" name="stage-5-0">
            <a:extLst>
              <a:ext uri="{FF2B5EF4-FFF2-40B4-BE49-F238E27FC236}">
                <ns2:creationId id="{4AD71D61-111A-47B8-BD24-0C655BE11038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174625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03EDD3DD-FC53-481D-AD96-F245513502F2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8" name="">
            <a:extLst>
              <a:ext uri="{FF2B5EF4-FFF2-40B4-BE49-F238E27FC236}">
                <ns2:creationId id="{5B9E5991-EBB2-4B39-81E7-DC510DFC4E0D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员工AI应用推动力量</a:t>
            </a:r>
          </a:p>
        </p:txBody>
      </p:sp>
      <p:sp>
        <p:nvSpPr>
          <p:cNvPr id="9" name="">
            <a:extLst>
              <a:ext uri="{FF2B5EF4-FFF2-40B4-BE49-F238E27FC236}">
                <ns2:creationId id="{16FECBEC-BD45-478B-AE42-1267193BE4D0}"/>
              </a:ext>
            </a:extLst>
          </p:cNvPr>
          <p:cNvSpPr>
            <a:spLocks noGrp="1"/>
          </p:cNvSpPr>
          <p:nvPr/>
        </p:nvSpPr>
        <p:spPr>
          <a:xfrm>
            <a:off x="685800" y="32289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承载公司AI应用推进职责</a:t>
            </a:r>
          </a:p>
        </p:txBody>
      </p:sp>
      <p:sp>
        <p:nvSpPr>
          <p:cNvPr id="10" name="stage-link-5-0">
            <a:extLst>
              <a:ext uri="{FF2B5EF4-FFF2-40B4-BE49-F238E27FC236}">
                <ns2:creationId id="{2A2AEFA6-56ED-4BBB-B235-E15B60AC855D}"/>
              </a:ext>
            </a:extLst>
          </p:cNvPr>
          <p:cNvSpPr>
            <a:spLocks noGrp="1"/>
          </p:cNvSpPr>
          <p:nvPr/>
        </p:nvSpPr>
        <p:spPr>
          <a:xfrm>
            <a:off x="2317750" y="30480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5-1">
            <a:extLst>
              <a:ext uri="{FF2B5EF4-FFF2-40B4-BE49-F238E27FC236}">
                <ns2:creationId id="{E3C884D9-4CF8-45FC-AA19-12A14FD3034E}"/>
              </a:ext>
            </a:extLst>
          </p:cNvPr>
          <p:cNvSpPr>
            <a:spLocks noGrp="1"/>
          </p:cNvSpPr>
          <p:nvPr/>
        </p:nvSpPr>
        <p:spPr>
          <a:xfrm>
            <a:off x="2432050" y="2571750"/>
            <a:ext cx="174625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40162731-FDD3-4100-B075-516A6B7DAFF2}"/>
              </a:ext>
            </a:extLst>
          </p:cNvPr>
          <p:cNvSpPr>
            <a:spLocks noGrp="1"/>
          </p:cNvSpPr>
          <p:nvPr/>
        </p:nvSpPr>
        <p:spPr>
          <a:xfrm>
            <a:off x="2546350" y="26860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会议机制</a:t>
            </a:r>
          </a:p>
        </p:txBody>
      </p:sp>
      <p:sp>
        <p:nvSpPr>
          <p:cNvPr id="13" name="">
            <a:extLst>
              <a:ext uri="{FF2B5EF4-FFF2-40B4-BE49-F238E27FC236}">
                <ns2:creationId id="{B43109D4-406B-4133-91D5-B7ED1732C671}"/>
              </a:ext>
            </a:extLst>
          </p:cNvPr>
          <p:cNvSpPr>
            <a:spLocks noGrp="1"/>
          </p:cNvSpPr>
          <p:nvPr/>
        </p:nvSpPr>
        <p:spPr>
          <a:xfrm>
            <a:off x="2546350" y="29337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每月一次AI应用推动工作会议</a:t>
            </a:r>
          </a:p>
        </p:txBody>
      </p:sp>
      <p:sp>
        <p:nvSpPr>
          <p:cNvPr id="14" name="">
            <a:extLst>
              <a:ext uri="{FF2B5EF4-FFF2-40B4-BE49-F238E27FC236}">
                <ns2:creationId id="{8139540C-343A-4B97-A3CB-41F778FA0F22}"/>
              </a:ext>
            </a:extLst>
          </p:cNvPr>
          <p:cNvSpPr>
            <a:spLocks noGrp="1"/>
          </p:cNvSpPr>
          <p:nvPr/>
        </p:nvSpPr>
        <p:spPr>
          <a:xfrm>
            <a:off x="2546350" y="32289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由程总主持，协会汇报推进情况</a:t>
            </a:r>
          </a:p>
        </p:txBody>
      </p:sp>
      <p:sp>
        <p:nvSpPr>
          <p:cNvPr id="15" name="stage-link-5-1">
            <a:extLst>
              <a:ext uri="{FF2B5EF4-FFF2-40B4-BE49-F238E27FC236}">
                <ns2:creationId id="{3B9F49AE-7863-4A7F-8A0E-D66DFDFC18FC}"/>
              </a:ext>
            </a:extLst>
          </p:cNvPr>
          <p:cNvSpPr>
            <a:spLocks noGrp="1"/>
          </p:cNvSpPr>
          <p:nvPr/>
        </p:nvSpPr>
        <p:spPr>
          <a:xfrm>
            <a:off x="4178300" y="30480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tage-5-2">
            <a:extLst>
              <a:ext uri="{FF2B5EF4-FFF2-40B4-BE49-F238E27FC236}">
                <ns2:creationId id="{4C50BC07-8BCB-40DC-BC4B-5D2AD8401A1D}"/>
              </a:ext>
            </a:extLst>
          </p:cNvPr>
          <p:cNvSpPr>
            <a:spLocks noGrp="1"/>
          </p:cNvSpPr>
          <p:nvPr/>
        </p:nvSpPr>
        <p:spPr>
          <a:xfrm>
            <a:off x="4292600" y="2571750"/>
            <a:ext cx="174625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DDD4BF9A-8C9E-4FAD-9072-D7D5C33A28F7}"/>
              </a:ext>
            </a:extLst>
          </p:cNvPr>
          <p:cNvSpPr>
            <a:spLocks noGrp="1"/>
          </p:cNvSpPr>
          <p:nvPr/>
        </p:nvSpPr>
        <p:spPr>
          <a:xfrm>
            <a:off x="4406900" y="26860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经费</a:t>
            </a:r>
          </a:p>
        </p:txBody>
      </p:sp>
      <p:sp>
        <p:nvSpPr>
          <p:cNvPr id="18" name="">
            <a:extLst>
              <a:ext uri="{FF2B5EF4-FFF2-40B4-BE49-F238E27FC236}">
                <ns2:creationId id="{07B8E920-05D5-4E2C-BDE1-E4CB556E926B}"/>
              </a:ext>
            </a:extLst>
          </p:cNvPr>
          <p:cNvSpPr>
            <a:spLocks noGrp="1"/>
          </p:cNvSpPr>
          <p:nvPr/>
        </p:nvSpPr>
        <p:spPr>
          <a:xfrm>
            <a:off x="4406900" y="29337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3万元/年</a:t>
            </a:r>
          </a:p>
        </p:txBody>
      </p:sp>
      <p:sp>
        <p:nvSpPr>
          <p:cNvPr id="19" name="">
            <a:extLst>
              <a:ext uri="{FF2B5EF4-FFF2-40B4-BE49-F238E27FC236}">
                <ns2:creationId id="{876FF740-98F0-4F63-A02C-48E0AFF12993}"/>
              </a:ext>
            </a:extLst>
          </p:cNvPr>
          <p:cNvSpPr>
            <a:spLocks noGrp="1"/>
          </p:cNvSpPr>
          <p:nvPr/>
        </p:nvSpPr>
        <p:spPr>
          <a:xfrm>
            <a:off x="4406900" y="32289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采购商用AI工具会员及付费工具额度</a:t>
            </a:r>
          </a:p>
        </p:txBody>
      </p:sp>
      <p:sp>
        <p:nvSpPr>
          <p:cNvPr id="20" name="stage-link-5-2">
            <a:extLst>
              <a:ext uri="{FF2B5EF4-FFF2-40B4-BE49-F238E27FC236}">
                <ns2:creationId id="{09839E98-F513-49B0-979E-B0915B1FC781}"/>
              </a:ext>
            </a:extLst>
          </p:cNvPr>
          <p:cNvSpPr>
            <a:spLocks noGrp="1"/>
          </p:cNvSpPr>
          <p:nvPr/>
        </p:nvSpPr>
        <p:spPr>
          <a:xfrm>
            <a:off x="6038850" y="30480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tage-5-3">
            <a:extLst>
              <a:ext uri="{FF2B5EF4-FFF2-40B4-BE49-F238E27FC236}">
                <ns2:creationId id="{6595ED57-6458-4703-BADF-F12C9CD210DD}"/>
              </a:ext>
            </a:extLst>
          </p:cNvPr>
          <p:cNvSpPr>
            <a:spLocks noGrp="1"/>
          </p:cNvSpPr>
          <p:nvPr/>
        </p:nvSpPr>
        <p:spPr>
          <a:xfrm>
            <a:off x="6153150" y="2571750"/>
            <a:ext cx="174625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23F37743-4F7A-4811-86F3-0544E4FA3861}"/>
              </a:ext>
            </a:extLst>
          </p:cNvPr>
          <p:cNvSpPr>
            <a:spLocks noGrp="1"/>
          </p:cNvSpPr>
          <p:nvPr/>
        </p:nvSpPr>
        <p:spPr>
          <a:xfrm>
            <a:off x="6267450" y="26860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23" name="">
            <a:extLst>
              <a:ext uri="{FF2B5EF4-FFF2-40B4-BE49-F238E27FC236}">
                <ns2:creationId id="{B64CB69F-25C0-4FD0-ACC4-BF0595AF93E1}"/>
              </a:ext>
            </a:extLst>
          </p:cNvPr>
          <p:cNvSpPr>
            <a:spLocks noGrp="1"/>
          </p:cNvSpPr>
          <p:nvPr/>
        </p:nvSpPr>
        <p:spPr>
          <a:xfrm>
            <a:off x="6267450" y="29337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使用换分享</a:t>
            </a:r>
          </a:p>
        </p:txBody>
      </p:sp>
      <p:sp>
        <p:nvSpPr>
          <p:cNvPr id="24" name="">
            <a:extLst>
              <a:ext uri="{FF2B5EF4-FFF2-40B4-BE49-F238E27FC236}">
                <ns2:creationId id="{AC8C616A-4BD6-434C-B8B9-F3A55A81F598}"/>
              </a:ext>
            </a:extLst>
          </p:cNvPr>
          <p:cNvSpPr>
            <a:spLocks noGrp="1"/>
          </p:cNvSpPr>
          <p:nvPr/>
        </p:nvSpPr>
        <p:spPr>
          <a:xfrm>
            <a:off x="6267450" y="32289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申领额度成员按月分享经验和实操案例</a:t>
            </a:r>
          </a:p>
        </p:txBody>
      </p:sp>
      <p:sp>
        <p:nvSpPr>
          <p:cNvPr id="25" name="stage-link-5-3">
            <a:extLst>
              <a:ext uri="{FF2B5EF4-FFF2-40B4-BE49-F238E27FC236}">
                <ns2:creationId id="{342FA2F0-52A2-402B-AFDF-0F334E539A42}"/>
              </a:ext>
            </a:extLst>
          </p:cNvPr>
          <p:cNvSpPr>
            <a:spLocks noGrp="1"/>
          </p:cNvSpPr>
          <p:nvPr/>
        </p:nvSpPr>
        <p:spPr>
          <a:xfrm>
            <a:off x="7899400" y="30480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tage-5-4">
            <a:extLst>
              <a:ext uri="{FF2B5EF4-FFF2-40B4-BE49-F238E27FC236}">
                <ns2:creationId id="{11C6A384-F875-4EEC-9403-1D46132D17D1}"/>
              </a:ext>
            </a:extLst>
          </p:cNvPr>
          <p:cNvSpPr>
            <a:spLocks noGrp="1"/>
          </p:cNvSpPr>
          <p:nvPr/>
        </p:nvSpPr>
        <p:spPr>
          <a:xfrm>
            <a:off x="8013700" y="2571750"/>
            <a:ext cx="174625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1BC0B878-71A7-4F64-99B3-37DAED679E9E}"/>
              </a:ext>
            </a:extLst>
          </p:cNvPr>
          <p:cNvSpPr>
            <a:spLocks noGrp="1"/>
          </p:cNvSpPr>
          <p:nvPr/>
        </p:nvSpPr>
        <p:spPr>
          <a:xfrm>
            <a:off x="8128000" y="26860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>开放</a:t>
            </a:r>
          </a:p>
        </p:txBody>
      </p:sp>
      <p:sp>
        <p:nvSpPr>
          <p:cNvPr id="28" name="">
            <a:extLst>
              <a:ext uri="{FF2B5EF4-FFF2-40B4-BE49-F238E27FC236}">
                <ns2:creationId id="{2F88258D-9D64-4FD1-AFBD-073AF39F7A30}"/>
              </a:ext>
            </a:extLst>
          </p:cNvPr>
          <p:cNvSpPr>
            <a:spLocks noGrp="1"/>
          </p:cNvSpPr>
          <p:nvPr/>
        </p:nvSpPr>
        <p:spPr>
          <a:xfrm>
            <a:off x="8128000" y="29337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面向全体员工</a:t>
            </a:r>
          </a:p>
        </p:txBody>
      </p:sp>
      <p:sp>
        <p:nvSpPr>
          <p:cNvPr id="29" name="">
            <a:extLst>
              <a:ext uri="{FF2B5EF4-FFF2-40B4-BE49-F238E27FC236}">
                <ns2:creationId id="{8C00F8CE-ADBC-42E1-B0AA-ECA1D5FA029C}"/>
              </a:ext>
            </a:extLst>
          </p:cNvPr>
          <p:cNvSpPr>
            <a:spLocks noGrp="1"/>
          </p:cNvSpPr>
          <p:nvPr/>
        </p:nvSpPr>
        <p:spPr>
          <a:xfrm>
            <a:off x="8128000" y="32289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不限岗位、不限技术基础，零门槛加入</a:t>
            </a:r>
          </a:p>
        </p:txBody>
      </p:sp>
      <p:sp>
        <p:nvSpPr>
          <p:cNvPr id="30" name="stage-link-5-4">
            <a:extLst>
              <a:ext uri="{FF2B5EF4-FFF2-40B4-BE49-F238E27FC236}">
                <ns2:creationId id="{109ABA06-DE47-4BD1-A9D0-A54B4032514D}"/>
              </a:ext>
            </a:extLst>
          </p:cNvPr>
          <p:cNvSpPr>
            <a:spLocks noGrp="1"/>
          </p:cNvSpPr>
          <p:nvPr/>
        </p:nvSpPr>
        <p:spPr>
          <a:xfrm>
            <a:off x="9759950" y="304800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tage-5-5">
            <a:extLst>
              <a:ext uri="{FF2B5EF4-FFF2-40B4-BE49-F238E27FC236}">
                <ns2:creationId id="{964B97E9-4C06-4513-B590-02E60D61771A}"/>
              </a:ext>
            </a:extLst>
          </p:cNvPr>
          <p:cNvSpPr>
            <a:spLocks noGrp="1"/>
          </p:cNvSpPr>
          <p:nvPr/>
        </p:nvSpPr>
        <p:spPr>
          <a:xfrm>
            <a:off x="9874250" y="2571750"/>
            <a:ext cx="174625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41651ED5-E60F-4996-A428-DB7369E22C93}"/>
              </a:ext>
            </a:extLst>
          </p:cNvPr>
          <p:cNvSpPr>
            <a:spLocks noGrp="1"/>
          </p:cNvSpPr>
          <p:nvPr/>
        </p:nvSpPr>
        <p:spPr>
          <a:xfrm>
            <a:off x="9988550" y="26860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3" name="">
            <a:extLst>
              <a:ext uri="{FF2B5EF4-FFF2-40B4-BE49-F238E27FC236}">
                <ns2:creationId id="{5A4A52DB-DA6A-4C10-8BA3-50EE1B627370}"/>
              </a:ext>
            </a:extLst>
          </p:cNvPr>
          <p:cNvSpPr>
            <a:spLocks noGrp="1"/>
          </p:cNvSpPr>
          <p:nvPr/>
        </p:nvSpPr>
        <p:spPr>
          <a:xfrm>
            <a:off x="9988550" y="2933700"/>
            <a:ext cx="151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4" name="">
            <a:extLst>
              <a:ext uri="{FF2B5EF4-FFF2-40B4-BE49-F238E27FC236}">
                <ns2:creationId id="{FD3B9F33-8A55-4538-91BE-ACA6838224E2}"/>
              </a:ext>
            </a:extLst>
          </p:cNvPr>
          <p:cNvSpPr>
            <a:spLocks noGrp="1"/>
          </p:cNvSpPr>
          <p:nvPr/>
        </p:nvSpPr>
        <p:spPr>
          <a:xfrm>
            <a:off x="9988550" y="3228975"/>
            <a:ext cx="151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5" name="">
            <a:extLst>
              <a:ext uri="{FF2B5EF4-FFF2-40B4-BE49-F238E27FC236}">
                <ns2:creationId id="{DBDEDC1E-D12E-4708-BF2A-27E6D6DBDAF5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457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">
            <a:extLst>
              <a:ext uri="{FF2B5EF4-FFF2-40B4-BE49-F238E27FC236}">
                <ns2:creationId id="{A4C52DCB-1517-48B7-BE49-6E73FBA35199}"/>
              </a:ext>
            </a:extLst>
          </p:cNvPr>
          <p:cNvSpPr>
            <a:spLocks noGrp="1"/>
          </p:cNvSpPr>
          <p:nvPr/>
        </p:nvSpPr>
        <p:spPr>
          <a:xfrm>
            <a:off x="6858000" y="4552950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3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mainline-callout">
            <a:extLst>
              <a:ext uri="{FF2B5EF4-FFF2-40B4-BE49-F238E27FC236}">
                <ns2:creationId id="{6B1313D3-3732-4A55-BC52-DD9D1A2BE561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11049000" cy="514350"/>
          </a:xfrm>
          <a:prstGeom prst="rect">
            <a:avLst/>
          </a:prstGeom>
          <a:solidFill>
            <a:srgbClr val="183B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DD39B5F4-9820-4BC6-8564-7B653AA7901C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9" name="footer-rule-5">
            <a:extLst>
              <a:ext uri="{FF2B5EF4-FFF2-40B4-BE49-F238E27FC236}">
                <ns2:creationId id="{73EF74F3-89B6-4FFD-85AE-9B3632A8713F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3653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ooter-source-5">
            <a:extLst>
              <a:ext uri="{FF2B5EF4-FFF2-40B4-BE49-F238E27FC236}">
                <ns2:creationId id="{28884B3E-C1A2-4E5A-83DD-1487E02A557B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1" name="footer-page-5">
            <a:extLst>
              <a:ext uri="{FF2B5EF4-FFF2-40B4-BE49-F238E27FC236}">
                <ns2:creationId id="{70969545-4CF2-4193-9D4C-501C63CB8CF7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283907969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6">
            <a:extLst>
              <a:ext uri="{FF2B5EF4-FFF2-40B4-BE49-F238E27FC236}">
                <ns2:creationId id="{A7C7E6FD-3EDA-4A4F-8057-6B9A71BED4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>
              <a:ext uri="{FF2B5EF4-FFF2-40B4-BE49-F238E27FC236}">
                <ns2:creationId id="{4DA8D46F-EB1D-45FC-8A1A-EFB594172E1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>
              <a:ext uri="{FF2B5EF4-FFF2-40B4-BE49-F238E27FC236}">
                <ns2:creationId id="{FCF232C0-F4C5-4E29-B0C0-95FE9FBB91EE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推进节奏</a:t>
            </a:r>
          </a:p>
        </p:txBody>
      </p:sp>
      <p:sp>
        <p:nvSpPr>
          <p:cNvPr id="4" name="title-6">
            <a:extLst>
              <a:ext uri="{FF2B5EF4-FFF2-40B4-BE49-F238E27FC236}">
                <ns2:creationId id="{B143EDED-DBAA-4DBD-9A14-A7352692B97F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会后2周、1个月、2个月和年底四个节点滚动推进</a:t>
            </a:r>
          </a:p>
        </p:txBody>
      </p:sp>
      <p:sp>
        <p:nvSpPr>
          <p:cNvPr id="5" name="support-6">
            <a:extLst>
              <a:ext uri="{FF2B5EF4-FFF2-40B4-BE49-F238E27FC236}">
                <ns2:creationId id="{94702F93-0199-4617-B37F-B3EFAC89DA2D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先启动兴趣和方向，再形成计划、交流、复盘和系统固化。</a:t>
            </a:r>
          </a:p>
        </p:txBody>
      </p:sp>
      <p:sp>
        <p:nvSpPr>
          <p:cNvPr id="6" name="phase-0">
            <a:extLst>
              <a:ext uri="{FF2B5EF4-FFF2-40B4-BE49-F238E27FC236}">
                <ns2:creationId id="{8DC19B3B-13F9-4AF4-A27E-B2A8901719AE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2087880" cy="312420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F911C258-F1B4-4356-BB17-AEA95B52E4C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208788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DAD5BC19-FD97-41A2-A9B3-FB2D940BE2F7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74498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会后2周</a:t>
            </a:r>
          </a:p>
        </p:txBody>
      </p:sp>
      <p:sp>
        <p:nvSpPr>
          <p:cNvPr id="9" name="">
            <a:extLst>
              <a:ext uri="{FF2B5EF4-FFF2-40B4-BE49-F238E27FC236}">
                <ns2:creationId id="{B7089FFE-A7C6-43F9-B043-972FE977759C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174498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协会发布招募公告，首批成员入群，开通付费AI工具</a:t>
            </a:r>
          </a:p>
        </p:txBody>
      </p:sp>
      <p:sp>
        <p:nvSpPr>
          <p:cNvPr id="10" name="">
            <a:extLst>
              <a:ext uri="{FF2B5EF4-FFF2-40B4-BE49-F238E27FC236}">
                <ns2:creationId id="{3CEC5F56-AD71-446F-8C3A-AA325D07309B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7620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CD492FCB-64DB-46F3-B94E-A464B48C7BB4}"/>
              </a:ext>
            </a:extLst>
          </p:cNvPr>
          <p:cNvSpPr>
            <a:spLocks noGrp="1"/>
          </p:cNvSpPr>
          <p:nvPr/>
        </p:nvSpPr>
        <p:spPr>
          <a:xfrm>
            <a:off x="933450" y="34290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薪火启动首批分享</a:t>
            </a:r>
          </a:p>
        </p:txBody>
      </p:sp>
      <p:sp>
        <p:nvSpPr>
          <p:cNvPr id="12" name="">
            <a:extLst>
              <a:ext uri="{FF2B5EF4-FFF2-40B4-BE49-F238E27FC236}">
                <ns2:creationId id="{92A5AEAA-41DB-4A7C-93D0-4F02F69C047D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7620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BB91D83F-386D-4D11-A8A2-8B3EEDA49043}"/>
              </a:ext>
            </a:extLst>
          </p:cNvPr>
          <p:cNvSpPr>
            <a:spLocks noGrp="1"/>
          </p:cNvSpPr>
          <p:nvPr/>
        </p:nvSpPr>
        <p:spPr>
          <a:xfrm>
            <a:off x="933450" y="38290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各单位确认AI对接人和2-3个探索方向</a:t>
            </a:r>
          </a:p>
        </p:txBody>
      </p:sp>
      <p:sp>
        <p:nvSpPr>
          <p:cNvPr id="14" name="">
            <a:extLst>
              <a:ext uri="{FF2B5EF4-FFF2-40B4-BE49-F238E27FC236}">
                <ns2:creationId id="{A494E103-2F31-4ACE-BCDF-066344D5A0B7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7620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C60B6903-34DC-48E1-90B4-EB0FDC086796}"/>
              </a:ext>
            </a:extLst>
          </p:cNvPr>
          <p:cNvSpPr>
            <a:spLocks noGrp="1"/>
          </p:cNvSpPr>
          <p:nvPr/>
        </p:nvSpPr>
        <p:spPr>
          <a:xfrm>
            <a:off x="933450" y="42291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会后1个月</a:t>
            </a:r>
          </a:p>
        </p:txBody>
      </p:sp>
      <p:sp>
        <p:nvSpPr>
          <p:cNvPr id="16" name="">
            <a:extLst>
              <a:ext uri="{FF2B5EF4-FFF2-40B4-BE49-F238E27FC236}">
                <ns2:creationId id="{3819912A-65E6-46FE-9A11-AFE201A040BC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7620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0DCB3AFF-3D4A-456F-8983-98A6F755DEB2}"/>
              </a:ext>
            </a:extLst>
          </p:cNvPr>
          <p:cNvSpPr>
            <a:spLocks noGrp="1"/>
          </p:cNvSpPr>
          <p:nvPr/>
        </p:nvSpPr>
        <p:spPr>
          <a:xfrm>
            <a:off x="933450" y="46291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首次线下交流会，形成使用换分享记录</a:t>
            </a:r>
          </a:p>
        </p:txBody>
      </p:sp>
      <p:sp>
        <p:nvSpPr>
          <p:cNvPr id="18" name="phase-1">
            <a:extLst>
              <a:ext uri="{FF2B5EF4-FFF2-40B4-BE49-F238E27FC236}">
                <ns2:creationId id="{67526FA4-64F0-457D-885E-983F6C75B90F}"/>
              </a:ext>
            </a:extLst>
          </p:cNvPr>
          <p:cNvSpPr>
            <a:spLocks noGrp="1"/>
          </p:cNvSpPr>
          <p:nvPr/>
        </p:nvSpPr>
        <p:spPr>
          <a:xfrm>
            <a:off x="2811780" y="2286000"/>
            <a:ext cx="2087880" cy="312420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A251E412-9692-449D-8E48-154E4C7E3BCA}"/>
              </a:ext>
            </a:extLst>
          </p:cNvPr>
          <p:cNvSpPr>
            <a:spLocks noGrp="1"/>
          </p:cNvSpPr>
          <p:nvPr/>
        </p:nvSpPr>
        <p:spPr>
          <a:xfrm>
            <a:off x="2811780" y="2286000"/>
            <a:ext cx="208788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8C03E4E4-80EC-41CA-9816-10A81424475F}"/>
              </a:ext>
            </a:extLst>
          </p:cNvPr>
          <p:cNvSpPr>
            <a:spLocks noGrp="1"/>
          </p:cNvSpPr>
          <p:nvPr/>
        </p:nvSpPr>
        <p:spPr>
          <a:xfrm>
            <a:off x="2983230" y="2571750"/>
            <a:ext cx="174498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发布薪火需求池</a:t>
            </a:r>
          </a:p>
        </p:txBody>
      </p:sp>
      <p:sp>
        <p:nvSpPr>
          <p:cNvPr id="21" name="">
            <a:extLst>
              <a:ext uri="{FF2B5EF4-FFF2-40B4-BE49-F238E27FC236}">
                <ns2:creationId id="{3EA3B7F1-8B9C-4A88-8266-5438B97C3CB6}"/>
              </a:ext>
            </a:extLst>
          </p:cNvPr>
          <p:cNvSpPr>
            <a:spLocks noGrp="1"/>
          </p:cNvSpPr>
          <p:nvPr/>
        </p:nvSpPr>
        <p:spPr>
          <a:xfrm>
            <a:off x="2983230" y="2952750"/>
            <a:ext cx="174498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各单位提交一页纸AI探索计划</a:t>
            </a:r>
          </a:p>
        </p:txBody>
      </p:sp>
      <p:sp>
        <p:nvSpPr>
          <p:cNvPr id="22" name="">
            <a:extLst>
              <a:ext uri="{FF2B5EF4-FFF2-40B4-BE49-F238E27FC236}">
                <ns2:creationId id="{36C3A15F-FF05-49AD-9BFE-A6F958CF717B}"/>
              </a:ext>
            </a:extLst>
          </p:cNvPr>
          <p:cNvSpPr>
            <a:spLocks noGrp="1"/>
          </p:cNvSpPr>
          <p:nvPr/>
        </p:nvSpPr>
        <p:spPr>
          <a:xfrm>
            <a:off x="3002280" y="35433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1EA79BC4-6163-4560-89CC-E114E237C0C4}"/>
              </a:ext>
            </a:extLst>
          </p:cNvPr>
          <p:cNvSpPr>
            <a:spLocks noGrp="1"/>
          </p:cNvSpPr>
          <p:nvPr/>
        </p:nvSpPr>
        <p:spPr>
          <a:xfrm>
            <a:off x="3173730" y="34290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会后2个月</a:t>
            </a:r>
          </a:p>
        </p:txBody>
      </p:sp>
      <p:sp>
        <p:nvSpPr>
          <p:cNvPr id="24" name="">
            <a:extLst>
              <a:ext uri="{FF2B5EF4-FFF2-40B4-BE49-F238E27FC236}">
                <ns2:creationId id="{7188B708-F37F-4AF0-8EE0-F9854F89FB8F}"/>
              </a:ext>
            </a:extLst>
          </p:cNvPr>
          <p:cNvSpPr>
            <a:spLocks noGrp="1"/>
          </p:cNvSpPr>
          <p:nvPr/>
        </p:nvSpPr>
        <p:spPr>
          <a:xfrm>
            <a:off x="3002280" y="394335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C1F2DA85-4CA3-4623-B30A-6357D498F0D1}"/>
              </a:ext>
            </a:extLst>
          </p:cNvPr>
          <p:cNvSpPr>
            <a:spLocks noGrp="1"/>
          </p:cNvSpPr>
          <p:nvPr/>
        </p:nvSpPr>
        <p:spPr>
          <a:xfrm>
            <a:off x="3173730" y="38290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识别潜在分享人，推荐薪火计划</a:t>
            </a:r>
          </a:p>
        </p:txBody>
      </p:sp>
      <p:sp>
        <p:nvSpPr>
          <p:cNvPr id="26" name="">
            <a:extLst>
              <a:ext uri="{FF2B5EF4-FFF2-40B4-BE49-F238E27FC236}">
                <ns2:creationId id="{7045A8EA-86F1-48C5-881B-48D418183D34}"/>
              </a:ext>
            </a:extLst>
          </p:cNvPr>
          <p:cNvSpPr>
            <a:spLocks noGrp="1"/>
          </p:cNvSpPr>
          <p:nvPr/>
        </p:nvSpPr>
        <p:spPr>
          <a:xfrm>
            <a:off x="3002280" y="43434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7AFB70EA-9C9D-4612-B461-E2AD7E56A53B}"/>
              </a:ext>
            </a:extLst>
          </p:cNvPr>
          <p:cNvSpPr>
            <a:spLocks noGrp="1"/>
          </p:cNvSpPr>
          <p:nvPr/>
        </p:nvSpPr>
        <p:spPr>
          <a:xfrm>
            <a:off x="3173730" y="42291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启动场景渗透主题</a:t>
            </a:r>
          </a:p>
        </p:txBody>
      </p:sp>
      <p:sp>
        <p:nvSpPr>
          <p:cNvPr id="28" name="">
            <a:extLst>
              <a:ext uri="{FF2B5EF4-FFF2-40B4-BE49-F238E27FC236}">
                <ns2:creationId id="{C8B4349C-2C1C-4C4A-8FF7-0EC89FD4F707}"/>
              </a:ext>
            </a:extLst>
          </p:cNvPr>
          <p:cNvSpPr>
            <a:spLocks noGrp="1"/>
          </p:cNvSpPr>
          <p:nvPr/>
        </p:nvSpPr>
        <p:spPr>
          <a:xfrm>
            <a:off x="3002280" y="474345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D3A1E0C7-6E3B-460E-B7B5-384C0134EA3F}"/>
              </a:ext>
            </a:extLst>
          </p:cNvPr>
          <p:cNvSpPr>
            <a:spLocks noGrp="1"/>
          </p:cNvSpPr>
          <p:nvPr/>
        </p:nvSpPr>
        <p:spPr>
          <a:xfrm>
            <a:off x="3173730" y="46291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召开AI应用交流会</a:t>
            </a:r>
          </a:p>
        </p:txBody>
      </p:sp>
      <p:sp>
        <p:nvSpPr>
          <p:cNvPr id="30" name="phase-2">
            <a:extLst>
              <a:ext uri="{FF2B5EF4-FFF2-40B4-BE49-F238E27FC236}">
                <ns2:creationId id="{299626CC-0BF8-40D6-9673-DBF2A7CC5478}"/>
              </a:ext>
            </a:extLst>
          </p:cNvPr>
          <p:cNvSpPr>
            <a:spLocks noGrp="1"/>
          </p:cNvSpPr>
          <p:nvPr/>
        </p:nvSpPr>
        <p:spPr>
          <a:xfrm>
            <a:off x="5052060" y="2286000"/>
            <a:ext cx="2087880" cy="312420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64ECA608-42FA-415C-9D14-784E9F7C9373}"/>
              </a:ext>
            </a:extLst>
          </p:cNvPr>
          <p:cNvSpPr>
            <a:spLocks noGrp="1"/>
          </p:cNvSpPr>
          <p:nvPr/>
        </p:nvSpPr>
        <p:spPr>
          <a:xfrm>
            <a:off x="5052060" y="2286000"/>
            <a:ext cx="208788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73CDE242-3044-434D-BD75-FB3F5D2D7CDB}"/>
              </a:ext>
            </a:extLst>
          </p:cNvPr>
          <p:cNvSpPr>
            <a:spLocks noGrp="1"/>
          </p:cNvSpPr>
          <p:nvPr/>
        </p:nvSpPr>
        <p:spPr>
          <a:xfrm>
            <a:off x="5223510" y="2571750"/>
            <a:ext cx="174498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年底</a:t>
            </a:r>
          </a:p>
        </p:txBody>
      </p:sp>
      <p:sp>
        <p:nvSpPr>
          <p:cNvPr id="33" name="">
            <a:extLst>
              <a:ext uri="{FF2B5EF4-FFF2-40B4-BE49-F238E27FC236}">
                <ns2:creationId id="{4FAA9544-E700-4627-82A7-62A191AE38ED}"/>
              </a:ext>
            </a:extLst>
          </p:cNvPr>
          <p:cNvSpPr>
            <a:spLocks noGrp="1"/>
          </p:cNvSpPr>
          <p:nvPr/>
        </p:nvSpPr>
        <p:spPr>
          <a:xfrm>
            <a:off x="5223510" y="2952750"/>
            <a:ext cx="174498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优秀会员和分享人表彰</a:t>
            </a:r>
          </a:p>
        </p:txBody>
      </p:sp>
      <p:sp>
        <p:nvSpPr>
          <p:cNvPr id="34" name="">
            <a:extLst>
              <a:ext uri="{FF2B5EF4-FFF2-40B4-BE49-F238E27FC236}">
                <ns2:creationId id="{EAD24E9C-56EF-4E06-A5CD-D897D257294D}"/>
              </a:ext>
            </a:extLst>
          </p:cNvPr>
          <p:cNvSpPr>
            <a:spLocks noGrp="1"/>
          </p:cNvSpPr>
          <p:nvPr/>
        </p:nvSpPr>
        <p:spPr>
          <a:xfrm>
            <a:off x="5242560" y="35433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EE689754-099F-4E6E-9D3E-1E534F5C5FAF}"/>
              </a:ext>
            </a:extLst>
          </p:cNvPr>
          <p:cNvSpPr>
            <a:spLocks noGrp="1"/>
          </p:cNvSpPr>
          <p:nvPr/>
        </p:nvSpPr>
        <p:spPr>
          <a:xfrm>
            <a:off x="5414010" y="34290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年度知识库发布</a:t>
            </a:r>
          </a:p>
        </p:txBody>
      </p:sp>
      <p:sp>
        <p:nvSpPr>
          <p:cNvPr id="36" name="">
            <a:extLst>
              <a:ext uri="{FF2B5EF4-FFF2-40B4-BE49-F238E27FC236}">
                <ns2:creationId id="{683948FE-DF50-4F64-9F06-8351B8855AA5}"/>
              </a:ext>
            </a:extLst>
          </p:cNvPr>
          <p:cNvSpPr>
            <a:spLocks noGrp="1"/>
          </p:cNvSpPr>
          <p:nvPr/>
        </p:nvSpPr>
        <p:spPr>
          <a:xfrm>
            <a:off x="5242560" y="394335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A2577989-0362-41FF-B81B-9DC92CC7EE6F}"/>
              </a:ext>
            </a:extLst>
          </p:cNvPr>
          <p:cNvSpPr>
            <a:spLocks noGrp="1"/>
          </p:cNvSpPr>
          <p:nvPr/>
        </p:nvSpPr>
        <p:spPr>
          <a:xfrm>
            <a:off x="5414010" y="38290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标杆案例复制，OA模块候选沉淀</a:t>
            </a:r>
          </a:p>
        </p:txBody>
      </p:sp>
      <p:sp>
        <p:nvSpPr>
          <p:cNvPr id="38" name="">
            <a:extLst>
              <a:ext uri="{FF2B5EF4-FFF2-40B4-BE49-F238E27FC236}">
                <ns2:creationId id="{DF512F40-C482-4342-8480-EC569F92FE3A}"/>
              </a:ext>
            </a:extLst>
          </p:cNvPr>
          <p:cNvSpPr>
            <a:spLocks noGrp="1"/>
          </p:cNvSpPr>
          <p:nvPr/>
        </p:nvSpPr>
        <p:spPr>
          <a:xfrm>
            <a:off x="5242560" y="43434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95BE8695-92FE-47F1-9593-8708A1874EFA}"/>
              </a:ext>
            </a:extLst>
          </p:cNvPr>
          <p:cNvSpPr>
            <a:spLocks noGrp="1"/>
          </p:cNvSpPr>
          <p:nvPr/>
        </p:nvSpPr>
        <p:spPr>
          <a:xfrm>
            <a:off x="5414010" y="42291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0" name="">
            <a:extLst>
              <a:ext uri="{FF2B5EF4-FFF2-40B4-BE49-F238E27FC236}">
                <ns2:creationId id="{2F4F45A8-3F7D-4128-A97B-676B3A2B3B91}"/>
              </a:ext>
            </a:extLst>
          </p:cNvPr>
          <p:cNvSpPr>
            <a:spLocks noGrp="1"/>
          </p:cNvSpPr>
          <p:nvPr/>
        </p:nvSpPr>
        <p:spPr>
          <a:xfrm>
            <a:off x="5242560" y="474345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>
              <a:ext uri="{FF2B5EF4-FFF2-40B4-BE49-F238E27FC236}">
                <ns2:creationId id="{C98E1856-3FF8-4498-9784-4217F3EBF802}"/>
              </a:ext>
            </a:extLst>
          </p:cNvPr>
          <p:cNvSpPr>
            <a:spLocks noGrp="1"/>
          </p:cNvSpPr>
          <p:nvPr/>
        </p:nvSpPr>
        <p:spPr>
          <a:xfrm>
            <a:off x="5414010" y="46291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2" name="phase-3">
            <a:extLst>
              <a:ext uri="{FF2B5EF4-FFF2-40B4-BE49-F238E27FC236}">
                <ns2:creationId id="{4130D151-F1DF-4FCA-906A-B4957507C930}"/>
              </a:ext>
            </a:extLst>
          </p:cNvPr>
          <p:cNvSpPr>
            <a:spLocks noGrp="1"/>
          </p:cNvSpPr>
          <p:nvPr/>
        </p:nvSpPr>
        <p:spPr>
          <a:xfrm>
            <a:off x="7292340" y="2286000"/>
            <a:ext cx="2087880" cy="312420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5071A20F-5409-4398-BBBC-B84F216EEF6F}"/>
              </a:ext>
            </a:extLst>
          </p:cNvPr>
          <p:cNvSpPr>
            <a:spLocks noGrp="1"/>
          </p:cNvSpPr>
          <p:nvPr/>
        </p:nvSpPr>
        <p:spPr>
          <a:xfrm>
            <a:off x="7292340" y="2286000"/>
            <a:ext cx="208788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F4CEC5E5-F5C8-46A9-AADD-ADC9ECF623A5}"/>
              </a:ext>
            </a:extLst>
          </p:cNvPr>
          <p:cNvSpPr>
            <a:spLocks noGrp="1"/>
          </p:cNvSpPr>
          <p:nvPr/>
        </p:nvSpPr>
        <p:spPr>
          <a:xfrm>
            <a:off x="7463790" y="2571750"/>
            <a:ext cx="174498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5" name="">
            <a:extLst>
              <a:ext uri="{FF2B5EF4-FFF2-40B4-BE49-F238E27FC236}">
                <ns2:creationId id="{AF8B8ADD-F6D3-4BA7-A6D1-DBFCEE16FB78}"/>
              </a:ext>
            </a:extLst>
          </p:cNvPr>
          <p:cNvSpPr>
            <a:spLocks noGrp="1"/>
          </p:cNvSpPr>
          <p:nvPr/>
        </p:nvSpPr>
        <p:spPr>
          <a:xfrm>
            <a:off x="7463790" y="2952750"/>
            <a:ext cx="174498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">
            <a:extLst>
              <a:ext uri="{FF2B5EF4-FFF2-40B4-BE49-F238E27FC236}">
                <ns2:creationId id="{7898FD1C-0907-4EE4-9315-66E7C5BEDB8E}"/>
              </a:ext>
            </a:extLst>
          </p:cNvPr>
          <p:cNvSpPr>
            <a:spLocks noGrp="1"/>
          </p:cNvSpPr>
          <p:nvPr/>
        </p:nvSpPr>
        <p:spPr>
          <a:xfrm>
            <a:off x="7482840" y="35433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>
              <a:ext uri="{FF2B5EF4-FFF2-40B4-BE49-F238E27FC236}">
                <ns2:creationId id="{51229B67-0A2E-4371-8DF1-6219DC61E38A}"/>
              </a:ext>
            </a:extLst>
          </p:cNvPr>
          <p:cNvSpPr>
            <a:spLocks noGrp="1"/>
          </p:cNvSpPr>
          <p:nvPr/>
        </p:nvSpPr>
        <p:spPr>
          <a:xfrm>
            <a:off x="7654290" y="34290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">
            <a:extLst>
              <a:ext uri="{FF2B5EF4-FFF2-40B4-BE49-F238E27FC236}">
                <ns2:creationId id="{5B1BB885-095F-4CA6-B70A-423D0E8C6E98}"/>
              </a:ext>
            </a:extLst>
          </p:cNvPr>
          <p:cNvSpPr>
            <a:spLocks noGrp="1"/>
          </p:cNvSpPr>
          <p:nvPr/>
        </p:nvSpPr>
        <p:spPr>
          <a:xfrm>
            <a:off x="7482840" y="394335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>
              <a:ext uri="{FF2B5EF4-FFF2-40B4-BE49-F238E27FC236}">
                <ns2:creationId id="{30D4D768-8CDF-49CD-AFCD-A696A7F00466}"/>
              </a:ext>
            </a:extLst>
          </p:cNvPr>
          <p:cNvSpPr>
            <a:spLocks noGrp="1"/>
          </p:cNvSpPr>
          <p:nvPr/>
        </p:nvSpPr>
        <p:spPr>
          <a:xfrm>
            <a:off x="7654290" y="38290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">
            <a:extLst>
              <a:ext uri="{FF2B5EF4-FFF2-40B4-BE49-F238E27FC236}">
                <ns2:creationId id="{1B1176ED-15C6-46F7-BC79-04B383E91693}"/>
              </a:ext>
            </a:extLst>
          </p:cNvPr>
          <p:cNvSpPr>
            <a:spLocks noGrp="1"/>
          </p:cNvSpPr>
          <p:nvPr/>
        </p:nvSpPr>
        <p:spPr>
          <a:xfrm>
            <a:off x="7482840" y="43434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>
              <a:ext uri="{FF2B5EF4-FFF2-40B4-BE49-F238E27FC236}">
                <ns2:creationId id="{9CC5AEE1-373D-4079-8DD6-E8D4A4255C6A}"/>
              </a:ext>
            </a:extLst>
          </p:cNvPr>
          <p:cNvSpPr>
            <a:spLocks noGrp="1"/>
          </p:cNvSpPr>
          <p:nvPr/>
        </p:nvSpPr>
        <p:spPr>
          <a:xfrm>
            <a:off x="7654290" y="42291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2" name="">
            <a:extLst>
              <a:ext uri="{FF2B5EF4-FFF2-40B4-BE49-F238E27FC236}">
                <ns2:creationId id="{24215C50-E503-4634-AA83-15A25648E96C}"/>
              </a:ext>
            </a:extLst>
          </p:cNvPr>
          <p:cNvSpPr>
            <a:spLocks noGrp="1"/>
          </p:cNvSpPr>
          <p:nvPr/>
        </p:nvSpPr>
        <p:spPr>
          <a:xfrm>
            <a:off x="7482840" y="474345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>
              <a:ext uri="{FF2B5EF4-FFF2-40B4-BE49-F238E27FC236}">
                <ns2:creationId id="{929573ED-D3F1-419C-BA84-DF97E81BA198}"/>
              </a:ext>
            </a:extLst>
          </p:cNvPr>
          <p:cNvSpPr>
            <a:spLocks noGrp="1"/>
          </p:cNvSpPr>
          <p:nvPr/>
        </p:nvSpPr>
        <p:spPr>
          <a:xfrm>
            <a:off x="7654290" y="46291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4" name="phase-4">
            <a:extLst>
              <a:ext uri="{FF2B5EF4-FFF2-40B4-BE49-F238E27FC236}">
                <ns2:creationId id="{56C41B22-287E-4D46-9C7A-6905690EBA66}"/>
              </a:ext>
            </a:extLst>
          </p:cNvPr>
          <p:cNvSpPr>
            <a:spLocks noGrp="1"/>
          </p:cNvSpPr>
          <p:nvPr/>
        </p:nvSpPr>
        <p:spPr>
          <a:xfrm>
            <a:off x="9532620" y="2286000"/>
            <a:ext cx="2087880" cy="312420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55" name="">
            <a:extLst>
              <a:ext uri="{FF2B5EF4-FFF2-40B4-BE49-F238E27FC236}">
                <ns2:creationId id="{88D2D22A-3E9F-44F4-996E-06426FD8C5DA}"/>
              </a:ext>
            </a:extLst>
          </p:cNvPr>
          <p:cNvSpPr>
            <a:spLocks noGrp="1"/>
          </p:cNvSpPr>
          <p:nvPr/>
        </p:nvSpPr>
        <p:spPr>
          <a:xfrm>
            <a:off x="9532620" y="2286000"/>
            <a:ext cx="208788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>
              <a:ext uri="{FF2B5EF4-FFF2-40B4-BE49-F238E27FC236}">
                <ns2:creationId id="{976380DD-1268-4884-BDE3-A8071DA01766}"/>
              </a:ext>
            </a:extLst>
          </p:cNvPr>
          <p:cNvSpPr>
            <a:spLocks noGrp="1"/>
          </p:cNvSpPr>
          <p:nvPr/>
        </p:nvSpPr>
        <p:spPr>
          <a:xfrm>
            <a:off x="9704070" y="2571750"/>
            <a:ext cx="174498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">
            <a:extLst>
              <a:ext uri="{FF2B5EF4-FFF2-40B4-BE49-F238E27FC236}">
                <ns2:creationId id="{64407ACA-4B3C-4174-BD31-76A4611C5FE8}"/>
              </a:ext>
            </a:extLst>
          </p:cNvPr>
          <p:cNvSpPr>
            <a:spLocks noGrp="1"/>
          </p:cNvSpPr>
          <p:nvPr/>
        </p:nvSpPr>
        <p:spPr>
          <a:xfrm>
            <a:off x="9704070" y="2952750"/>
            <a:ext cx="174498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">
            <a:extLst>
              <a:ext uri="{FF2B5EF4-FFF2-40B4-BE49-F238E27FC236}">
                <ns2:creationId id="{DC2720E1-458B-474D-8975-EABC009B98BB}"/>
              </a:ext>
            </a:extLst>
          </p:cNvPr>
          <p:cNvSpPr>
            <a:spLocks noGrp="1"/>
          </p:cNvSpPr>
          <p:nvPr/>
        </p:nvSpPr>
        <p:spPr>
          <a:xfrm>
            <a:off x="9723120" y="35433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>
              <a:ext uri="{FF2B5EF4-FFF2-40B4-BE49-F238E27FC236}">
                <ns2:creationId id="{F388CD44-FFD3-4C57-9B7A-1F6C9D2717E8}"/>
              </a:ext>
            </a:extLst>
          </p:cNvPr>
          <p:cNvSpPr>
            <a:spLocks noGrp="1"/>
          </p:cNvSpPr>
          <p:nvPr/>
        </p:nvSpPr>
        <p:spPr>
          <a:xfrm>
            <a:off x="9894570" y="34290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0" name="">
            <a:extLst>
              <a:ext uri="{FF2B5EF4-FFF2-40B4-BE49-F238E27FC236}">
                <ns2:creationId id="{E8A4027C-D9E9-4A34-BF30-55715EF3EE86}"/>
              </a:ext>
            </a:extLst>
          </p:cNvPr>
          <p:cNvSpPr>
            <a:spLocks noGrp="1"/>
          </p:cNvSpPr>
          <p:nvPr/>
        </p:nvSpPr>
        <p:spPr>
          <a:xfrm>
            <a:off x="9723120" y="394335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>
              <a:ext uri="{FF2B5EF4-FFF2-40B4-BE49-F238E27FC236}">
                <ns2:creationId id="{9063577D-6D4A-471F-A586-6032D5900DCC}"/>
              </a:ext>
            </a:extLst>
          </p:cNvPr>
          <p:cNvSpPr>
            <a:spLocks noGrp="1"/>
          </p:cNvSpPr>
          <p:nvPr/>
        </p:nvSpPr>
        <p:spPr>
          <a:xfrm>
            <a:off x="9894570" y="38290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2" name="">
            <a:extLst>
              <a:ext uri="{FF2B5EF4-FFF2-40B4-BE49-F238E27FC236}">
                <ns2:creationId id="{E5408866-B8C8-436F-81DE-328E96F6F4F2}"/>
              </a:ext>
            </a:extLst>
          </p:cNvPr>
          <p:cNvSpPr>
            <a:spLocks noGrp="1"/>
          </p:cNvSpPr>
          <p:nvPr/>
        </p:nvSpPr>
        <p:spPr>
          <a:xfrm>
            <a:off x="9723120" y="43434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>
              <a:ext uri="{FF2B5EF4-FFF2-40B4-BE49-F238E27FC236}">
                <ns2:creationId id="{C957132D-0FF2-454F-BDCA-04B29F725F62}"/>
              </a:ext>
            </a:extLst>
          </p:cNvPr>
          <p:cNvSpPr>
            <a:spLocks noGrp="1"/>
          </p:cNvSpPr>
          <p:nvPr/>
        </p:nvSpPr>
        <p:spPr>
          <a:xfrm>
            <a:off x="9894570" y="422910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4" name="">
            <a:extLst>
              <a:ext uri="{FF2B5EF4-FFF2-40B4-BE49-F238E27FC236}">
                <ns2:creationId id="{26E7B748-C3A5-4CE0-A343-D7257559D326}"/>
              </a:ext>
            </a:extLst>
          </p:cNvPr>
          <p:cNvSpPr>
            <a:spLocks noGrp="1"/>
          </p:cNvSpPr>
          <p:nvPr/>
        </p:nvSpPr>
        <p:spPr>
          <a:xfrm>
            <a:off x="9723120" y="474345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>
              <a:ext uri="{FF2B5EF4-FFF2-40B4-BE49-F238E27FC236}">
                <ns2:creationId id="{7827B810-EB57-4B58-9743-B267C1F09F79}"/>
              </a:ext>
            </a:extLst>
          </p:cNvPr>
          <p:cNvSpPr>
            <a:spLocks noGrp="1"/>
          </p:cNvSpPr>
          <p:nvPr/>
        </p:nvSpPr>
        <p:spPr>
          <a:xfrm>
            <a:off x="9894570" y="4629150"/>
            <a:ext cx="153543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6" name="footer-rule-6">
            <a:extLst>
              <a:ext uri="{FF2B5EF4-FFF2-40B4-BE49-F238E27FC236}">
                <ns2:creationId id="{F6726352-F51D-4E90-97C6-5FB5A366B384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footer-source-6">
            <a:extLst>
              <a:ext uri="{FF2B5EF4-FFF2-40B4-BE49-F238E27FC236}">
                <ns2:creationId id="{5106075E-3897-46E2-9DC9-7C8FD994101F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8" name="footer-page-6">
            <a:extLst>
              <a:ext uri="{FF2B5EF4-FFF2-40B4-BE49-F238E27FC236}">
                <ns2:creationId id="{CD27060A-315F-4E32-A1DD-A123FBBC6F3C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906230762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7">
            <a:extLst>
              <a:ext uri="{FF2B5EF4-FFF2-40B4-BE49-F238E27FC236}">
                <ns2:creationId id="{66630E8F-0EDF-436C-A399-9516E49EB9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>
              <a:ext uri="{FF2B5EF4-FFF2-40B4-BE49-F238E27FC236}">
                <ns2:creationId id="{0C274D70-3565-4B52-8570-86AA93D79C1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ns2:creationId id="{67048705-C3AD-4745-8EC0-9EA40A02F9ED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薪火计划</a:t>
            </a:r>
          </a:p>
        </p:txBody>
      </p:sp>
      <p:sp>
        <p:nvSpPr>
          <p:cNvPr id="4" name="title-7">
            <a:extLst>
              <a:ext uri="{FF2B5EF4-FFF2-40B4-BE49-F238E27FC236}">
                <ns2:creationId id="{66E6F76E-E0DE-46E8-8479-28665F34F60C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把“想用但不会”变成“有人讲、能上手、可复用”</a:t>
            </a:r>
          </a:p>
        </p:txBody>
      </p:sp>
      <p:sp>
        <p:nvSpPr>
          <p:cNvPr id="5" name="support-7">
            <a:extLst>
              <a:ext uri="{FF2B5EF4-FFF2-40B4-BE49-F238E27FC236}">
                <ns2:creationId id="{6E168F84-9B83-4C87-8687-85D5F43EA84F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薪火计划是协会与各单位之间的转化机制。</a:t>
            </a:r>
          </a:p>
        </p:txBody>
      </p:sp>
      <p:sp>
        <p:nvSpPr>
          <p:cNvPr id="6" name="tier-0">
            <a:extLst>
              <a:ext uri="{FF2B5EF4-FFF2-40B4-BE49-F238E27FC236}">
                <ns2:creationId id="{BCFF514C-4677-44B0-B37A-AE8AFD7B7E13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4381500" cy="6667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2C3E6BB5-0E6D-4392-8703-33AEBA9B6CC0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76200" cy="6667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29E196D-E170-4746-8814-B61308619BBF}"/>
              </a:ext>
            </a:extLst>
          </p:cNvPr>
          <p:cNvSpPr>
            <a:spLocks noGrp="1"/>
          </p:cNvSpPr>
          <p:nvPr/>
        </p:nvSpPr>
        <p:spPr>
          <a:xfrm>
            <a:off x="2628900" y="25146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9" name="">
            <a:extLst>
              <a:ext uri="{FF2B5EF4-FFF2-40B4-BE49-F238E27FC236}">
                <ns2:creationId id="{6D81604E-D4E8-4F5C-8E4B-3879EF9C24C9}"/>
              </a:ext>
            </a:extLst>
          </p:cNvPr>
          <p:cNvSpPr>
            <a:spLocks noGrp="1"/>
          </p:cNvSpPr>
          <p:nvPr/>
        </p:nvSpPr>
        <p:spPr>
          <a:xfrm>
            <a:off x="2628900" y="2762250"/>
            <a:ext cx="3886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连接协会与各单位的转化机制</a:t>
            </a:r>
          </a:p>
        </p:txBody>
      </p:sp>
      <p:sp>
        <p:nvSpPr>
          <p:cNvPr id="10" name="tier-1">
            <a:extLst>
              <a:ext uri="{FF2B5EF4-FFF2-40B4-BE49-F238E27FC236}">
                <ns2:creationId id="{3F8C511A-82EA-45B1-B3B8-E16E666C1708}"/>
              </a:ext>
            </a:extLst>
          </p:cNvPr>
          <p:cNvSpPr>
            <a:spLocks noGrp="1"/>
          </p:cNvSpPr>
          <p:nvPr/>
        </p:nvSpPr>
        <p:spPr>
          <a:xfrm>
            <a:off x="1476375" y="3257550"/>
            <a:ext cx="6191250" cy="6667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27939E67-6472-468B-97A7-686983466613}"/>
              </a:ext>
            </a:extLst>
          </p:cNvPr>
          <p:cNvSpPr>
            <a:spLocks noGrp="1"/>
          </p:cNvSpPr>
          <p:nvPr/>
        </p:nvSpPr>
        <p:spPr>
          <a:xfrm>
            <a:off x="1476375" y="3257550"/>
            <a:ext cx="76200" cy="6667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5B768CA7-AC28-4664-86AE-AB510C5CA03E}"/>
              </a:ext>
            </a:extLst>
          </p:cNvPr>
          <p:cNvSpPr>
            <a:spLocks noGrp="1"/>
          </p:cNvSpPr>
          <p:nvPr/>
        </p:nvSpPr>
        <p:spPr>
          <a:xfrm>
            <a:off x="1724025" y="33909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把零散兴趣和能力转为知识资产</a:t>
            </a:r>
          </a:p>
        </p:txBody>
      </p:sp>
      <p:sp>
        <p:nvSpPr>
          <p:cNvPr id="13" name="">
            <a:extLst>
              <a:ext uri="{FF2B5EF4-FFF2-40B4-BE49-F238E27FC236}">
                <ns2:creationId id="{E7757355-FD7C-4679-A157-D645626A3B1D}"/>
              </a:ext>
            </a:extLst>
          </p:cNvPr>
          <p:cNvSpPr>
            <a:spLocks noGrp="1"/>
          </p:cNvSpPr>
          <p:nvPr/>
        </p:nvSpPr>
        <p:spPr>
          <a:xfrm>
            <a:off x="1724025" y="3638550"/>
            <a:ext cx="5695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润滑作用</a:t>
            </a:r>
          </a:p>
        </p:txBody>
      </p:sp>
      <p:sp>
        <p:nvSpPr>
          <p:cNvPr id="14" name="tier-2">
            <a:extLst>
              <a:ext uri="{FF2B5EF4-FFF2-40B4-BE49-F238E27FC236}">
                <ns2:creationId id="{84C02DC0-635F-4BE9-BEC1-F1D9B840045B}"/>
              </a:ext>
            </a:extLst>
          </p:cNvPr>
          <p:cNvSpPr>
            <a:spLocks noGrp="1"/>
          </p:cNvSpPr>
          <p:nvPr/>
        </p:nvSpPr>
        <p:spPr>
          <a:xfrm>
            <a:off x="571500" y="4133850"/>
            <a:ext cx="8001000" cy="6667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CEF962E2-416B-4836-9D0C-1DBFB8815867}"/>
              </a:ext>
            </a:extLst>
          </p:cNvPr>
          <p:cNvSpPr>
            <a:spLocks noGrp="1"/>
          </p:cNvSpPr>
          <p:nvPr/>
        </p:nvSpPr>
        <p:spPr>
          <a:xfrm>
            <a:off x="571500" y="4133850"/>
            <a:ext cx="76200" cy="6667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AD833AE2-1A73-4566-87D7-7D81515D0BC4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降低技能门槛</a:t>
            </a:r>
          </a:p>
        </p:txBody>
      </p:sp>
      <p:sp>
        <p:nvSpPr>
          <p:cNvPr id="17" name="">
            <a:extLst>
              <a:ext uri="{FF2B5EF4-FFF2-40B4-BE49-F238E27FC236}">
                <ns2:creationId id="{B92E6BC1-4DE9-4C1E-89B8-F4685FC0FB7C}"/>
              </a:ext>
            </a:extLst>
          </p:cNvPr>
          <p:cNvSpPr>
            <a:spLocks noGrp="1"/>
          </p:cNvSpPr>
          <p:nvPr/>
        </p:nvSpPr>
        <p:spPr>
          <a:xfrm>
            <a:off x="819150" y="4514850"/>
            <a:ext cx="7505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让员工快速上手</a:t>
            </a:r>
          </a:p>
        </p:txBody>
      </p:sp>
      <p:sp>
        <p:nvSpPr>
          <p:cNvPr id="18" name="curriculum-rail">
            <a:extLst>
              <a:ext uri="{FF2B5EF4-FFF2-40B4-BE49-F238E27FC236}">
                <ns2:creationId id="{E42E08FF-B1CF-45C7-8983-4DAACF69A6AD}"/>
              </a:ext>
            </a:extLst>
          </p:cNvPr>
          <p:cNvSpPr>
            <a:spLocks noGrp="1"/>
          </p:cNvSpPr>
          <p:nvPr/>
        </p:nvSpPr>
        <p:spPr>
          <a:xfrm>
            <a:off x="9048750" y="2324100"/>
            <a:ext cx="23812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1A894295-838A-4014-9B85-F75C1D9602DE}"/>
              </a:ext>
            </a:extLst>
          </p:cNvPr>
          <p:cNvSpPr>
            <a:spLocks noGrp="1"/>
          </p:cNvSpPr>
          <p:nvPr/>
        </p:nvSpPr>
        <p:spPr>
          <a:xfrm>
            <a:off x="9277350" y="25336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燃料作用</a:t>
            </a:r>
          </a:p>
        </p:txBody>
      </p:sp>
      <p:sp>
        <p:nvSpPr>
          <p:cNvPr id="20" name="">
            <a:extLst>
              <a:ext uri="{FF2B5EF4-FFF2-40B4-BE49-F238E27FC236}">
                <ns2:creationId id="{457BFA3E-0DD6-4116-A988-3518456E4973}"/>
              </a:ext>
            </a:extLst>
          </p:cNvPr>
          <p:cNvSpPr>
            <a:spLocks noGrp="1"/>
          </p:cNvSpPr>
          <p:nvPr/>
        </p:nvSpPr>
        <p:spPr>
          <a:xfrm>
            <a:off x="9296400" y="3009900"/>
            <a:ext cx="7620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55F0242D-0667-4FD4-B2D7-342157DC58F4}"/>
              </a:ext>
            </a:extLst>
          </p:cNvPr>
          <p:cNvSpPr>
            <a:spLocks noGrp="1"/>
          </p:cNvSpPr>
          <p:nvPr/>
        </p:nvSpPr>
        <p:spPr>
          <a:xfrm>
            <a:off x="9467850" y="28956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分享者授课补助</a:t>
            </a:r>
          </a:p>
        </p:txBody>
      </p:sp>
      <p:sp>
        <p:nvSpPr>
          <p:cNvPr id="22" name="">
            <a:extLst>
              <a:ext uri="{FF2B5EF4-FFF2-40B4-BE49-F238E27FC236}">
                <ns2:creationId id="{7397984A-C09A-4792-A4DB-501597A2878F}"/>
              </a:ext>
            </a:extLst>
          </p:cNvPr>
          <p:cNvSpPr>
            <a:spLocks noGrp="1"/>
          </p:cNvSpPr>
          <p:nvPr/>
        </p:nvSpPr>
        <p:spPr>
          <a:xfrm>
            <a:off x="9296400" y="3371850"/>
            <a:ext cx="7620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F15B0F7A-2E22-4955-9280-E03381B39EA3}"/>
              </a:ext>
            </a:extLst>
          </p:cNvPr>
          <p:cNvSpPr>
            <a:spLocks noGrp="1"/>
          </p:cNvSpPr>
          <p:nvPr/>
        </p:nvSpPr>
        <p:spPr>
          <a:xfrm>
            <a:off x="9467850" y="32575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标准按公司制度执行</a:t>
            </a:r>
          </a:p>
        </p:txBody>
      </p:sp>
      <p:sp>
        <p:nvSpPr>
          <p:cNvPr id="24" name="">
            <a:extLst>
              <a:ext uri="{FF2B5EF4-FFF2-40B4-BE49-F238E27FC236}">
                <ns2:creationId id="{83DB7EF2-2A32-4582-A8C3-D5A1572A5274}"/>
              </a:ext>
            </a:extLst>
          </p:cNvPr>
          <p:cNvSpPr>
            <a:spLocks noGrp="1"/>
          </p:cNvSpPr>
          <p:nvPr/>
        </p:nvSpPr>
        <p:spPr>
          <a:xfrm>
            <a:off x="9296400" y="3733800"/>
            <a:ext cx="7620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61A0EF15-24A0-4FE9-8F0F-332276D6E066}"/>
              </a:ext>
            </a:extLst>
          </p:cNvPr>
          <p:cNvSpPr>
            <a:spLocks noGrp="1"/>
          </p:cNvSpPr>
          <p:nvPr/>
        </p:nvSpPr>
        <p:spPr>
          <a:xfrm>
            <a:off x="9467850" y="36195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形式</a:t>
            </a:r>
          </a:p>
        </p:txBody>
      </p:sp>
      <p:sp>
        <p:nvSpPr>
          <p:cNvPr id="26" name="">
            <a:extLst>
              <a:ext uri="{FF2B5EF4-FFF2-40B4-BE49-F238E27FC236}">
                <ns2:creationId id="{92F9437B-B1BF-45FA-B7A9-10DCF3AB73DC}"/>
              </a:ext>
            </a:extLst>
          </p:cNvPr>
          <p:cNvSpPr>
            <a:spLocks noGrp="1"/>
          </p:cNvSpPr>
          <p:nvPr/>
        </p:nvSpPr>
        <p:spPr>
          <a:xfrm>
            <a:off x="9296400" y="4095750"/>
            <a:ext cx="7620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1B754D69-8B11-4B6C-B23F-20D1D24F4836}"/>
              </a:ext>
            </a:extLst>
          </p:cNvPr>
          <p:cNvSpPr>
            <a:spLocks noGrp="1"/>
          </p:cNvSpPr>
          <p:nvPr/>
        </p:nvSpPr>
        <p:spPr>
          <a:xfrm>
            <a:off x="9467850" y="39814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每月2-3场内部分享</a:t>
            </a:r>
          </a:p>
        </p:txBody>
      </p:sp>
      <p:sp>
        <p:nvSpPr>
          <p:cNvPr id="28" name="">
            <a:extLst>
              <a:ext uri="{FF2B5EF4-FFF2-40B4-BE49-F238E27FC236}">
                <ns2:creationId id="{028575B6-8F8B-478F-8978-494F080EA3C9}"/>
              </a:ext>
            </a:extLst>
          </p:cNvPr>
          <p:cNvSpPr>
            <a:spLocks noGrp="1"/>
          </p:cNvSpPr>
          <p:nvPr/>
        </p:nvSpPr>
        <p:spPr>
          <a:xfrm>
            <a:off x="9296400" y="4457700"/>
            <a:ext cx="76200" cy="762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CFFE0497-E5F5-4933-9218-21827D65977D}"/>
              </a:ext>
            </a:extLst>
          </p:cNvPr>
          <p:cNvSpPr>
            <a:spLocks noGrp="1"/>
          </p:cNvSpPr>
          <p:nvPr/>
        </p:nvSpPr>
        <p:spPr>
          <a:xfrm>
            <a:off x="9467850" y="43434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线下带电脑实操，全程录屏归档</a:t>
            </a:r>
          </a:p>
        </p:txBody>
      </p:sp>
      <p:sp>
        <p:nvSpPr>
          <p:cNvPr id="30" name="footer-rule-7">
            <a:extLst>
              <a:ext uri="{FF2B5EF4-FFF2-40B4-BE49-F238E27FC236}">
                <ns2:creationId id="{2D7EABCF-18AC-4ACB-ADB3-674BFEC1864C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ooter-source-7">
            <a:extLst>
              <a:ext uri="{FF2B5EF4-FFF2-40B4-BE49-F238E27FC236}">
                <ns2:creationId id="{C3ACF065-ECC6-49AD-B3E3-7E3B9E29D602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32" name="footer-page-7">
            <a:extLst>
              <a:ext uri="{FF2B5EF4-FFF2-40B4-BE49-F238E27FC236}">
                <ns2:creationId id="{10443CF6-6DBF-486C-B5D1-CBD6E21E13B8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员工提需求→协会认领→分享人钻研→线下分享</a:t>
            </a:r>
          </a:p>
        </p:txBody>
      </p:sp>
    </p:spTree>
    <p:extLst>
      <p:ext uri="{BB962C8B-B14F-4D97-AF65-F5344CB8AC3E}">
        <ns3:creationId val="1597340611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8">
            <a:extLst>
              <a:ext uri="{FF2B5EF4-FFF2-40B4-BE49-F238E27FC236}">
                <ns2:creationId id="{FF864C0A-7473-4767-B3CB-3A383CE8FB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>
              <a:ext uri="{FF2B5EF4-FFF2-40B4-BE49-F238E27FC236}">
                <ns2:creationId id="{0109A305-4EF3-425A-9301-DAE2CE4E83F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>
              <a:ext uri="{FF2B5EF4-FFF2-40B4-BE49-F238E27FC236}">
                <ns2:creationId id="{5F86DF49-09FF-47B2-ADF5-0AAB99E9ADDA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各单位AI探索</a:t>
            </a:r>
          </a:p>
        </p:txBody>
      </p:sp>
      <p:sp>
        <p:nvSpPr>
          <p:cNvPr id="4" name="title-8">
            <a:extLst>
              <a:ext uri="{FF2B5EF4-FFF2-40B4-BE49-F238E27FC236}">
                <ns2:creationId id="{F3B10D3C-2A51-4A16-AAA0-616D91C28E74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各单位把AI用到业务里，是“三个一”行动的落地路径</a:t>
            </a:r>
          </a:p>
        </p:txBody>
      </p:sp>
      <p:sp>
        <p:nvSpPr>
          <p:cNvPr id="5" name="support-8">
            <a:extLst>
              <a:ext uri="{FF2B5EF4-FFF2-40B4-BE49-F238E27FC236}">
                <ns2:creationId id="{3B77E650-8F03-45A6-ACB2-59A37428D7F9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协会和薪火解决通用启蒙与技能传播，各单位负责业务深耕。</a:t>
            </a:r>
          </a:p>
        </p:txBody>
      </p:sp>
      <p:sp>
        <p:nvSpPr>
          <p:cNvPr id="6" name="funnel-0">
            <a:extLst>
              <a:ext uri="{FF2B5EF4-FFF2-40B4-BE49-F238E27FC236}">
                <ns2:creationId id="{9BFEB746-2274-4812-AAE1-79C7A458156B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8096250" cy="6667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A0B1F2C4-740F-4AAE-BDC1-A5457C81326B}"/>
              </a:ext>
            </a:extLst>
          </p:cNvPr>
          <p:cNvSpPr>
            <a:spLocks noGrp="1"/>
          </p:cNvSpPr>
          <p:nvPr/>
        </p:nvSpPr>
        <p:spPr>
          <a:xfrm>
            <a:off x="952500" y="2305050"/>
            <a:ext cx="666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1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23个</a:t>
            </a:r>
          </a:p>
        </p:txBody>
      </p:sp>
      <p:sp>
        <p:nvSpPr>
          <p:cNvPr id="8" name="">
            <a:extLst>
              <a:ext uri="{FF2B5EF4-FFF2-40B4-BE49-F238E27FC236}">
                <ns2:creationId id="{6A8AEAF3-BAC4-44F1-AC8C-5C28F4EAF7D5}"/>
              </a:ext>
            </a:extLst>
          </p:cNvPr>
          <p:cNvSpPr>
            <a:spLocks noGrp="1"/>
          </p:cNvSpPr>
          <p:nvPr/>
        </p:nvSpPr>
        <p:spPr>
          <a:xfrm>
            <a:off x="1714500" y="23050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正式业务单位</a:t>
            </a:r>
          </a:p>
        </p:txBody>
      </p:sp>
      <p:sp>
        <p:nvSpPr>
          <p:cNvPr id="9" name="">
            <a:extLst>
              <a:ext uri="{FF2B5EF4-FFF2-40B4-BE49-F238E27FC236}">
                <ns2:creationId id="{DC4969ED-6E28-463F-90B0-A7314B9D4843}"/>
              </a:ext>
            </a:extLst>
          </p:cNvPr>
          <p:cNvSpPr>
            <a:spLocks noGrp="1"/>
          </p:cNvSpPr>
          <p:nvPr/>
        </p:nvSpPr>
        <p:spPr>
          <a:xfrm>
            <a:off x="1714500" y="253365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全部纳入探索网络</a:t>
            </a:r>
          </a:p>
        </p:txBody>
      </p:sp>
      <p:sp>
        <p:nvSpPr>
          <p:cNvPr id="10" name="funnel-1">
            <a:extLst>
              <a:ext uri="{FF2B5EF4-FFF2-40B4-BE49-F238E27FC236}">
                <ns2:creationId id="{967F6B4C-0302-4A9A-A3FF-AE22B0FF48EC}"/>
              </a:ext>
            </a:extLst>
          </p:cNvPr>
          <p:cNvSpPr>
            <a:spLocks noGrp="1"/>
          </p:cNvSpPr>
          <p:nvPr/>
        </p:nvSpPr>
        <p:spPr>
          <a:xfrm>
            <a:off x="1714500" y="3009900"/>
            <a:ext cx="6191250" cy="6667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AB610C77-7505-4DD9-888C-D7648953F8D1}"/>
              </a:ext>
            </a:extLst>
          </p:cNvPr>
          <p:cNvSpPr>
            <a:spLocks noGrp="1"/>
          </p:cNvSpPr>
          <p:nvPr/>
        </p:nvSpPr>
        <p:spPr>
          <a:xfrm>
            <a:off x="1905000" y="3105150"/>
            <a:ext cx="666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1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2-3个</a:t>
            </a:r>
          </a:p>
        </p:txBody>
      </p:sp>
      <p:sp>
        <p:nvSpPr>
          <p:cNvPr id="12" name="">
            <a:extLst>
              <a:ext uri="{FF2B5EF4-FFF2-40B4-BE49-F238E27FC236}">
                <ns2:creationId id="{A32CCB8D-039C-4E67-83FB-ED94BCB25ACB}"/>
              </a:ext>
            </a:extLst>
          </p:cNvPr>
          <p:cNvSpPr>
            <a:spLocks noGrp="1"/>
          </p:cNvSpPr>
          <p:nvPr/>
        </p:nvSpPr>
        <p:spPr>
          <a:xfrm>
            <a:off x="2667000" y="3105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每单位探索方向</a:t>
            </a:r>
          </a:p>
        </p:txBody>
      </p:sp>
      <p:sp>
        <p:nvSpPr>
          <p:cNvPr id="13" name="">
            <a:extLst>
              <a:ext uri="{FF2B5EF4-FFF2-40B4-BE49-F238E27FC236}">
                <ns2:creationId id="{326E7E3D-75AC-4BDE-B929-61F9A585C85A}"/>
              </a:ext>
            </a:extLst>
          </p:cNvPr>
          <p:cNvSpPr>
            <a:spLocks noGrp="1"/>
          </p:cNvSpPr>
          <p:nvPr/>
        </p:nvSpPr>
        <p:spPr>
          <a:xfrm>
            <a:off x="2667000" y="3333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会后2周先一句话描述</a:t>
            </a:r>
          </a:p>
        </p:txBody>
      </p:sp>
      <p:sp>
        <p:nvSpPr>
          <p:cNvPr id="14" name="funnel-2">
            <a:extLst>
              <a:ext uri="{FF2B5EF4-FFF2-40B4-BE49-F238E27FC236}">
                <ns2:creationId id="{29F9D738-0E5A-4C7F-9D22-114258358DF2}"/>
              </a:ext>
            </a:extLst>
          </p:cNvPr>
          <p:cNvSpPr>
            <a:spLocks noGrp="1"/>
          </p:cNvSpPr>
          <p:nvPr/>
        </p:nvSpPr>
        <p:spPr>
          <a:xfrm>
            <a:off x="2428875" y="3810000"/>
            <a:ext cx="4762500" cy="6667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99A5698D-730F-41E6-AE4F-6A7E1E431F0E}"/>
              </a:ext>
            </a:extLst>
          </p:cNvPr>
          <p:cNvSpPr>
            <a:spLocks noGrp="1"/>
          </p:cNvSpPr>
          <p:nvPr/>
        </p:nvSpPr>
        <p:spPr>
          <a:xfrm>
            <a:off x="2619375" y="3905250"/>
            <a:ext cx="666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1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一页纸</a:t>
            </a:r>
          </a:p>
        </p:txBody>
      </p:sp>
      <p:sp>
        <p:nvSpPr>
          <p:cNvPr id="16" name="">
            <a:extLst>
              <a:ext uri="{FF2B5EF4-FFF2-40B4-BE49-F238E27FC236}">
                <ns2:creationId id="{B3197ACF-5AE9-4704-B2C8-A1450145F483}"/>
              </a:ext>
            </a:extLst>
          </p:cNvPr>
          <p:cNvSpPr>
            <a:spLocks noGrp="1"/>
          </p:cNvSpPr>
          <p:nvPr/>
        </p:nvSpPr>
        <p:spPr>
          <a:xfrm>
            <a:off x="3381375" y="39052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AI探索计划</a:t>
            </a:r>
          </a:p>
        </p:txBody>
      </p:sp>
      <p:sp>
        <p:nvSpPr>
          <p:cNvPr id="17" name="">
            <a:extLst>
              <a:ext uri="{FF2B5EF4-FFF2-40B4-BE49-F238E27FC236}">
                <ns2:creationId id="{F6F47BB0-C524-4734-830C-CDE8950BD2D0}"/>
              </a:ext>
            </a:extLst>
          </p:cNvPr>
          <p:cNvSpPr>
            <a:spLocks noGrp="1"/>
          </p:cNvSpPr>
          <p:nvPr/>
        </p:nvSpPr>
        <p:spPr>
          <a:xfrm>
            <a:off x="3381375" y="4133850"/>
            <a:ext cx="3524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会后1个月提交</a:t>
            </a:r>
          </a:p>
        </p:txBody>
      </p:sp>
      <p:sp>
        <p:nvSpPr>
          <p:cNvPr id="18" name="funnel-3">
            <a:extLst>
              <a:ext uri="{FF2B5EF4-FFF2-40B4-BE49-F238E27FC236}">
                <ns2:creationId id="{671D9374-28A6-4EB5-8CE3-4DAF28BA0EBC}"/>
              </a:ext>
            </a:extLst>
          </p:cNvPr>
          <p:cNvSpPr>
            <a:spLocks noGrp="1"/>
          </p:cNvSpPr>
          <p:nvPr/>
        </p:nvSpPr>
        <p:spPr>
          <a:xfrm>
            <a:off x="3143250" y="4610100"/>
            <a:ext cx="3333750" cy="6667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17D77FD6-ED35-473E-B740-0D63963FF4D9}"/>
              </a:ext>
            </a:extLst>
          </p:cNvPr>
          <p:cNvSpPr>
            <a:spLocks noGrp="1"/>
          </p:cNvSpPr>
          <p:nvPr/>
        </p:nvSpPr>
        <p:spPr>
          <a:xfrm>
            <a:off x="3333750" y="4705350"/>
            <a:ext cx="666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1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交流会</a:t>
            </a:r>
          </a:p>
        </p:txBody>
      </p:sp>
      <p:sp>
        <p:nvSpPr>
          <p:cNvPr id="20" name="">
            <a:extLst>
              <a:ext uri="{FF2B5EF4-FFF2-40B4-BE49-F238E27FC236}">
                <ns2:creationId id="{3E2AD235-74C4-4704-9433-4CAB1AE4D7D6}"/>
              </a:ext>
            </a:extLst>
          </p:cNvPr>
          <p:cNvSpPr>
            <a:spLocks noGrp="1"/>
          </p:cNvSpPr>
          <p:nvPr/>
        </p:nvSpPr>
        <p:spPr>
          <a:xfrm>
            <a:off x="4095750" y="47053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初步探索汇报</a:t>
            </a:r>
          </a:p>
        </p:txBody>
      </p:sp>
      <p:sp>
        <p:nvSpPr>
          <p:cNvPr id="21" name="">
            <a:extLst>
              <a:ext uri="{FF2B5EF4-FFF2-40B4-BE49-F238E27FC236}">
                <ns2:creationId id="{DF5F0042-496F-44AE-B646-3EC18403767B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会后2个月召开</a:t>
            </a:r>
          </a:p>
        </p:txBody>
      </p:sp>
      <p:sp>
        <p:nvSpPr>
          <p:cNvPr id="22" name="coverage-rail">
            <a:extLst>
              <a:ext uri="{FF2B5EF4-FFF2-40B4-BE49-F238E27FC236}">
                <ns2:creationId id="{74A2980C-0BBC-4EF5-9C4A-3F0FC49DA2FF}"/>
              </a:ext>
            </a:extLst>
          </p:cNvPr>
          <p:cNvSpPr>
            <a:spLocks noGrp="1"/>
          </p:cNvSpPr>
          <p:nvPr/>
        </p:nvSpPr>
        <p:spPr>
          <a:xfrm>
            <a:off x="9334500" y="2286000"/>
            <a:ext cx="209550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34319239-7B5F-445C-901E-E3F7935EA6DF}"/>
              </a:ext>
            </a:extLst>
          </p:cNvPr>
          <p:cNvSpPr>
            <a:spLocks noGrp="1"/>
          </p:cNvSpPr>
          <p:nvPr/>
        </p:nvSpPr>
        <p:spPr>
          <a:xfrm>
            <a:off x="9544050" y="24955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不要求成果展示</a:t>
            </a:r>
          </a:p>
        </p:txBody>
      </p:sp>
      <p:sp>
        <p:nvSpPr>
          <p:cNvPr id="24" name="">
            <a:extLst>
              <a:ext uri="{FF2B5EF4-FFF2-40B4-BE49-F238E27FC236}">
                <ns2:creationId id="{41DB3782-5CC4-4104-8B23-34E7895AA4CC}"/>
              </a:ext>
            </a:extLst>
          </p:cNvPr>
          <p:cNvSpPr>
            <a:spLocks noGrp="1"/>
          </p:cNvSpPr>
          <p:nvPr/>
        </p:nvSpPr>
        <p:spPr>
          <a:xfrm>
            <a:off x="9544050" y="2914650"/>
            <a:ext cx="1619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路线不通也可汇报</a:t>
            </a:r>
          </a:p>
          <a:p>
            <a:pPr algn="l"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5" name="">
            <a:extLst>
              <a:ext uri="{FF2B5EF4-FFF2-40B4-BE49-F238E27FC236}">
                <ns2:creationId id="{1A9BF5A6-E99B-4AA2-A8C4-19A17166C85C}"/>
              </a:ext>
            </a:extLst>
          </p:cNvPr>
          <p:cNvSpPr>
            <a:spLocks noGrp="1"/>
          </p:cNvSpPr>
          <p:nvPr/>
        </p:nvSpPr>
        <p:spPr>
          <a:xfrm>
            <a:off x="9544050" y="4362450"/>
            <a:ext cx="1619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重点是打开思路、校准方向</a:t>
            </a:r>
          </a:p>
        </p:txBody>
      </p:sp>
      <p:sp>
        <p:nvSpPr>
          <p:cNvPr id="26" name="footer-rule-8">
            <a:extLst>
              <a:ext uri="{FF2B5EF4-FFF2-40B4-BE49-F238E27FC236}">
                <ns2:creationId id="{9E2A0715-938A-451A-B05B-9886EDFA3C5D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ooter-source-8">
            <a:extLst>
              <a:ext uri="{FF2B5EF4-FFF2-40B4-BE49-F238E27FC236}">
                <ns2:creationId id="{F1E9C852-EC5B-49D8-8528-5835EBF999BF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持续推进</a:t>
            </a:r>
          </a:p>
        </p:txBody>
      </p:sp>
      <p:sp>
        <p:nvSpPr>
          <p:cNvPr id="28" name="footer-page-8">
            <a:extLst>
              <a:ext uri="{FF2B5EF4-FFF2-40B4-BE49-F238E27FC236}">
                <ns2:creationId id="{E9123F96-F2E9-40FE-82E7-E7E8FA75D60C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标杆案例涌现</a:t>
            </a:r>
          </a:p>
        </p:txBody>
      </p:sp>
    </p:spTree>
    <p:extLst>
      <p:ext uri="{BB962C8B-B14F-4D97-AF65-F5344CB8AC3E}">
        <ns3:creationId val="1823787395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9">
            <a:extLst>
              <a:ext uri="{FF2B5EF4-FFF2-40B4-BE49-F238E27FC236}">
                <ns2:creationId id="{DF8BD143-0766-4A6E-90E4-6015EFBEA2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>
              <a:ext uri="{FF2B5EF4-FFF2-40B4-BE49-F238E27FC236}">
                <ns2:creationId id="{AC7A16CC-FA85-43FB-A63B-C409FE09DF6D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>
              <a:ext uri="{FF2B5EF4-FFF2-40B4-BE49-F238E27FC236}">
                <ns2:creationId id="{B663C978-54FE-4FD5-A243-1F97F4C6573F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平台协同与OA模块</a:t>
            </a:r>
          </a:p>
        </p:txBody>
      </p:sp>
      <p:sp>
        <p:nvSpPr>
          <p:cNvPr id="4" name="title-9">
            <a:extLst>
              <a:ext uri="{FF2B5EF4-FFF2-40B4-BE49-F238E27FC236}">
                <ns2:creationId id="{BF98EE6F-F16D-4404-AD48-54A41C905266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让零散探索变成系统能力</a:t>
            </a:r>
          </a:p>
        </p:txBody>
      </p:sp>
      <p:sp>
        <p:nvSpPr>
          <p:cNvPr id="5" name="support-9">
            <a:extLst>
              <a:ext uri="{FF2B5EF4-FFF2-40B4-BE49-F238E27FC236}">
                <ns2:creationId id="{D25720F1-25C7-422D-A4BB-242FA68C67A8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平台协同支撑由公司领导、各单位和人力资源中心共同形成。</a:t>
            </a:r>
          </a:p>
        </p:txBody>
      </p:sp>
      <p:sp>
        <p:nvSpPr>
          <p:cNvPr id="6" name="pilot-group-0">
            <a:extLst>
              <a:ext uri="{FF2B5EF4-FFF2-40B4-BE49-F238E27FC236}">
                <ns2:creationId id="{4C217D7C-0C58-487F-A9F0-56955744F714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3333750" cy="29527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59109B8B-61EE-4D32-937E-7F81B521BC86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76200" cy="29527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9C13840E-9952-4E3E-B9DF-C2749AC592B3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公司领导</a:t>
            </a:r>
          </a:p>
        </p:txBody>
      </p:sp>
      <p:sp>
        <p:nvSpPr>
          <p:cNvPr id="9" name="risk-9-335-270">
            <a:extLst>
              <a:ext uri="{FF2B5EF4-FFF2-40B4-BE49-F238E27FC236}">
                <ns2:creationId id="{51EC1D37-31BB-4288-9D02-8E2212DB2619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419100" cy="209550"/>
          </a:xfrm>
          <a:prstGeom prst="rect">
            <a:avLst/>
          </a:prstGeom>
          <a:solidFill>
            <a:srgbClr val="EDF7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31802376-A005-492A-93AB-16DFF12ABEBC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defRPr sz="825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方向牵引</a:t>
            </a:r>
          </a:p>
        </p:txBody>
      </p:sp>
      <p:sp>
        <p:nvSpPr>
          <p:cNvPr id="11" name="">
            <a:extLst>
              <a:ext uri="{FF2B5EF4-FFF2-40B4-BE49-F238E27FC236}">
                <ns2:creationId id="{A0B8B5E1-A8AA-498D-8A29-38E2C8B59C9F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明确重点、协调资源、支持固化</a:t>
            </a:r>
          </a:p>
        </p:txBody>
      </p:sp>
      <p:sp>
        <p:nvSpPr>
          <p:cNvPr id="12" name="">
            <a:extLst>
              <a:ext uri="{FF2B5EF4-FFF2-40B4-BE49-F238E27FC236}">
                <ns2:creationId id="{B5ACA7D0-A3AE-433F-8F4A-BAE072A4CEF4}"/>
              </a:ext>
            </a:extLst>
          </p:cNvPr>
          <p:cNvSpPr>
            <a:spLocks noGrp="1"/>
          </p:cNvSpPr>
          <p:nvPr/>
        </p:nvSpPr>
        <p:spPr>
          <a:xfrm>
            <a:off x="1219200" y="3067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各单位</a:t>
            </a:r>
          </a:p>
        </p:txBody>
      </p:sp>
      <p:sp>
        <p:nvSpPr>
          <p:cNvPr id="13" name="">
            <a:extLst>
              <a:ext uri="{FF2B5EF4-FFF2-40B4-BE49-F238E27FC236}">
                <ns2:creationId id="{9C845403-1CDB-44AE-BDD9-E189B80CE32C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业务落地</a:t>
            </a:r>
          </a:p>
        </p:txBody>
      </p:sp>
      <p:sp>
        <p:nvSpPr>
          <p:cNvPr id="14" name="">
            <a:extLst>
              <a:ext uri="{FF2B5EF4-FFF2-40B4-BE49-F238E27FC236}">
                <ns2:creationId id="{6588FF7C-9E70-455C-BE9E-C961F8B2D73C}"/>
              </a:ext>
            </a:extLst>
          </p:cNvPr>
          <p:cNvSpPr>
            <a:spLocks noGrp="1"/>
          </p:cNvSpPr>
          <p:nvPr/>
        </p:nvSpPr>
        <p:spPr>
          <a:xfrm>
            <a:off x="1219200" y="36385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负责本领域场景探索和经验复盘</a:t>
            </a:r>
          </a:p>
        </p:txBody>
      </p:sp>
      <p:sp>
        <p:nvSpPr>
          <p:cNvPr id="15" name="">
            <a:extLst>
              <a:ext uri="{FF2B5EF4-FFF2-40B4-BE49-F238E27FC236}">
                <ns2:creationId id="{5E1A61E4-ECCD-4B89-95F9-3590A3F2AAC5}"/>
              </a:ext>
            </a:extLst>
          </p:cNvPr>
          <p:cNvSpPr>
            <a:spLocks noGrp="1"/>
          </p:cNvSpPr>
          <p:nvPr/>
        </p:nvSpPr>
        <p:spPr>
          <a:xfrm>
            <a:off x="838200" y="42862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人力资源中心</a:t>
            </a:r>
          </a:p>
        </p:txBody>
      </p:sp>
      <p:sp>
        <p:nvSpPr>
          <p:cNvPr id="16" name="">
            <a:extLst>
              <a:ext uri="{FF2B5EF4-FFF2-40B4-BE49-F238E27FC236}">
                <ns2:creationId id="{AF777102-9D31-47A2-99C6-BEC674B1C715}"/>
              </a:ext>
            </a:extLst>
          </p:cNvPr>
          <p:cNvSpPr>
            <a:spLocks noGrp="1"/>
          </p:cNvSpPr>
          <p:nvPr/>
        </p:nvSpPr>
        <p:spPr>
          <a:xfrm>
            <a:off x="1219200" y="4210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组织协调</a:t>
            </a:r>
          </a:p>
        </p:txBody>
      </p:sp>
      <p:sp>
        <p:nvSpPr>
          <p:cNvPr id="17" name="pilot-group-1">
            <a:extLst>
              <a:ext uri="{FF2B5EF4-FFF2-40B4-BE49-F238E27FC236}">
                <ns2:creationId id="{0D1FF8E9-FA74-42CB-9858-4289FDC39F66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3333750" cy="29527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5088863-8FA0-4E9E-93C6-10B07746B4C3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76200" cy="29527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8A752ED0-DC70-4993-BC79-7323CCA48630}"/>
              </a:ext>
            </a:extLst>
          </p:cNvPr>
          <p:cNvSpPr>
            <a:spLocks noGrp="1"/>
          </p:cNvSpPr>
          <p:nvPr/>
        </p:nvSpPr>
        <p:spPr>
          <a:xfrm>
            <a:off x="4533900" y="25146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协同协会赋能，牵头推动OA系统AI模块建设</a:t>
            </a:r>
          </a:p>
        </p:txBody>
      </p:sp>
      <p:sp>
        <p:nvSpPr>
          <p:cNvPr id="20" name="risk-9-725-270">
            <a:extLst>
              <a:ext uri="{FF2B5EF4-FFF2-40B4-BE49-F238E27FC236}">
                <ns2:creationId id="{86C151ED-05CC-4D8D-8797-2B89BC0AE7EB}"/>
              </a:ext>
            </a:extLst>
          </p:cNvPr>
          <p:cNvSpPr>
            <a:spLocks noGrp="1"/>
          </p:cNvSpPr>
          <p:nvPr/>
        </p:nvSpPr>
        <p:spPr>
          <a:xfrm>
            <a:off x="6905625" y="2571750"/>
            <a:ext cx="419100" cy="209550"/>
          </a:xfrm>
          <a:prstGeom prst="rect">
            <a:avLst/>
          </a:prstGeom>
          <a:solidFill>
            <a:srgbClr val="FFF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65A7A6C9-07C6-49C2-890C-A5A2BCF1D1F2}"/>
              </a:ext>
            </a:extLst>
          </p:cNvPr>
          <p:cNvSpPr>
            <a:spLocks noGrp="1"/>
          </p:cNvSpPr>
          <p:nvPr/>
        </p:nvSpPr>
        <p:spPr>
          <a:xfrm>
            <a:off x="6905625" y="25717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defRPr sz="825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OA模块意义</a:t>
            </a:r>
          </a:p>
        </p:txBody>
      </p:sp>
      <p:sp>
        <p:nvSpPr>
          <p:cNvPr id="22" name="">
            <a:extLst>
              <a:ext uri="{FF2B5EF4-FFF2-40B4-BE49-F238E27FC236}">
                <ns2:creationId id="{00FC2996-739B-465D-8492-0928B95D1E43}"/>
              </a:ext>
            </a:extLst>
          </p:cNvPr>
          <p:cNvSpPr>
            <a:spLocks noGrp="1"/>
          </p:cNvSpPr>
          <p:nvPr/>
        </p:nvSpPr>
        <p:spPr>
          <a:xfrm>
            <a:off x="4552950" y="31432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系统级嵌入</a:t>
            </a:r>
          </a:p>
        </p:txBody>
      </p:sp>
      <p:sp>
        <p:nvSpPr>
          <p:cNvPr id="23" name="">
            <a:extLst>
              <a:ext uri="{FF2B5EF4-FFF2-40B4-BE49-F238E27FC236}">
                <ns2:creationId id="{F6AD6826-9337-4681-A022-5910CE27C333}"/>
              </a:ext>
            </a:extLst>
          </p:cNvPr>
          <p:cNvSpPr>
            <a:spLocks noGrp="1"/>
          </p:cNvSpPr>
          <p:nvPr/>
        </p:nvSpPr>
        <p:spPr>
          <a:xfrm>
            <a:off x="4933950" y="3067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从个人自发应用到办公平台日常可用</a:t>
            </a:r>
          </a:p>
        </p:txBody>
      </p:sp>
      <p:sp>
        <p:nvSpPr>
          <p:cNvPr id="24" name="">
            <a:extLst>
              <a:ext uri="{FF2B5EF4-FFF2-40B4-BE49-F238E27FC236}">
                <ns2:creationId id="{70F23C37-E74D-4285-9E1D-C47731562862}"/>
              </a:ext>
            </a:extLst>
          </p:cNvPr>
          <p:cNvSpPr>
            <a:spLocks noGrp="1"/>
          </p:cNvSpPr>
          <p:nvPr/>
        </p:nvSpPr>
        <p:spPr>
          <a:xfrm>
            <a:off x="4552950" y="37147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候选标准</a:t>
            </a:r>
          </a:p>
        </p:txBody>
      </p:sp>
      <p:sp>
        <p:nvSpPr>
          <p:cNvPr id="25" name="">
            <a:extLst>
              <a:ext uri="{FF2B5EF4-FFF2-40B4-BE49-F238E27FC236}">
                <ns2:creationId id="{4DA6EB27-9226-4FBD-BEE2-E7F15261DB86}"/>
              </a:ext>
            </a:extLst>
          </p:cNvPr>
          <p:cNvSpPr>
            <a:spLocks noGrp="1"/>
          </p:cNvSpPr>
          <p:nvPr/>
        </p:nvSpPr>
        <p:spPr>
          <a:xfrm>
            <a:off x="4933950" y="36385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高频、流程稳定、权限可控、可复制、可运维</a:t>
            </a:r>
          </a:p>
        </p:txBody>
      </p:sp>
      <p:sp>
        <p:nvSpPr>
          <p:cNvPr id="26" name="">
            <a:extLst>
              <a:ext uri="{FF2B5EF4-FFF2-40B4-BE49-F238E27FC236}">
                <ns2:creationId id="{0D71C940-D610-48AA-84E3-E9F361DF4F29}"/>
              </a:ext>
            </a:extLst>
          </p:cNvPr>
          <p:cNvSpPr>
            <a:spLocks noGrp="1"/>
          </p:cNvSpPr>
          <p:nvPr/>
        </p:nvSpPr>
        <p:spPr>
          <a:xfrm>
            <a:off x="4552950" y="42862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">
            <a:extLst>
              <a:ext uri="{FF2B5EF4-FFF2-40B4-BE49-F238E27FC236}">
                <ns2:creationId id="{21D4E253-6965-407D-8B1C-DF5723C0F558}"/>
              </a:ext>
            </a:extLst>
          </p:cNvPr>
          <p:cNvSpPr>
            <a:spLocks noGrp="1"/>
          </p:cNvSpPr>
          <p:nvPr/>
        </p:nvSpPr>
        <p:spPr>
          <a:xfrm>
            <a:off x="4933950" y="4210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pilot-group-2">
            <a:extLst>
              <a:ext uri="{FF2B5EF4-FFF2-40B4-BE49-F238E27FC236}">
                <ns2:creationId id="{3B65E695-A6B6-4B37-8AD6-477C59DAF69C}"/>
              </a:ext>
            </a:extLst>
          </p:cNvPr>
          <p:cNvSpPr>
            <a:spLocks noGrp="1"/>
          </p:cNvSpPr>
          <p:nvPr/>
        </p:nvSpPr>
        <p:spPr>
          <a:xfrm>
            <a:off x="8001000" y="2266950"/>
            <a:ext cx="3333750" cy="2952750"/>
          </a:xfrm>
          <a:prstGeom prst="rect">
            <a:avLst/>
          </a:prstGeom>
          <a:solidFill>
            <a:srgbClr val="FCEEEE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8E2C949E-5FAC-440D-8FAA-3FDB203F4A0F}"/>
              </a:ext>
            </a:extLst>
          </p:cNvPr>
          <p:cNvSpPr>
            <a:spLocks noGrp="1"/>
          </p:cNvSpPr>
          <p:nvPr/>
        </p:nvSpPr>
        <p:spPr>
          <a:xfrm>
            <a:off x="8001000" y="2266950"/>
            <a:ext cx="76200" cy="295275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9F2467EC-5207-4E93-99B6-8177B82DF9FF}"/>
              </a:ext>
            </a:extLst>
          </p:cNvPr>
          <p:cNvSpPr>
            <a:spLocks noGrp="1"/>
          </p:cNvSpPr>
          <p:nvPr/>
        </p:nvSpPr>
        <p:spPr>
          <a:xfrm>
            <a:off x="8248650" y="25146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1" name="risk-9-1115-270">
            <a:extLst>
              <a:ext uri="{FF2B5EF4-FFF2-40B4-BE49-F238E27FC236}">
                <ns2:creationId id="{D18FF9B9-DE8B-4CC6-A722-903DD02E7933}"/>
              </a:ext>
            </a:extLst>
          </p:cNvPr>
          <p:cNvSpPr>
            <a:spLocks noGrp="1"/>
          </p:cNvSpPr>
          <p:nvPr/>
        </p:nvSpPr>
        <p:spPr>
          <a:xfrm>
            <a:off x="10620375" y="2571750"/>
            <a:ext cx="419100" cy="209550"/>
          </a:xfrm>
          <a:prstGeom prst="rect">
            <a:avLst/>
          </a:prstGeom>
          <a:solidFill>
            <a:srgbClr val="FC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B6DF1FA4-F12D-41CB-A76A-04F9C8CC34BA}"/>
              </a:ext>
            </a:extLst>
          </p:cNvPr>
          <p:cNvSpPr>
            <a:spLocks noGrp="1"/>
          </p:cNvSpPr>
          <p:nvPr/>
        </p:nvSpPr>
        <p:spPr>
          <a:xfrm>
            <a:off x="10620375" y="25717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defRPr sz="825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3" name="">
            <a:extLst>
              <a:ext uri="{FF2B5EF4-FFF2-40B4-BE49-F238E27FC236}">
                <ns2:creationId id="{37656780-7294-4DFE-B023-9D16C19A926F}"/>
              </a:ext>
            </a:extLst>
          </p:cNvPr>
          <p:cNvSpPr>
            <a:spLocks noGrp="1"/>
          </p:cNvSpPr>
          <p:nvPr/>
        </p:nvSpPr>
        <p:spPr>
          <a:xfrm>
            <a:off x="8267700" y="31432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4" name="">
            <a:extLst>
              <a:ext uri="{FF2B5EF4-FFF2-40B4-BE49-F238E27FC236}">
                <ns2:creationId id="{F44D70D2-98AC-4515-B400-9D9CAFB2EF1E}"/>
              </a:ext>
            </a:extLst>
          </p:cNvPr>
          <p:cNvSpPr>
            <a:spLocks noGrp="1"/>
          </p:cNvSpPr>
          <p:nvPr/>
        </p:nvSpPr>
        <p:spPr>
          <a:xfrm>
            <a:off x="8648700" y="3067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5" name="">
            <a:extLst>
              <a:ext uri="{FF2B5EF4-FFF2-40B4-BE49-F238E27FC236}">
                <ns2:creationId id="{8F535522-DDB5-480E-A4C0-3515732017C6}"/>
              </a:ext>
            </a:extLst>
          </p:cNvPr>
          <p:cNvSpPr>
            <a:spLocks noGrp="1"/>
          </p:cNvSpPr>
          <p:nvPr/>
        </p:nvSpPr>
        <p:spPr>
          <a:xfrm>
            <a:off x="8267700" y="37147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">
            <a:extLst>
              <a:ext uri="{FF2B5EF4-FFF2-40B4-BE49-F238E27FC236}">
                <ns2:creationId id="{F9B9E740-64E4-48D8-B239-E2178EAB640F}"/>
              </a:ext>
            </a:extLst>
          </p:cNvPr>
          <p:cNvSpPr>
            <a:spLocks noGrp="1"/>
          </p:cNvSpPr>
          <p:nvPr/>
        </p:nvSpPr>
        <p:spPr>
          <a:xfrm>
            <a:off x="8648700" y="36385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">
            <a:extLst>
              <a:ext uri="{FF2B5EF4-FFF2-40B4-BE49-F238E27FC236}">
                <ns2:creationId id="{B2728808-4333-4F74-A9CD-25A1B6B6E154}"/>
              </a:ext>
            </a:extLst>
          </p:cNvPr>
          <p:cNvSpPr>
            <a:spLocks noGrp="1"/>
          </p:cNvSpPr>
          <p:nvPr/>
        </p:nvSpPr>
        <p:spPr>
          <a:xfrm>
            <a:off x="8267700" y="42862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">
            <a:extLst>
              <a:ext uri="{FF2B5EF4-FFF2-40B4-BE49-F238E27FC236}">
                <ns2:creationId id="{8131106A-BDB1-4E87-B639-4E4A46146C55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9" name="quote-9-项目门槛">
            <a:extLst>
              <a:ext uri="{FF2B5EF4-FFF2-40B4-BE49-F238E27FC236}">
                <ns2:creationId id="{23340034-7ECA-4C84-B6D5-34EBB4160A50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10668000" cy="7429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91BF5B6C-03CF-4E62-A53F-03DAD69CF838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47625" cy="7429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>
              <a:ext uri="{FF2B5EF4-FFF2-40B4-BE49-F238E27FC236}">
                <ns2:creationId id="{8C902B92-703A-4C5D-9286-FE7D6FF3E6C7}"/>
              </a:ext>
            </a:extLst>
          </p:cNvPr>
          <p:cNvSpPr>
            <a:spLocks noGrp="1"/>
          </p:cNvSpPr>
          <p:nvPr/>
        </p:nvSpPr>
        <p:spPr>
          <a:xfrm>
            <a:off x="742950" y="5638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2" name="">
            <a:extLst>
              <a:ext uri="{FF2B5EF4-FFF2-40B4-BE49-F238E27FC236}">
                <ns2:creationId id="{AAD264B3-759D-40EA-B8F0-F8C2D73956C9}"/>
              </a:ext>
            </a:extLst>
          </p:cNvPr>
          <p:cNvSpPr>
            <a:spLocks noGrp="1"/>
          </p:cNvSpPr>
          <p:nvPr/>
        </p:nvSpPr>
        <p:spPr>
          <a:xfrm>
            <a:off x="742950" y="5848350"/>
            <a:ext cx="10325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3" name="footer-rule-9">
            <a:extLst>
              <a:ext uri="{FF2B5EF4-FFF2-40B4-BE49-F238E27FC236}">
                <ns2:creationId id="{5D3844F9-98B6-43C8-A194-AD86F5401476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ooter-source-9">
            <a:extLst>
              <a:ext uri="{FF2B5EF4-FFF2-40B4-BE49-F238E27FC236}">
                <ns2:creationId id="{D66908A1-A6FB-46B8-AF5C-89180D29A2A4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5" name="footer-page-9">
            <a:extLst>
              <a:ext uri="{FF2B5EF4-FFF2-40B4-BE49-F238E27FC236}">
                <ns2:creationId id="{67D5A7E5-173B-4D59-8924-2271A71D79B4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2140198295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0">
            <a:extLst>
              <a:ext uri="{FF2B5EF4-FFF2-40B4-BE49-F238E27FC236}">
                <ns2:creationId id="{B3472904-B439-45F8-BEB6-C951B9801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ns2:creationId id="{22517A65-1BB7-4A43-A776-EE9D89B9897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ns2:creationId id="{08EC686A-F679-49F2-ABFB-87106293EE8F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成果出口</a:t>
            </a:r>
          </a:p>
        </p:txBody>
      </p:sp>
      <p:sp>
        <p:nvSpPr>
          <p:cNvPr id="4" name="title-10">
            <a:extLst>
              <a:ext uri="{FF2B5EF4-FFF2-40B4-BE49-F238E27FC236}">
                <ns2:creationId id="{AAD7FFB2-60CE-4437-B9B4-65199C8CD5F1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不以一次性展示为目标，以可分享、可复制、可固化为目标</a:t>
            </a:r>
          </a:p>
        </p:txBody>
      </p:sp>
      <p:sp>
        <p:nvSpPr>
          <p:cNvPr id="5" name="support-10">
            <a:extLst>
              <a:ext uri="{FF2B5EF4-FFF2-40B4-BE49-F238E27FC236}">
                <ns2:creationId id="{0C37A6F0-24BD-4FDF-BFBA-08329CF52629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年度成果从活动材料沉淀为知识库、标杆案例和OA模块候选。</a:t>
            </a:r>
          </a:p>
        </p:txBody>
      </p:sp>
      <p:sp>
        <p:nvSpPr>
          <p:cNvPr id="6" name="">
            <a:extLst>
              <a:ext uri="{FF2B5EF4-FFF2-40B4-BE49-F238E27FC236}">
                <ns2:creationId id="{1AD91275-5706-472C-B01E-ADC88D5A8936}"/>
              </a:ext>
            </a:extLst>
          </p:cNvPr>
          <p:cNvSpPr>
            <a:spLocks noGrp="1"/>
          </p:cNvSpPr>
          <p:nvPr/>
        </p:nvSpPr>
        <p:spPr>
          <a:xfrm>
            <a:off x="762000" y="2314575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阶段成果</a:t>
            </a:r>
          </a:p>
        </p:txBody>
      </p:sp>
      <p:sp>
        <p:nvSpPr>
          <p:cNvPr id="7" name="bar-track-10-0">
            <a:extLst>
              <a:ext uri="{FF2B5EF4-FFF2-40B4-BE49-F238E27FC236}">
                <ns2:creationId id="{0B3E9542-3B31-40C9-ADC2-FB3E35F9F3B3}"/>
              </a:ext>
            </a:extLst>
          </p:cNvPr>
          <p:cNvSpPr>
            <a:spLocks noGrp="1"/>
          </p:cNvSpPr>
          <p:nvPr/>
        </p:nvSpPr>
        <p:spPr>
          <a:xfrm>
            <a:off x="2000250" y="2447925"/>
            <a:ext cx="40005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bar-10-0">
            <a:extLst>
              <a:ext uri="{FF2B5EF4-FFF2-40B4-BE49-F238E27FC236}">
                <ns2:creationId id="{CE9C1F73-7F34-4154-91F6-7FD70F576B6D}"/>
              </a:ext>
            </a:extLst>
          </p:cNvPr>
          <p:cNvSpPr>
            <a:spLocks noGrp="1"/>
          </p:cNvSpPr>
          <p:nvPr/>
        </p:nvSpPr>
        <p:spPr>
          <a:xfrm>
            <a:off x="2000250" y="2447925"/>
            <a:ext cx="4000500" cy="1143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3B9BE9A7-9F51-49C5-9C9A-46DE8DE72A32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成员清单</a:t>
            </a:r>
          </a:p>
        </p:txBody>
      </p:sp>
      <p:sp>
        <p:nvSpPr>
          <p:cNvPr id="10" name="">
            <a:extLst>
              <a:ext uri="{FF2B5EF4-FFF2-40B4-BE49-F238E27FC236}">
                <ns2:creationId id="{378E7D32-8950-477C-9C52-E76D526DE83A}"/>
              </a:ext>
            </a:extLst>
          </p:cNvPr>
          <p:cNvSpPr>
            <a:spLocks noGrp="1"/>
          </p:cNvSpPr>
          <p:nvPr/>
        </p:nvSpPr>
        <p:spPr>
          <a:xfrm>
            <a:off x="762000" y="2790825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工具使用记录</a:t>
            </a:r>
          </a:p>
        </p:txBody>
      </p:sp>
      <p:sp>
        <p:nvSpPr>
          <p:cNvPr id="11" name="bar-track-10-1">
            <a:extLst>
              <a:ext uri="{FF2B5EF4-FFF2-40B4-BE49-F238E27FC236}">
                <ns2:creationId id="{22E6FE5F-7421-4C39-A10B-0322CEFD5347}"/>
              </a:ext>
            </a:extLst>
          </p:cNvPr>
          <p:cNvSpPr>
            <a:spLocks noGrp="1"/>
          </p:cNvSpPr>
          <p:nvPr/>
        </p:nvSpPr>
        <p:spPr>
          <a:xfrm>
            <a:off x="2000250" y="2924175"/>
            <a:ext cx="40005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bar-10-1">
            <a:extLst>
              <a:ext uri="{FF2B5EF4-FFF2-40B4-BE49-F238E27FC236}">
                <ns2:creationId id="{422CA19B-6652-489E-A288-7B5971F080DF}"/>
              </a:ext>
            </a:extLst>
          </p:cNvPr>
          <p:cNvSpPr>
            <a:spLocks noGrp="1"/>
          </p:cNvSpPr>
          <p:nvPr/>
        </p:nvSpPr>
        <p:spPr>
          <a:xfrm>
            <a:off x="2000250" y="2924175"/>
            <a:ext cx="3333750" cy="1143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053C4837-6CC4-4996-9FC9-D615641C9236}"/>
              </a:ext>
            </a:extLst>
          </p:cNvPr>
          <p:cNvSpPr>
            <a:spLocks noGrp="1"/>
          </p:cNvSpPr>
          <p:nvPr/>
        </p:nvSpPr>
        <p:spPr>
          <a:xfrm>
            <a:off x="6096000" y="278130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薪火需求池</a:t>
            </a:r>
          </a:p>
        </p:txBody>
      </p:sp>
      <p:sp>
        <p:nvSpPr>
          <p:cNvPr id="14" name="">
            <a:extLst>
              <a:ext uri="{FF2B5EF4-FFF2-40B4-BE49-F238E27FC236}">
                <ns2:creationId id="{A28D673F-FABF-479C-A6D2-F129D8AD9D7B}"/>
              </a:ext>
            </a:extLst>
          </p:cNvPr>
          <p:cNvSpPr>
            <a:spLocks noGrp="1"/>
          </p:cNvSpPr>
          <p:nvPr/>
        </p:nvSpPr>
        <p:spPr>
          <a:xfrm>
            <a:off x="762000" y="3267075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录屏资料</a:t>
            </a:r>
          </a:p>
        </p:txBody>
      </p:sp>
      <p:sp>
        <p:nvSpPr>
          <p:cNvPr id="15" name="bar-track-10-2">
            <a:extLst>
              <a:ext uri="{FF2B5EF4-FFF2-40B4-BE49-F238E27FC236}">
                <ns2:creationId id="{74FADE97-9622-4D85-A3DA-8170BE65702F}"/>
              </a:ext>
            </a:extLst>
          </p:cNvPr>
          <p:cNvSpPr>
            <a:spLocks noGrp="1"/>
          </p:cNvSpPr>
          <p:nvPr/>
        </p:nvSpPr>
        <p:spPr>
          <a:xfrm>
            <a:off x="2000250" y="3400425"/>
            <a:ext cx="40005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ar-10-2">
            <a:extLst>
              <a:ext uri="{FF2B5EF4-FFF2-40B4-BE49-F238E27FC236}">
                <ns2:creationId id="{B1944010-9F21-403C-8103-A331C9CACBA3}"/>
              </a:ext>
            </a:extLst>
          </p:cNvPr>
          <p:cNvSpPr>
            <a:spLocks noGrp="1"/>
          </p:cNvSpPr>
          <p:nvPr/>
        </p:nvSpPr>
        <p:spPr>
          <a:xfrm>
            <a:off x="2000250" y="3400425"/>
            <a:ext cx="2000250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4FA22824-937E-4DA5-83EC-F2AC68E70C7B}"/>
              </a:ext>
            </a:extLst>
          </p:cNvPr>
          <p:cNvSpPr>
            <a:spLocks noGrp="1"/>
          </p:cNvSpPr>
          <p:nvPr/>
        </p:nvSpPr>
        <p:spPr>
          <a:xfrm>
            <a:off x="6096000" y="325755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单位一页纸AI探索计划</a:t>
            </a:r>
          </a:p>
        </p:txBody>
      </p:sp>
      <p:sp>
        <p:nvSpPr>
          <p:cNvPr id="18" name="">
            <a:extLst>
              <a:ext uri="{FF2B5EF4-FFF2-40B4-BE49-F238E27FC236}">
                <ns2:creationId id="{7BE130BB-C785-4849-897A-AB6A2FBEDF5E}"/>
              </a:ext>
            </a:extLst>
          </p:cNvPr>
          <p:cNvSpPr>
            <a:spLocks noGrp="1"/>
          </p:cNvSpPr>
          <p:nvPr/>
        </p:nvSpPr>
        <p:spPr>
          <a:xfrm>
            <a:off x="762000" y="3743325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交流成果</a:t>
            </a:r>
          </a:p>
        </p:txBody>
      </p:sp>
      <p:sp>
        <p:nvSpPr>
          <p:cNvPr id="19" name="bar-track-10-3">
            <a:extLst>
              <a:ext uri="{FF2B5EF4-FFF2-40B4-BE49-F238E27FC236}">
                <ns2:creationId id="{C3690525-24AC-425D-A4B9-E519365F7514}"/>
              </a:ext>
            </a:extLst>
          </p:cNvPr>
          <p:cNvSpPr>
            <a:spLocks noGrp="1"/>
          </p:cNvSpPr>
          <p:nvPr/>
        </p:nvSpPr>
        <p:spPr>
          <a:xfrm>
            <a:off x="2000250" y="3876675"/>
            <a:ext cx="40005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bar-10-3">
            <a:extLst>
              <a:ext uri="{FF2B5EF4-FFF2-40B4-BE49-F238E27FC236}">
                <ns2:creationId id="{F5DE6D95-999D-4C1B-BFAD-CB2EF6F4B94C}"/>
              </a:ext>
            </a:extLst>
          </p:cNvPr>
          <p:cNvSpPr>
            <a:spLocks noGrp="1"/>
          </p:cNvSpPr>
          <p:nvPr/>
        </p:nvSpPr>
        <p:spPr>
          <a:xfrm>
            <a:off x="2000250" y="3876675"/>
            <a:ext cx="2000250" cy="1143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0BE769C-D631-4960-92AC-506CA6343FF5}"/>
              </a:ext>
            </a:extLst>
          </p:cNvPr>
          <p:cNvSpPr>
            <a:spLocks noGrp="1"/>
          </p:cNvSpPr>
          <p:nvPr/>
        </p:nvSpPr>
        <p:spPr>
          <a:xfrm>
            <a:off x="6096000" y="373380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AI应用交流会材料</a:t>
            </a:r>
          </a:p>
        </p:txBody>
      </p:sp>
      <p:sp>
        <p:nvSpPr>
          <p:cNvPr id="22" name="">
            <a:extLst>
              <a:ext uri="{FF2B5EF4-FFF2-40B4-BE49-F238E27FC236}">
                <ns2:creationId id="{5DE444FB-6D06-457F-BC8F-332C43BF9D86}"/>
              </a:ext>
            </a:extLst>
          </p:cNvPr>
          <p:cNvSpPr>
            <a:spLocks noGrp="1"/>
          </p:cNvSpPr>
          <p:nvPr/>
        </p:nvSpPr>
        <p:spPr>
          <a:xfrm>
            <a:off x="762000" y="4219575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有效经验</a:t>
            </a:r>
          </a:p>
        </p:txBody>
      </p:sp>
      <p:sp>
        <p:nvSpPr>
          <p:cNvPr id="23" name="bar-track-10-4">
            <a:extLst>
              <a:ext uri="{FF2B5EF4-FFF2-40B4-BE49-F238E27FC236}">
                <ns2:creationId id="{6FCBEA1D-819E-40AD-A010-9DC33773E52A}"/>
              </a:ext>
            </a:extLst>
          </p:cNvPr>
          <p:cNvSpPr>
            <a:spLocks noGrp="1"/>
          </p:cNvSpPr>
          <p:nvPr/>
        </p:nvSpPr>
        <p:spPr>
          <a:xfrm>
            <a:off x="2000250" y="4352925"/>
            <a:ext cx="40005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bar-10-4">
            <a:extLst>
              <a:ext uri="{FF2B5EF4-FFF2-40B4-BE49-F238E27FC236}">
                <ns2:creationId id="{85DB4A51-3301-41E0-BFA5-16F0EB0AB50B}"/>
              </a:ext>
            </a:extLst>
          </p:cNvPr>
          <p:cNvSpPr>
            <a:spLocks noGrp="1"/>
          </p:cNvSpPr>
          <p:nvPr/>
        </p:nvSpPr>
        <p:spPr>
          <a:xfrm>
            <a:off x="2000250" y="4352925"/>
            <a:ext cx="1333500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1E1B5788-6806-44C9-A7B8-FB4806AC066F}"/>
              </a:ext>
            </a:extLst>
          </p:cNvPr>
          <p:cNvSpPr>
            <a:spLocks noGrp="1"/>
          </p:cNvSpPr>
          <p:nvPr/>
        </p:nvSpPr>
        <p:spPr>
          <a:xfrm>
            <a:off x="6096000" y="421005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路线不通复盘</a:t>
            </a:r>
          </a:p>
        </p:txBody>
      </p:sp>
      <p:sp>
        <p:nvSpPr>
          <p:cNvPr id="26" name="">
            <a:extLst>
              <a:ext uri="{FF2B5EF4-FFF2-40B4-BE49-F238E27FC236}">
                <ns2:creationId id="{09C7E51B-5CBD-493A-BFEE-3BCD87407367}"/>
              </a:ext>
            </a:extLst>
          </p:cNvPr>
          <p:cNvSpPr>
            <a:spLocks noGrp="1"/>
          </p:cNvSpPr>
          <p:nvPr/>
        </p:nvSpPr>
        <p:spPr>
          <a:xfrm>
            <a:off x="762000" y="4695825"/>
            <a:ext cx="114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方向调整记录</a:t>
            </a:r>
          </a:p>
        </p:txBody>
      </p:sp>
      <p:sp>
        <p:nvSpPr>
          <p:cNvPr id="27" name="bar-track-10-5">
            <a:extLst>
              <a:ext uri="{FF2B5EF4-FFF2-40B4-BE49-F238E27FC236}">
                <ns2:creationId id="{CAA2B892-016E-4A90-9AB4-9D2AE85741F7}"/>
              </a:ext>
            </a:extLst>
          </p:cNvPr>
          <p:cNvSpPr>
            <a:spLocks noGrp="1"/>
          </p:cNvSpPr>
          <p:nvPr/>
        </p:nvSpPr>
        <p:spPr>
          <a:xfrm>
            <a:off x="2000250" y="4829175"/>
            <a:ext cx="4000500" cy="11430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bar-10-5">
            <a:extLst>
              <a:ext uri="{FF2B5EF4-FFF2-40B4-BE49-F238E27FC236}">
                <ns2:creationId id="{E36AC56E-9608-41CD-822D-A8F59A56A7C9}"/>
              </a:ext>
            </a:extLst>
          </p:cNvPr>
          <p:cNvSpPr>
            <a:spLocks noGrp="1"/>
          </p:cNvSpPr>
          <p:nvPr/>
        </p:nvSpPr>
        <p:spPr>
          <a:xfrm>
            <a:off x="2000250" y="4829175"/>
            <a:ext cx="666750" cy="1143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CDA70BB1-9F7E-493F-9066-C4639D9162D3}"/>
              </a:ext>
            </a:extLst>
          </p:cNvPr>
          <p:cNvSpPr>
            <a:spLocks noGrp="1"/>
          </p:cNvSpPr>
          <p:nvPr/>
        </p:nvSpPr>
        <p:spPr>
          <a:xfrm>
            <a:off x="6096000" y="4686300"/>
            <a:ext cx="57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年度成果</a:t>
            </a:r>
          </a:p>
        </p:txBody>
      </p:sp>
      <p:sp>
        <p:nvSpPr>
          <p:cNvPr id="30" name="competition-proof">
            <a:extLst>
              <a:ext uri="{FF2B5EF4-FFF2-40B4-BE49-F238E27FC236}">
                <ns2:creationId id="{5B9EFF03-717A-45E8-B1D4-C2097B6D98A4}"/>
              </a:ext>
            </a:extLst>
          </p:cNvPr>
          <p:cNvSpPr>
            <a:spLocks noGrp="1"/>
          </p:cNvSpPr>
          <p:nvPr/>
        </p:nvSpPr>
        <p:spPr>
          <a:xfrm>
            <a:off x="7524750" y="2209800"/>
            <a:ext cx="36195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F984AD62-B0B9-41E9-9371-004DD786FD53}"/>
              </a:ext>
            </a:extLst>
          </p:cNvPr>
          <p:cNvSpPr>
            <a:spLocks noGrp="1"/>
          </p:cNvSpPr>
          <p:nvPr/>
        </p:nvSpPr>
        <p:spPr>
          <a:xfrm>
            <a:off x="7772400" y="24574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5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优秀会员</a:t>
            </a:r>
          </a:p>
        </p:txBody>
      </p:sp>
      <p:sp>
        <p:nvSpPr>
          <p:cNvPr id="32" name="">
            <a:extLst>
              <a:ext uri="{FF2B5EF4-FFF2-40B4-BE49-F238E27FC236}">
                <ns2:creationId id="{A0E1D39F-8887-4E1D-8DD9-1A612D371B13}"/>
              </a:ext>
            </a:extLst>
          </p:cNvPr>
          <p:cNvSpPr>
            <a:spLocks noGrp="1"/>
          </p:cNvSpPr>
          <p:nvPr/>
        </p:nvSpPr>
        <p:spPr>
          <a:xfrm>
            <a:off x="7810500" y="3009900"/>
            <a:ext cx="95250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5304CE10-BEC6-48F1-8386-DC45A6219FB6}"/>
              </a:ext>
            </a:extLst>
          </p:cNvPr>
          <p:cNvSpPr>
            <a:spLocks noGrp="1"/>
          </p:cNvSpPr>
          <p:nvPr/>
        </p:nvSpPr>
        <p:spPr>
          <a:xfrm>
            <a:off x="8039100" y="28956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优秀分享人</a:t>
            </a:r>
          </a:p>
        </p:txBody>
      </p:sp>
      <p:sp>
        <p:nvSpPr>
          <p:cNvPr id="34" name="">
            <a:extLst>
              <a:ext uri="{FF2B5EF4-FFF2-40B4-BE49-F238E27FC236}">
                <ns2:creationId id="{0DF1710E-3987-4297-AD54-63B711E52364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95250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1E3E259A-06D5-4B22-BF71-8C288EC27070}"/>
              </a:ext>
            </a:extLst>
          </p:cNvPr>
          <p:cNvSpPr>
            <a:spLocks noGrp="1"/>
          </p:cNvSpPr>
          <p:nvPr/>
        </p:nvSpPr>
        <p:spPr>
          <a:xfrm>
            <a:off x="8039100" y="33147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年度知识库</a:t>
            </a:r>
          </a:p>
        </p:txBody>
      </p:sp>
      <p:sp>
        <p:nvSpPr>
          <p:cNvPr id="36" name="">
            <a:extLst>
              <a:ext uri="{FF2B5EF4-FFF2-40B4-BE49-F238E27FC236}">
                <ns2:creationId id="{152A3A3E-4A3C-48CE-82BA-E15B8C7D420B}"/>
              </a:ext>
            </a:extLst>
          </p:cNvPr>
          <p:cNvSpPr>
            <a:spLocks noGrp="1"/>
          </p:cNvSpPr>
          <p:nvPr/>
        </p:nvSpPr>
        <p:spPr>
          <a:xfrm>
            <a:off x="7810500" y="3848100"/>
            <a:ext cx="95250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CFA295B4-D41A-49B3-9BBE-1E95F4AB970D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标杆案例</a:t>
            </a:r>
          </a:p>
        </p:txBody>
      </p:sp>
      <p:sp>
        <p:nvSpPr>
          <p:cNvPr id="38" name="">
            <a:extLst>
              <a:ext uri="{FF2B5EF4-FFF2-40B4-BE49-F238E27FC236}">
                <ns2:creationId id="{E757B2FF-0391-4CF0-9B16-D7BDAAAF3AF6}"/>
              </a:ext>
            </a:extLst>
          </p:cNvPr>
          <p:cNvSpPr>
            <a:spLocks noGrp="1"/>
          </p:cNvSpPr>
          <p:nvPr/>
        </p:nvSpPr>
        <p:spPr>
          <a:xfrm>
            <a:off x="7810500" y="4267200"/>
            <a:ext cx="95250" cy="952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87C95AB3-D3D1-4EC5-8D34-C805151773AF}"/>
              </a:ext>
            </a:extLst>
          </p:cNvPr>
          <p:cNvSpPr>
            <a:spLocks noGrp="1"/>
          </p:cNvSpPr>
          <p:nvPr/>
        </p:nvSpPr>
        <p:spPr>
          <a:xfrm>
            <a:off x="8039100" y="41529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OA模块候选清单</a:t>
            </a:r>
          </a:p>
        </p:txBody>
      </p:sp>
      <p:sp>
        <p:nvSpPr>
          <p:cNvPr id="40" name="">
            <a:extLst>
              <a:ext uri="{FF2B5EF4-FFF2-40B4-BE49-F238E27FC236}">
                <ns2:creationId id="{301A23FB-008E-4DD4-9E52-62A7A2743363}"/>
              </a:ext>
            </a:extLst>
          </p:cNvPr>
          <p:cNvSpPr>
            <a:spLocks noGrp="1"/>
          </p:cNvSpPr>
          <p:nvPr/>
        </p:nvSpPr>
        <p:spPr>
          <a:xfrm>
            <a:off x="7810500" y="4686300"/>
            <a:ext cx="95250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>
              <a:ext uri="{FF2B5EF4-FFF2-40B4-BE49-F238E27FC236}">
                <ns2:creationId id="{53843D2E-EE5F-439A-A8A2-5BE8B5F195AE}"/>
              </a:ext>
            </a:extLst>
          </p:cNvPr>
          <p:cNvSpPr>
            <a:spLocks noGrp="1"/>
          </p:cNvSpPr>
          <p:nvPr/>
        </p:nvSpPr>
        <p:spPr>
          <a:xfrm>
            <a:off x="8039100" y="45720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下年度规划</a:t>
            </a:r>
          </a:p>
        </p:txBody>
      </p:sp>
      <p:sp>
        <p:nvSpPr>
          <p:cNvPr id="42" name="footer-rule-10">
            <a:extLst>
              <a:ext uri="{FF2B5EF4-FFF2-40B4-BE49-F238E27FC236}">
                <ns2:creationId id="{8C09A76D-7444-4A8F-8866-C000B2EC67D8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ooter-source-10">
            <a:extLst>
              <a:ext uri="{FF2B5EF4-FFF2-40B4-BE49-F238E27FC236}">
                <ns2:creationId id="{E7DA1436-CA5B-4ECD-9F88-4E579CB2938C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4" name="footer-page-10">
            <a:extLst>
              <a:ext uri="{FF2B5EF4-FFF2-40B4-BE49-F238E27FC236}">
                <ns2:creationId id="{9D24FA67-F3A9-44FD-A93E-7F9B4776C715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23091090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1">
            <a:extLst>
              <a:ext uri="{FF2B5EF4-FFF2-40B4-BE49-F238E27FC236}">
                <ns2:creationId id="{8E54ABB1-75A0-46AF-BB2D-85BDB7532B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>
              <a:ext uri="{FF2B5EF4-FFF2-40B4-BE49-F238E27FC236}">
                <ns2:creationId id="{12DC0943-31C8-48B3-8682-521F130FB89A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>
              <a:ext uri="{FF2B5EF4-FFF2-40B4-BE49-F238E27FC236}">
                <ns2:creationId id="{CC576406-1FF0-46B5-960C-289DEC8C959F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治理边界</a:t>
            </a:r>
          </a:p>
        </p:txBody>
      </p:sp>
      <p:sp>
        <p:nvSpPr>
          <p:cNvPr id="4" name="title-11">
            <a:extLst>
              <a:ext uri="{FF2B5EF4-FFF2-40B4-BE49-F238E27FC236}">
                <ns2:creationId id="{A908AE4F-EBD2-479A-9F6B-2B01600C85C9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安全可控、人工负责、留痕复盘</a:t>
            </a:r>
          </a:p>
        </p:txBody>
      </p:sp>
      <p:sp>
        <p:nvSpPr>
          <p:cNvPr id="5" name="support-11">
            <a:extLst>
              <a:ext uri="{FF2B5EF4-FFF2-40B4-BE49-F238E27FC236}">
                <ns2:creationId id="{D596981E-AC03-4583-82C5-9B3E95B465B9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协会提供方法和资源支持，各单位仍承担业务数据、专业判断、审批和最终输出责任。</a:t>
            </a:r>
          </a:p>
        </p:txBody>
      </p:sp>
      <p:sp>
        <p:nvSpPr>
          <p:cNvPr id="6" name="lane-0">
            <a:extLst>
              <a:ext uri="{FF2B5EF4-FFF2-40B4-BE49-F238E27FC236}">
                <ns2:creationId id="{BC5C8B20-B547-4B0A-B416-95C3938760A8}"/>
              </a:ext>
            </a:extLst>
          </p:cNvPr>
          <p:cNvSpPr>
            <a:spLocks noGrp="1"/>
          </p:cNvSpPr>
          <p:nvPr/>
        </p:nvSpPr>
        <p:spPr>
          <a:xfrm>
            <a:off x="571500" y="2133600"/>
            <a:ext cx="10668000" cy="57150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6B31C24A-DBC9-432E-960D-53D3E3678CA5}"/>
              </a:ext>
            </a:extLst>
          </p:cNvPr>
          <p:cNvSpPr>
            <a:spLocks noGrp="1"/>
          </p:cNvSpPr>
          <p:nvPr/>
        </p:nvSpPr>
        <p:spPr>
          <a:xfrm>
            <a:off x="571500" y="2133600"/>
            <a:ext cx="76200" cy="57150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F7417EC3-BBD8-4C21-B30A-CD66620E468B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数据边界</a:t>
            </a:r>
          </a:p>
        </p:txBody>
      </p:sp>
      <p:sp>
        <p:nvSpPr>
          <p:cNvPr id="9" name="">
            <a:extLst>
              <a:ext uri="{FF2B5EF4-FFF2-40B4-BE49-F238E27FC236}">
                <ns2:creationId id="{DE9777B4-3005-4F03-9CB2-08CB513EDFFE}"/>
              </a:ext>
            </a:extLst>
          </p:cNvPr>
          <p:cNvSpPr>
            <a:spLocks noGrp="1"/>
          </p:cNvSpPr>
          <p:nvPr/>
        </p:nvSpPr>
        <p:spPr>
          <a:xfrm>
            <a:off x="4000500" y="2247900"/>
            <a:ext cx="685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不上传涉密、敏感、个人信息或未经授权数据</a:t>
            </a:r>
          </a:p>
        </p:txBody>
      </p:sp>
      <p:sp>
        <p:nvSpPr>
          <p:cNvPr id="10" name="lane-1">
            <a:extLst>
              <a:ext uri="{FF2B5EF4-FFF2-40B4-BE49-F238E27FC236}">
                <ns2:creationId id="{FB799571-5700-4335-B6DE-AAD86B63F897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0668000" cy="57150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3246EEA9-D5FD-4250-A357-EE81CBCB4A71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76200" cy="5715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056058E4-703B-40DE-8527-CD249E96A230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先用公开资料、脱敏样例和低敏材料</a:t>
            </a:r>
          </a:p>
        </p:txBody>
      </p:sp>
      <p:sp>
        <p:nvSpPr>
          <p:cNvPr id="13" name="">
            <a:extLst>
              <a:ext uri="{FF2B5EF4-FFF2-40B4-BE49-F238E27FC236}">
                <ns2:creationId id="{D1211754-0367-41AB-828F-9412334C74F1}"/>
              </a:ext>
            </a:extLst>
          </p:cNvPr>
          <p:cNvSpPr>
            <a:spLocks noGrp="1"/>
          </p:cNvSpPr>
          <p:nvPr/>
        </p:nvSpPr>
        <p:spPr>
          <a:xfrm>
            <a:off x="4000500" y="2971800"/>
            <a:ext cx="685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人工责任</a:t>
            </a:r>
          </a:p>
        </p:txBody>
      </p:sp>
      <p:sp>
        <p:nvSpPr>
          <p:cNvPr id="14" name="lane-2">
            <a:extLst>
              <a:ext uri="{FF2B5EF4-FFF2-40B4-BE49-F238E27FC236}">
                <ns2:creationId id="{F79C5E4E-DE57-4563-8737-3253A966A3DB}"/>
              </a:ext>
            </a:extLst>
          </p:cNvPr>
          <p:cNvSpPr>
            <a:spLocks noGrp="1"/>
          </p:cNvSpPr>
          <p:nvPr/>
        </p:nvSpPr>
        <p:spPr>
          <a:xfrm>
            <a:off x="571500" y="3581400"/>
            <a:ext cx="10668000" cy="57150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A527D44D-6057-4A2D-9D3E-2FD5B29DF7DA}"/>
              </a:ext>
            </a:extLst>
          </p:cNvPr>
          <p:cNvSpPr>
            <a:spLocks noGrp="1"/>
          </p:cNvSpPr>
          <p:nvPr/>
        </p:nvSpPr>
        <p:spPr>
          <a:xfrm>
            <a:off x="571500" y="3581400"/>
            <a:ext cx="76200" cy="5715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C1F6B71A-BE8F-40C8-A47F-AB086BDC0BEE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AI辅助初稿、整理和提醒</a:t>
            </a:r>
          </a:p>
        </p:txBody>
      </p:sp>
      <p:sp>
        <p:nvSpPr>
          <p:cNvPr id="17" name="">
            <a:extLst>
              <a:ext uri="{FF2B5EF4-FFF2-40B4-BE49-F238E27FC236}">
                <ns2:creationId id="{A18458F1-FAE2-4B86-83CE-4FAA65E9FBB0}"/>
              </a:ext>
            </a:extLst>
          </p:cNvPr>
          <p:cNvSpPr>
            <a:spLocks noGrp="1"/>
          </p:cNvSpPr>
          <p:nvPr/>
        </p:nvSpPr>
        <p:spPr>
          <a:xfrm>
            <a:off x="4000500" y="3695700"/>
            <a:ext cx="685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专业判断和最终输出由人员负责</a:t>
            </a:r>
          </a:p>
        </p:txBody>
      </p:sp>
      <p:sp>
        <p:nvSpPr>
          <p:cNvPr id="18" name="lane-3">
            <a:extLst>
              <a:ext uri="{FF2B5EF4-FFF2-40B4-BE49-F238E27FC236}">
                <ns2:creationId id="{F2BA6463-9396-4E27-89EA-976996410909}"/>
              </a:ext>
            </a:extLst>
          </p:cNvPr>
          <p:cNvSpPr>
            <a:spLocks noGrp="1"/>
          </p:cNvSpPr>
          <p:nvPr/>
        </p:nvSpPr>
        <p:spPr>
          <a:xfrm>
            <a:off x="571500" y="4305300"/>
            <a:ext cx="10668000" cy="57150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CEA18AA1-D91E-4FA9-A117-E6F01B7744B0}"/>
              </a:ext>
            </a:extLst>
          </p:cNvPr>
          <p:cNvSpPr>
            <a:spLocks noGrp="1"/>
          </p:cNvSpPr>
          <p:nvPr/>
        </p:nvSpPr>
        <p:spPr>
          <a:xfrm>
            <a:off x="571500" y="4305300"/>
            <a:ext cx="76200" cy="5715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D49BC84B-1548-4E1B-9407-FFC15BF291AA}"/>
              </a:ext>
            </a:extLst>
          </p:cNvPr>
          <p:cNvSpPr>
            <a:spLocks noGrp="1"/>
          </p:cNvSpPr>
          <p:nvPr/>
        </p:nvSpPr>
        <p:spPr>
          <a:xfrm>
            <a:off x="838200" y="441960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记录留痕</a:t>
            </a:r>
          </a:p>
        </p:txBody>
      </p:sp>
      <p:sp>
        <p:nvSpPr>
          <p:cNvPr id="21" name="">
            <a:extLst>
              <a:ext uri="{FF2B5EF4-FFF2-40B4-BE49-F238E27FC236}">
                <ns2:creationId id="{BC5CFB8C-EBB8-41CC-89D4-F632FBD49620}"/>
              </a:ext>
            </a:extLst>
          </p:cNvPr>
          <p:cNvSpPr>
            <a:spLocks noGrp="1"/>
          </p:cNvSpPr>
          <p:nvPr/>
        </p:nvSpPr>
        <p:spPr>
          <a:xfrm>
            <a:off x="4000500" y="4419600"/>
            <a:ext cx="685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记录需求、工具、边界、模板和效果</a:t>
            </a:r>
          </a:p>
        </p:txBody>
      </p:sp>
      <p:sp>
        <p:nvSpPr>
          <p:cNvPr id="22" name="quote-11-安全底线">
            <a:extLst>
              <a:ext uri="{FF2B5EF4-FFF2-40B4-BE49-F238E27FC236}">
                <ns2:creationId id="{FA08242A-C206-4EE1-BF19-AA6760723809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0668000" cy="742950"/>
          </a:xfrm>
          <a:prstGeom prst="rect">
            <a:avLst/>
          </a:prstGeom>
          <a:solidFill>
            <a:srgbClr val="FCEEEE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F50D8399-2F11-4CA9-9F14-1E0FB85DF77D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47625" cy="74295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818C8FE0-DD7A-426D-9064-D0FCD1D55AFB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支撑知识库与复盘</a:t>
            </a:r>
          </a:p>
        </p:txBody>
      </p:sp>
      <p:sp>
        <p:nvSpPr>
          <p:cNvPr id="25" name="">
            <a:extLst>
              <a:ext uri="{FF2B5EF4-FFF2-40B4-BE49-F238E27FC236}">
                <ns2:creationId id="{8181031A-692C-4B45-BA8A-FBC33C06EE14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325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平台固化</a:t>
            </a:r>
          </a:p>
        </p:txBody>
      </p:sp>
      <p:sp>
        <p:nvSpPr>
          <p:cNvPr id="26" name="footer-rule-11">
            <a:extLst>
              <a:ext uri="{FF2B5EF4-FFF2-40B4-BE49-F238E27FC236}">
                <ns2:creationId id="{61D0FC4C-7318-46EE-BBED-B62E25CED8FF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ooter-source-11">
            <a:extLst>
              <a:ext uri="{FF2B5EF4-FFF2-40B4-BE49-F238E27FC236}">
                <ns2:creationId id="{0CED9081-8BC1-4ED9-AFA3-9D9BC4026CFB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进入OA模块前确认权限、数据来源、复核点和运维责任</a:t>
            </a:r>
          </a:p>
        </p:txBody>
      </p:sp>
      <p:sp>
        <p:nvSpPr>
          <p:cNvPr id="28" name="footer-page-11">
            <a:extLst>
              <a:ext uri="{FF2B5EF4-FFF2-40B4-BE49-F238E27FC236}">
                <ns2:creationId id="{85ACA593-E1C6-4A62-A100-C9CF39F3E63F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840264630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2">
            <a:extLst>
              <a:ext uri="{FF2B5EF4-FFF2-40B4-BE49-F238E27FC236}">
                <ns2:creationId id="{5470F176-E557-46CF-8596-402C6D2D28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>
              <a:ext uri="{FF2B5EF4-FFF2-40B4-BE49-F238E27FC236}">
                <ns2:creationId id="{AB4A2809-CE7B-4531-B2F8-424A67FC5D2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>
              <a:ext uri="{FF2B5EF4-FFF2-40B4-BE49-F238E27FC236}">
                <ns2:creationId id="{D191FE3F-155E-45B5-BB4F-66282C18126B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年度验收</a:t>
            </a:r>
          </a:p>
        </p:txBody>
      </p:sp>
      <p:sp>
        <p:nvSpPr>
          <p:cNvPr id="4" name="title-12">
            <a:extLst>
              <a:ext uri="{FF2B5EF4-FFF2-40B4-BE49-F238E27FC236}">
                <ns2:creationId id="{D74A4FEC-1013-4589-8958-FD1C2B2A19D4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以竹网行动落地证据作为验收口径</a:t>
            </a:r>
          </a:p>
        </p:txBody>
      </p:sp>
      <p:sp>
        <p:nvSpPr>
          <p:cNvPr id="5" name="support-12">
            <a:extLst>
              <a:ext uri="{FF2B5EF4-FFF2-40B4-BE49-F238E27FC236}">
                <ns2:creationId id="{29A441AA-A3F2-4F7A-850C-7482DD69F06F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rPr>
              <a:t>12月重点看网络是否铺开、分享是否持续、案例是否可复制、成熟场景是否能进入OA模块规划。</a:t>
            </a:r>
          </a:p>
        </p:txBody>
      </p:sp>
      <p:sp>
        <p:nvSpPr>
          <p:cNvPr id="6" name="metric-12-单位候选项目覆盖">
            <a:extLst>
              <a:ext uri="{FF2B5EF4-FFF2-40B4-BE49-F238E27FC236}">
                <ns2:creationId id="{5A72851E-6121-4297-BA17-7E8EA77414A0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219075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7A36E6AB-23AE-4849-94F8-B3E8CEDB5DBF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1924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全员侧</a:t>
            </a:r>
          </a:p>
        </p:txBody>
      </p:sp>
      <p:sp>
        <p:nvSpPr>
          <p:cNvPr id="8" name="">
            <a:extLst>
              <a:ext uri="{FF2B5EF4-FFF2-40B4-BE49-F238E27FC236}">
                <ns2:creationId id="{E6A49132-F8B2-4087-A3B4-6F39CB07CD5D}"/>
              </a:ext>
            </a:extLst>
          </p:cNvPr>
          <p:cNvSpPr>
            <a:spLocks noGrp="1"/>
          </p:cNvSpPr>
          <p:nvPr/>
        </p:nvSpPr>
        <p:spPr>
          <a:xfrm>
            <a:off x="800100" y="2828925"/>
            <a:ext cx="1924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AI兴趣协会成员增长</a:t>
            </a:r>
          </a:p>
        </p:txBody>
      </p:sp>
      <p:sp>
        <p:nvSpPr>
          <p:cNvPr id="9" name="">
            <a:extLst>
              <a:ext uri="{FF2B5EF4-FFF2-40B4-BE49-F238E27FC236}">
                <ns2:creationId id="{6AA96548-2A22-4F6C-8D85-F7148AC2B022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3万元/年工具支持形成使用换分享记录</a:t>
            </a:r>
          </a:p>
        </p:txBody>
      </p:sp>
      <p:sp>
        <p:nvSpPr>
          <p:cNvPr id="10" name="metric-12-重点试点">
            <a:extLst>
              <a:ext uri="{FF2B5EF4-FFF2-40B4-BE49-F238E27FC236}">
                <ns2:creationId id="{6343CCB6-AD41-4238-B457-3CC7FC92E141}"/>
              </a:ext>
            </a:extLst>
          </p:cNvPr>
          <p:cNvSpPr>
            <a:spLocks noGrp="1"/>
          </p:cNvSpPr>
          <p:nvPr/>
        </p:nvSpPr>
        <p:spPr>
          <a:xfrm>
            <a:off x="3143250" y="2286000"/>
            <a:ext cx="219075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EB914258-A76D-4B32-9891-F95CDF2DC945}"/>
              </a:ext>
            </a:extLst>
          </p:cNvPr>
          <p:cNvSpPr>
            <a:spLocks noGrp="1"/>
          </p:cNvSpPr>
          <p:nvPr/>
        </p:nvSpPr>
        <p:spPr>
          <a:xfrm>
            <a:off x="3276600" y="2419350"/>
            <a:ext cx="1924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单位侧</a:t>
            </a:r>
          </a:p>
        </p:txBody>
      </p:sp>
      <p:sp>
        <p:nvSpPr>
          <p:cNvPr id="12" name="">
            <a:extLst>
              <a:ext uri="{FF2B5EF4-FFF2-40B4-BE49-F238E27FC236}">
                <ns2:creationId id="{54CAFCFA-1FB5-44D7-9E40-DB2B9D9B78AD}"/>
              </a:ext>
            </a:extLst>
          </p:cNvPr>
          <p:cNvSpPr>
            <a:spLocks noGrp="1"/>
          </p:cNvSpPr>
          <p:nvPr/>
        </p:nvSpPr>
        <p:spPr>
          <a:xfrm>
            <a:off x="3276600" y="2828925"/>
            <a:ext cx="1924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23个正式业务单位完成探索方向和一页纸计划</a:t>
            </a:r>
          </a:p>
        </p:txBody>
      </p:sp>
      <p:sp>
        <p:nvSpPr>
          <p:cNvPr id="13" name="">
            <a:extLst>
              <a:ext uri="{FF2B5EF4-FFF2-40B4-BE49-F238E27FC236}">
                <ns2:creationId id="{0F22C189-8DA3-4799-88B2-494FB6D939E1}"/>
              </a:ext>
            </a:extLst>
          </p:cNvPr>
          <p:cNvSpPr>
            <a:spLocks noGrp="1"/>
          </p:cNvSpPr>
          <p:nvPr/>
        </p:nvSpPr>
        <p:spPr>
          <a:xfrm>
            <a:off x="3276600" y="3067050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会后2周/1个月/2个月节点闭环</a:t>
            </a:r>
          </a:p>
        </p:txBody>
      </p:sp>
      <p:sp>
        <p:nvSpPr>
          <p:cNvPr id="14" name="metric-12-决赛项目">
            <a:extLst>
              <a:ext uri="{FF2B5EF4-FFF2-40B4-BE49-F238E27FC236}">
                <ns2:creationId id="{F1BE8D7C-6081-4941-9088-983B11339992}"/>
              </a:ext>
            </a:extLst>
          </p:cNvPr>
          <p:cNvSpPr>
            <a:spLocks noGrp="1"/>
          </p:cNvSpPr>
          <p:nvPr/>
        </p:nvSpPr>
        <p:spPr>
          <a:xfrm>
            <a:off x="5619750" y="2286000"/>
            <a:ext cx="219075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97D7344C-9828-464A-8213-73BED60D9C70}"/>
              </a:ext>
            </a:extLst>
          </p:cNvPr>
          <p:cNvSpPr>
            <a:spLocks noGrp="1"/>
          </p:cNvSpPr>
          <p:nvPr/>
        </p:nvSpPr>
        <p:spPr>
          <a:xfrm>
            <a:off x="5753100" y="2419350"/>
            <a:ext cx="1924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分享侧</a:t>
            </a:r>
          </a:p>
        </p:txBody>
      </p:sp>
      <p:sp>
        <p:nvSpPr>
          <p:cNvPr id="16" name="">
            <a:extLst>
              <a:ext uri="{FF2B5EF4-FFF2-40B4-BE49-F238E27FC236}">
                <ns2:creationId id="{A608F33A-02FD-450F-A476-0D9EA6276853}"/>
              </a:ext>
            </a:extLst>
          </p:cNvPr>
          <p:cNvSpPr>
            <a:spLocks noGrp="1"/>
          </p:cNvSpPr>
          <p:nvPr/>
        </p:nvSpPr>
        <p:spPr>
          <a:xfrm>
            <a:off x="5753100" y="2828925"/>
            <a:ext cx="1924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薪火计划每月2-3场分享</a:t>
            </a:r>
          </a:p>
        </p:txBody>
      </p:sp>
      <p:sp>
        <p:nvSpPr>
          <p:cNvPr id="17" name="">
            <a:extLst>
              <a:ext uri="{FF2B5EF4-FFF2-40B4-BE49-F238E27FC236}">
                <ns2:creationId id="{D2A5EB05-1911-44C4-BD74-90FC804BE3C4}"/>
              </a:ext>
            </a:extLst>
          </p:cNvPr>
          <p:cNvSpPr>
            <a:spLocks noGrp="1"/>
          </p:cNvSpPr>
          <p:nvPr/>
        </p:nvSpPr>
        <p:spPr>
          <a:xfrm>
            <a:off x="5753100" y="3067050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形成录屏资料和年度知识库</a:t>
            </a:r>
          </a:p>
        </p:txBody>
      </p:sp>
      <p:sp>
        <p:nvSpPr>
          <p:cNvPr id="18" name="metric-12-可复制成果">
            <a:extLst>
              <a:ext uri="{FF2B5EF4-FFF2-40B4-BE49-F238E27FC236}">
                <ns2:creationId id="{4685E564-6B6B-4067-BA23-878A3B862F40}"/>
              </a:ext>
            </a:extLst>
          </p:cNvPr>
          <p:cNvSpPr>
            <a:spLocks noGrp="1"/>
          </p:cNvSpPr>
          <p:nvPr/>
        </p:nvSpPr>
        <p:spPr>
          <a:xfrm>
            <a:off x="8096250" y="2286000"/>
            <a:ext cx="219075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D0709715-543F-48F8-BF76-9E3A8847FCD4}"/>
              </a:ext>
            </a:extLst>
          </p:cNvPr>
          <p:cNvSpPr>
            <a:spLocks noGrp="1"/>
          </p:cNvSpPr>
          <p:nvPr/>
        </p:nvSpPr>
        <p:spPr>
          <a:xfrm>
            <a:off x="8229600" y="2419350"/>
            <a:ext cx="1924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平台侧</a:t>
            </a:r>
          </a:p>
        </p:txBody>
      </p:sp>
      <p:sp>
        <p:nvSpPr>
          <p:cNvPr id="20" name="">
            <a:extLst>
              <a:ext uri="{FF2B5EF4-FFF2-40B4-BE49-F238E27FC236}">
                <ns2:creationId id="{A76DC47E-20A5-4B80-A5F7-26D50174715C}"/>
              </a:ext>
            </a:extLst>
          </p:cNvPr>
          <p:cNvSpPr>
            <a:spLocks noGrp="1"/>
          </p:cNvSpPr>
          <p:nvPr/>
        </p:nvSpPr>
        <p:spPr>
          <a:xfrm>
            <a:off x="8229600" y="2828925"/>
            <a:ext cx="1924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标杆案例跨单位复制</a:t>
            </a:r>
          </a:p>
        </p:txBody>
      </p:sp>
      <p:sp>
        <p:nvSpPr>
          <p:cNvPr id="21" name="">
            <a:extLst>
              <a:ext uri="{FF2B5EF4-FFF2-40B4-BE49-F238E27FC236}">
                <ns2:creationId id="{3FE76F07-6423-47E6-A2A6-7E64A1012D47}"/>
              </a:ext>
            </a:extLst>
          </p:cNvPr>
          <p:cNvSpPr>
            <a:spLocks noGrp="1"/>
          </p:cNvSpPr>
          <p:nvPr/>
        </p:nvSpPr>
        <p:spPr>
          <a:xfrm>
            <a:off x="8229600" y="3067050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成熟场景纳入OA模块候选</a:t>
            </a:r>
          </a:p>
        </p:txBody>
      </p:sp>
      <p:sp>
        <p:nvSpPr>
          <p:cNvPr id="22" name="annual-acceptance-callout">
            <a:extLst>
              <a:ext uri="{FF2B5EF4-FFF2-40B4-BE49-F238E27FC236}">
                <ns2:creationId id="{2394BDF6-4C25-4C1D-9F35-806983DD8720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9620250" cy="1009650"/>
          </a:xfrm>
          <a:prstGeom prst="rect">
            <a:avLst/>
          </a:prstGeom>
          <a:solidFill>
            <a:srgbClr val="183B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EBA0ADFF-398E-4148-97F3-6BA527C3EA78}"/>
              </a:ext>
            </a:extLst>
          </p:cNvPr>
          <p:cNvSpPr>
            <a:spLocks noGrp="1"/>
          </p:cNvSpPr>
          <p:nvPr/>
        </p:nvSpPr>
        <p:spPr>
          <a:xfrm>
            <a:off x="952500" y="4133850"/>
            <a:ext cx="9048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4" name="footer-rule-12">
            <a:extLst>
              <a:ext uri="{FF2B5EF4-FFF2-40B4-BE49-F238E27FC236}">
                <ns2:creationId id="{0A178A1A-D409-4BB5-9E0D-31C07303FAA2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3653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ooter-source-12">
            <a:extLst>
              <a:ext uri="{FF2B5EF4-FFF2-40B4-BE49-F238E27FC236}">
                <ns2:creationId id="{9CFB338F-6EBB-46D2-8D4C-09BA7A2ADD2A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发布招募公告，确认单位对接人，启动工具破冰分享</a:t>
            </a:r>
          </a:p>
        </p:txBody>
      </p:sp>
      <p:sp>
        <p:nvSpPr>
          <p:cNvPr id="26" name="footer-page-12">
            <a:extLst>
              <a:ext uri="{FF2B5EF4-FFF2-40B4-BE49-F238E27FC236}">
                <ns2:creationId id="{CB56205D-C242-443B-9F3A-546F826A10D5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613267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2026-06-03T07:41:47.3540000Z</dcterms:created>
  <dcterms:modified xsi:type="dcterms:W3CDTF">2026-06-03T07:41:47.3540000Z</dcterms:modified>
</coreProperties>
</file>