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6db3b211c845a6" /><Relationship Type="http://schemas.openxmlformats.org/officeDocument/2006/relationships/extended-properties" Target="/docProps/app.xml" Id="R5141e9f9397f49a4" /><Relationship Type="http://schemas.openxmlformats.org/officeDocument/2006/relationships/officeDocument" Target="/ppt/presentation.xml" Id="R51502743637c46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29bb2f7ccb48f3"/>
  </p:sldMasterIdLst>
  <p:notesMasterIdLst>
    <p:notesMasterId xmlns:r="http://schemas.openxmlformats.org/officeDocument/2006/relationships" r:id="R07eb683eb389479f"/>
  </p:notesMasterIdLst>
  <p:sldIdLst>
    <p:sldId xmlns:r="http://schemas.openxmlformats.org/officeDocument/2006/relationships" id="256" r:id="R06aa2d45093a4e49"/>
    <p:sldId xmlns:r="http://schemas.openxmlformats.org/officeDocument/2006/relationships" id="257" r:id="Raf6aff74fb64454c"/>
    <p:sldId xmlns:r="http://schemas.openxmlformats.org/officeDocument/2006/relationships" id="258" r:id="Rb1edd68eeec8453f"/>
    <p:sldId xmlns:r="http://schemas.openxmlformats.org/officeDocument/2006/relationships" id="259" r:id="Rf99f31e855f348c0"/>
    <p:sldId xmlns:r="http://schemas.openxmlformats.org/officeDocument/2006/relationships" id="260" r:id="R80de9f1d71d24ef1"/>
    <p:sldId xmlns:r="http://schemas.openxmlformats.org/officeDocument/2006/relationships" id="261" r:id="R5c75244222254c3d"/>
    <p:sldId xmlns:r="http://schemas.openxmlformats.org/officeDocument/2006/relationships" id="262" r:id="R4640629490ce4eee"/>
    <p:sldId xmlns:r="http://schemas.openxmlformats.org/officeDocument/2006/relationships" id="263" r:id="R50e00030ada048ed"/>
    <p:sldId xmlns:r="http://schemas.openxmlformats.org/officeDocument/2006/relationships" id="264" r:id="R2908adbcdab146ea"/>
    <p:sldId xmlns:r="http://schemas.openxmlformats.org/officeDocument/2006/relationships" id="265" r:id="R2e91af1954214ff6"/>
    <p:sldId xmlns:r="http://schemas.openxmlformats.org/officeDocument/2006/relationships" id="266" r:id="R9bb0e13d943a42b0"/>
    <p:sldId xmlns:r="http://schemas.openxmlformats.org/officeDocument/2006/relationships" id="267" r:id="Raed987275d6647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43bc6d7c04723" /><Relationship Type="http://schemas.openxmlformats.org/officeDocument/2006/relationships/slideMaster" Target="/ppt/slideMasters/slideMaster1.xml" Id="R2f29bb2f7ccb48f3" /><Relationship Type="http://schemas.openxmlformats.org/officeDocument/2006/relationships/notesMaster" Target="/ppt/notesMasters/notesMaster1.xml" Id="R07eb683eb389479f" /><Relationship Type="http://schemas.openxmlformats.org/officeDocument/2006/relationships/presProps" Target="/ppt/presProps.xml" Id="Rddc0fa4d3ae64c30" /><Relationship Type="http://schemas.openxmlformats.org/officeDocument/2006/relationships/viewProps" Target="/ppt/viewProps.xml" Id="R169999075f064013" /><Relationship Type="http://schemas.openxmlformats.org/officeDocument/2006/relationships/tableStyles" Target="/ppt/tableStyles.xml" Id="R3b74163729404bc6" /><Relationship Type="http://schemas.openxmlformats.org/officeDocument/2006/relationships/slide" Target="/ppt/slides/slide1.xml" Id="R06aa2d45093a4e49" /><Relationship Type="http://schemas.openxmlformats.org/officeDocument/2006/relationships/slide" Target="/ppt/slides/slide2.xml" Id="Raf6aff74fb64454c" /><Relationship Type="http://schemas.openxmlformats.org/officeDocument/2006/relationships/slide" Target="/ppt/slides/slide3.xml" Id="Rb1edd68eeec8453f" /><Relationship Type="http://schemas.openxmlformats.org/officeDocument/2006/relationships/slide" Target="/ppt/slides/slide4.xml" Id="Rf99f31e855f348c0" /><Relationship Type="http://schemas.openxmlformats.org/officeDocument/2006/relationships/slide" Target="/ppt/slides/slide5.xml" Id="R80de9f1d71d24ef1" /><Relationship Type="http://schemas.openxmlformats.org/officeDocument/2006/relationships/slide" Target="/ppt/slides/slide6.xml" Id="R5c75244222254c3d" /><Relationship Type="http://schemas.openxmlformats.org/officeDocument/2006/relationships/slide" Target="/ppt/slides/slide7.xml" Id="R4640629490ce4eee" /><Relationship Type="http://schemas.openxmlformats.org/officeDocument/2006/relationships/slide" Target="/ppt/slides/slide8.xml" Id="R50e00030ada048ed" /><Relationship Type="http://schemas.openxmlformats.org/officeDocument/2006/relationships/slide" Target="/ppt/slides/slide9.xml" Id="R2908adbcdab146ea" /><Relationship Type="http://schemas.openxmlformats.org/officeDocument/2006/relationships/slide" Target="/ppt/slides/slide10.xml" Id="R2e91af1954214ff6" /><Relationship Type="http://schemas.openxmlformats.org/officeDocument/2006/relationships/slide" Target="/ppt/slides/slide11.xml" Id="R9bb0e13d943a42b0" /><Relationship Type="http://schemas.openxmlformats.org/officeDocument/2006/relationships/slide" Target="/ppt/slides/slide12.xml" Id="Raed987275d6647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aec000fc544b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254c1f77c478d" /><Relationship Type="http://schemas.openxmlformats.org/officeDocument/2006/relationships/notesMaster" Target="/ppt/notesMasters/notesMaster1.xml" Id="R59d2ffc9810340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470cb241464988" /><Relationship Type="http://schemas.openxmlformats.org/officeDocument/2006/relationships/notesMaster" Target="/ppt/notesMasters/notesMaster1.xml" Id="R7efb4d56b45940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ff49c63d2948b1" /><Relationship Type="http://schemas.openxmlformats.org/officeDocument/2006/relationships/notesMaster" Target="/ppt/notesMasters/notesMaster1.xml" Id="Re47e38ee7c224f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55c999781492d" /><Relationship Type="http://schemas.openxmlformats.org/officeDocument/2006/relationships/notesMaster" Target="/ppt/notesMasters/notesMaster1.xml" Id="Rdec0aaedb405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4382af4a42400c" /><Relationship Type="http://schemas.openxmlformats.org/officeDocument/2006/relationships/notesMaster" Target="/ppt/notesMasters/notesMaster1.xml" Id="Rd21f7dba6cfe41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6a8615228c46f2" /><Relationship Type="http://schemas.openxmlformats.org/officeDocument/2006/relationships/notesMaster" Target="/ppt/notesMasters/notesMaster1.xml" Id="Rd29d32a6c26b47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bb73a199f4c8b" /><Relationship Type="http://schemas.openxmlformats.org/officeDocument/2006/relationships/notesMaster" Target="/ppt/notesMasters/notesMaster1.xml" Id="R682f373bd0d942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641505caad452c" /><Relationship Type="http://schemas.openxmlformats.org/officeDocument/2006/relationships/notesMaster" Target="/ppt/notesMasters/notesMaster1.xml" Id="Rd99dba70b2ef41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246f14f1024c30" /><Relationship Type="http://schemas.openxmlformats.org/officeDocument/2006/relationships/notesMaster" Target="/ppt/notesMasters/notesMaster1.xml" Id="R010f3a0710bf40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3bdca1c9c44509" /><Relationship Type="http://schemas.openxmlformats.org/officeDocument/2006/relationships/notesMaster" Target="/ppt/notesMasters/notesMaster1.xml" Id="R0172c5c3d7ef4f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7506670d1c4509" /><Relationship Type="http://schemas.openxmlformats.org/officeDocument/2006/relationships/notesMaster" Target="/ppt/notesMasters/notesMaster1.xml" Id="R3b40b03036ef41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a7070699924963" /><Relationship Type="http://schemas.openxmlformats.org/officeDocument/2006/relationships/notesMaster" Target="/ppt/notesMasters/notesMaster1.xml" Id="R45c87f4a77054a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abe802d3645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48a99520b64416" /><Relationship Type="http://schemas.openxmlformats.org/officeDocument/2006/relationships/slideLayout" Target="/ppt/slideLayouts/slideLayout1.xml" Id="R6ed86f85bb1d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d86f85bb1d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db93871d349cc" /><Relationship Type="http://schemas.openxmlformats.org/officeDocument/2006/relationships/notesSlide" Target="/ppt/notesSlides/notesSlide1.xml" Id="R7989232203904f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a901089b34a31" /><Relationship Type="http://schemas.openxmlformats.org/officeDocument/2006/relationships/notesSlide" Target="/ppt/notesSlides/notesSlide2.xml" Id="R8a2701a78a9c43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15aea8c2a49f9" /><Relationship Type="http://schemas.openxmlformats.org/officeDocument/2006/relationships/notesSlide" Target="/ppt/notesSlides/notesSlide3.xml" Id="R2d191932226847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47b63bccf40f2" /><Relationship Type="http://schemas.openxmlformats.org/officeDocument/2006/relationships/notesSlide" Target="/ppt/notesSlides/notesSlide4.xml" Id="R50588a5c062e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4fb1af8914b2d" /><Relationship Type="http://schemas.openxmlformats.org/officeDocument/2006/relationships/notesSlide" Target="/ppt/notesSlides/notesSlide5.xml" Id="R3ce40313aa8d4f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80cf40dff4100" /><Relationship Type="http://schemas.openxmlformats.org/officeDocument/2006/relationships/notesSlide" Target="/ppt/notesSlides/notesSlide6.xml" Id="R27fe96609a6e44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5b3fb22724c66" /><Relationship Type="http://schemas.openxmlformats.org/officeDocument/2006/relationships/notesSlide" Target="/ppt/notesSlides/notesSlide7.xml" Id="R86aebe08eb0642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2f79c49824a02" /><Relationship Type="http://schemas.openxmlformats.org/officeDocument/2006/relationships/notesSlide" Target="/ppt/notesSlides/notesSlide8.xml" Id="R9790bdfce78649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6801ac54d40e0" /><Relationship Type="http://schemas.openxmlformats.org/officeDocument/2006/relationships/notesSlide" Target="/ppt/notesSlides/notesSlide9.xml" Id="R8c9332295ff04d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8c6f6b01483c" /><Relationship Type="http://schemas.openxmlformats.org/officeDocument/2006/relationships/notesSlide" Target="/ppt/notesSlides/notesSlide10.xml" Id="R473d4343045648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1f056efb94b75" /><Relationship Type="http://schemas.openxmlformats.org/officeDocument/2006/relationships/notesSlide" Target="/ppt/notesSlides/notesSlide11.xml" Id="R145b69c7976043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921cb703e488b" /><Relationship Type="http://schemas.openxmlformats.org/officeDocument/2006/relationships/notesSlide" Target="/ppt/notesSlides/notesSlide12.xml" Id="Rfd835eb9a1a248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">
            <a:extLst xmlns:a="http://schemas.openxmlformats.org/drawingml/2006/main">
              <a:ext uri="{FF2B5EF4-FFF2-40B4-BE49-F238E27FC236}">
                <a16:creationId xmlns:a16="http://schemas.microsoft.com/office/drawing/2014/main" id="{026A5D35-FF67-4C9D-A70A-894AA053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C4897-C52A-492B-95FE-67F321DB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89CBB-5518-4C60-9B11-11CD1515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762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深圳市安居建业投资运营有限公司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FAE41-068A-4332-A15A-3F9C2D63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742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2026年6月至12月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AI协会年度工作计划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C0DCD-B582-4254-9630-E627FC08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rPr>
              <a:t>调研诊断、分层培训、场景摸排和项目试点，最终汇聚为AI大赛与成果转化。</a:t>
            </a:r>
          </a:p>
        </p:txBody>
      </p:sp>
      <p:sp>
        <p:nvSpPr>
          <p:cNvPr id="6" name="metric-1-有效答卷">
            <a:extLst xmlns:a="http://schemas.openxmlformats.org/drawingml/2006/main">
              <a:ext uri="{FF2B5EF4-FFF2-40B4-BE49-F238E27FC236}">
                <a16:creationId xmlns:a16="http://schemas.microsoft.com/office/drawing/2014/main" id="{8A099A00-06E0-4F7A-9C49-3F46BDCE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04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C51C8-D253-43F2-A96A-C860FB75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382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134份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A137F-4949-44FE-9263-229DBAE8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4782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有效答卷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3BD48-69D4-4006-9384-1DAF2CBA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调研基数</a:t>
            </a:r>
          </a:p>
        </p:txBody>
      </p:sp>
      <p:sp>
        <p:nvSpPr>
          <p:cNvPr id="10" name="metric-1-正式业务单位">
            <a:extLst xmlns:a="http://schemas.openxmlformats.org/drawingml/2006/main">
              <a:ext uri="{FF2B5EF4-FFF2-40B4-BE49-F238E27FC236}">
                <a16:creationId xmlns:a16="http://schemas.microsoft.com/office/drawing/2014/main" id="{7C10CB4A-6BA8-4E05-9972-1A1E126B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104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9C882-0A3C-4538-AE35-FB0A484F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2382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7BC26-90C3-45FA-87EB-C8CBFA87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4782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正式业务单位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6E7B6-8E00-4DB3-8F17-A4917A97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859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全面覆盖</a:t>
            </a:r>
          </a:p>
        </p:txBody>
      </p:sp>
      <p:sp>
        <p:nvSpPr>
          <p:cNvPr id="14" name="metric-1-重点试点建议">
            <a:extLst xmlns:a="http://schemas.openxmlformats.org/drawingml/2006/main">
              <a:ext uri="{FF2B5EF4-FFF2-40B4-BE49-F238E27FC236}">
                <a16:creationId xmlns:a16="http://schemas.microsoft.com/office/drawing/2014/main" id="{ADC02B7D-A3D1-4819-A1B7-B136A34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8B9AE-33BE-42BA-8300-CB072891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6BF6A-9481-4F7C-BC8C-6EF6F64A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860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重点试点建议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B6EB5-773E-462F-A862-652BE33C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242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集中支持</a:t>
            </a:r>
          </a:p>
        </p:txBody>
      </p:sp>
      <p:sp>
        <p:nvSpPr>
          <p:cNvPr id="18" name="metric-1-AI大赛决赛">
            <a:extLst xmlns:a="http://schemas.openxmlformats.org/drawingml/2006/main">
              <a:ext uri="{FF2B5EF4-FFF2-40B4-BE49-F238E27FC236}">
                <a16:creationId xmlns:a16="http://schemas.microsoft.com/office/drawing/2014/main" id="{E3183910-CBF8-404D-8D0D-4C6D9341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431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F09ED-AA55-4722-BC16-E1482966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765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24282-62A6-40DE-9089-05952622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860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AI大赛决赛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10A5F-6742-47CC-814D-4D1EF1B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242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成果出口</a:t>
            </a:r>
          </a:p>
        </p:txBody>
      </p:sp>
      <p:sp>
        <p:nvSpPr>
          <p:cNvPr id="22" name="stage-1-0">
            <a:extLst xmlns:a="http://schemas.openxmlformats.org/drawingml/2006/main">
              <a:ext uri="{FF2B5EF4-FFF2-40B4-BE49-F238E27FC236}">
                <a16:creationId xmlns:a16="http://schemas.microsoft.com/office/drawing/2014/main" id="{8CF01B31-CE7B-44C5-B636-CD0DB4CA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74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F67DA-C142-49E7-84B9-CDD8DE4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4E8B3-00BD-4CF7-96DB-2DE72428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调研诊断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D902B-E3AE-433D-9A31-A2B0EE11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识别需求</a:t>
            </a:r>
          </a:p>
        </p:txBody>
      </p:sp>
      <p:sp>
        <p:nvSpPr>
          <p:cNvPr id="26" name="stage-link-1-0">
            <a:extLst xmlns:a="http://schemas.openxmlformats.org/drawingml/2006/main">
              <a:ext uri="{FF2B5EF4-FFF2-40B4-BE49-F238E27FC236}">
                <a16:creationId xmlns:a16="http://schemas.microsoft.com/office/drawing/2014/main" id="{20DF8CFA-0A61-47C9-A939-02C565FF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50" y="51435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tage-1-1">
            <a:extLst xmlns:a="http://schemas.openxmlformats.org/drawingml/2006/main">
              <a:ext uri="{FF2B5EF4-FFF2-40B4-BE49-F238E27FC236}">
                <a16:creationId xmlns:a16="http://schemas.microsoft.com/office/drawing/2014/main" id="{AD406150-EE13-45E3-967B-49715EE6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050" y="4667250"/>
            <a:ext cx="174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00B50C-14CE-4587-803C-136691B0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4781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AB8E1-1B7F-4E86-9728-5245999B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50292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分层培训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FE006-7963-4960-8192-3F2B187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53244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形成能力</a:t>
            </a:r>
          </a:p>
        </p:txBody>
      </p:sp>
      <p:sp>
        <p:nvSpPr>
          <p:cNvPr id="31" name="stage-link-1-1">
            <a:extLst xmlns:a="http://schemas.openxmlformats.org/drawingml/2006/main">
              <a:ext uri="{FF2B5EF4-FFF2-40B4-BE49-F238E27FC236}">
                <a16:creationId xmlns:a16="http://schemas.microsoft.com/office/drawing/2014/main" id="{B78908C8-16E4-4C59-BEDF-61057DD5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51435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tage-1-2">
            <a:extLst xmlns:a="http://schemas.openxmlformats.org/drawingml/2006/main">
              <a:ext uri="{FF2B5EF4-FFF2-40B4-BE49-F238E27FC236}">
                <a16:creationId xmlns:a16="http://schemas.microsoft.com/office/drawing/2014/main" id="{9931500C-7181-446E-8702-BA19B1E9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667250"/>
            <a:ext cx="174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AE05B2-975C-421A-B179-1705FEF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4781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D4A3DE-559E-4515-8A4C-18960871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0292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场景摸排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A65BE2-C9FF-483D-B4F0-D2A165B2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244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建立项目池</a:t>
            </a:r>
          </a:p>
        </p:txBody>
      </p:sp>
      <p:sp>
        <p:nvSpPr>
          <p:cNvPr id="36" name="stage-link-1-2">
            <a:extLst xmlns:a="http://schemas.openxmlformats.org/drawingml/2006/main">
              <a:ext uri="{FF2B5EF4-FFF2-40B4-BE49-F238E27FC236}">
                <a16:creationId xmlns:a16="http://schemas.microsoft.com/office/drawing/2014/main" id="{3791B481-47C7-49DF-B2F5-34126721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tage-1-3">
            <a:extLst xmlns:a="http://schemas.openxmlformats.org/drawingml/2006/main">
              <a:ext uri="{FF2B5EF4-FFF2-40B4-BE49-F238E27FC236}">
                <a16:creationId xmlns:a16="http://schemas.microsoft.com/office/drawing/2014/main" id="{2C13B59D-B371-4EBE-8EFB-38A1C8CC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7250"/>
            <a:ext cx="174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B9D952-A089-4FA6-9507-6F978063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4F6C17-37E3-4A5C-80A1-21010125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项目试点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200EE8-08BD-472A-B325-48388C35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244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验证实效</a:t>
            </a:r>
          </a:p>
        </p:txBody>
      </p:sp>
      <p:sp>
        <p:nvSpPr>
          <p:cNvPr id="41" name="stage-link-1-3">
            <a:extLst xmlns:a="http://schemas.openxmlformats.org/drawingml/2006/main">
              <a:ext uri="{FF2B5EF4-FFF2-40B4-BE49-F238E27FC236}">
                <a16:creationId xmlns:a16="http://schemas.microsoft.com/office/drawing/2014/main" id="{84D71237-01CD-446E-9146-903BA24E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51435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tage-1-4">
            <a:extLst xmlns:a="http://schemas.openxmlformats.org/drawingml/2006/main">
              <a:ext uri="{FF2B5EF4-FFF2-40B4-BE49-F238E27FC236}">
                <a16:creationId xmlns:a16="http://schemas.microsoft.com/office/drawing/2014/main" id="{D8C42DCE-E8EC-4087-8D91-56E16FCD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4667250"/>
            <a:ext cx="174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139DFC-0822-49C7-8FC1-5B3B867D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781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CE6999-1FD7-417F-A229-80348720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0292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AI大赛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2826B5-5116-4EB0-8330-1CF59DE1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3244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展示成果</a:t>
            </a:r>
          </a:p>
        </p:txBody>
      </p:sp>
      <p:sp>
        <p:nvSpPr>
          <p:cNvPr id="46" name="stage-link-1-4">
            <a:extLst xmlns:a="http://schemas.openxmlformats.org/drawingml/2006/main">
              <a:ext uri="{FF2B5EF4-FFF2-40B4-BE49-F238E27FC236}">
                <a16:creationId xmlns:a16="http://schemas.microsoft.com/office/drawing/2014/main" id="{8C5C4923-B304-4210-997E-6E3129A9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950" y="51435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stage-1-5">
            <a:extLst xmlns:a="http://schemas.openxmlformats.org/drawingml/2006/main">
              <a:ext uri="{FF2B5EF4-FFF2-40B4-BE49-F238E27FC236}">
                <a16:creationId xmlns:a16="http://schemas.microsoft.com/office/drawing/2014/main" id="{88CAFDF4-F036-4E9B-BEA9-33178457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4667250"/>
            <a:ext cx="174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49523E-71F7-4829-9947-197A1BC7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550" y="4781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C5C4B6-3FC6-43D2-AAA9-03A78D5C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550" y="50292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成果转化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3A3F86-2DC5-4343-A541-9EA48837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550" y="53244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复制推广</a:t>
            </a:r>
          </a:p>
        </p:txBody>
      </p:sp>
      <p:sp>
        <p:nvSpPr>
          <p:cNvPr id="51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73A06105-561C-4427-BA35-D53402D4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3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B968BF4D-08B8-4E1F-88BC-7233DDEE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审阅稿 | 工作周期：2026年6月至12月 | 预算口径：待审 | 数据依据：2026年5月29日AI认知与需求调研</a:t>
            </a:r>
          </a:p>
        </p:txBody>
      </p:sp>
      <p:sp>
        <p:nvSpPr>
          <p:cNvPr id="53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706ABA6C-F420-491D-9384-98ED9BD7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859545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2">
            <a:extLst xmlns:a="http://schemas.openxmlformats.org/drawingml/2006/main">
              <a:ext uri="{FF2B5EF4-FFF2-40B4-BE49-F238E27FC236}">
                <a16:creationId xmlns:a16="http://schemas.microsoft.com/office/drawing/2014/main" id="{1E2D0F81-ACBD-4293-8C79-C3E4D7C7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2B12B59E-DC67-43C1-9F0A-265FC0D6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DC679F41-BFCB-4CA0-92A3-C2E74DA9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调研起点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1C2112C9-BD6C-41C3-BB50-D38F3120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AI使用已有基础，但员工应用深度仍不均衡</a:t>
            </a:r>
          </a:p>
        </p:txBody>
      </p:sp>
      <p:sp>
        <p:nvSpPr>
          <p:cNvPr id="5" name="support-2">
            <a:extLst xmlns:a="http://schemas.openxmlformats.org/drawingml/2006/main">
              <a:ext uri="{FF2B5EF4-FFF2-40B4-BE49-F238E27FC236}">
                <a16:creationId xmlns:a16="http://schemas.microsoft.com/office/drawing/2014/main" id="{C6BE9811-88D4-4DFF-A0C4-00D055E8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高频使用与低频使用群体同时存在，年度计划需要兼顾普及与进阶。</a:t>
            </a:r>
          </a:p>
        </p:txBody>
      </p:sp>
      <p:sp>
        <p:nvSpPr>
          <p:cNvPr id="6" name="metric-2-原始表频率均分">
            <a:extLst xmlns:a="http://schemas.openxmlformats.org/drawingml/2006/main">
              <a:ext uri="{FF2B5EF4-FFF2-40B4-BE49-F238E27FC236}">
                <a16:creationId xmlns:a16="http://schemas.microsoft.com/office/drawing/2014/main" id="{EA87FE5E-4B3D-430E-BADD-DB76A989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9A48D-B1BE-4CAF-B0B3-23792239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3.13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C9377-8DCD-42E2-A537-1B55E24F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原始表频率均分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5EB1D-5049-45C5-B956-1EBFFE99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汇总表为3.16</a:t>
            </a:r>
          </a:p>
        </p:txBody>
      </p:sp>
      <p:sp>
        <p:nvSpPr>
          <p:cNvPr id="10" name="metric-2-高频使用">
            <a:extLst xmlns:a="http://schemas.openxmlformats.org/drawingml/2006/main">
              <a:ext uri="{FF2B5EF4-FFF2-40B4-BE49-F238E27FC236}">
                <a16:creationId xmlns:a16="http://schemas.microsoft.com/office/drawing/2014/main" id="{70CCB1DF-5EB7-4755-AB9F-9D9F3A38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00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70B4-0F45-4C9B-B014-475B065E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336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44.0%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B4AA2-C65B-44B3-8180-393DE8A3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4317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高频使用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00D69-10EB-4727-B855-E6421DB3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频率4—5分</a:t>
            </a:r>
          </a:p>
        </p:txBody>
      </p:sp>
      <p:sp>
        <p:nvSpPr>
          <p:cNvPr id="14" name="metric-2-低频使用">
            <a:extLst xmlns:a="http://schemas.openxmlformats.org/drawingml/2006/main">
              <a:ext uri="{FF2B5EF4-FFF2-40B4-BE49-F238E27FC236}">
                <a16:creationId xmlns:a16="http://schemas.microsoft.com/office/drawing/2014/main" id="{90721BAD-FE50-4683-9BEC-252A9AC0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0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8D825-5DD4-4B09-8D7D-94ED3F6D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336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30.6%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DE8FB-0A3F-49A4-90DE-845224F2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4317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低频使用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34FE6-D4EE-4B8B-9CAF-D93BA4BA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频率1—2分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41618-86B6-4392-932B-3E7AD9AA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使用频率结构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C04A0-5EAF-4062-ADDD-9FD14C32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4CB69-8CFF-4F33-9A89-BE120392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303123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E0066-B7D1-48C3-ABC0-82160994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3924300"/>
            <a:ext cx="251612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B4737-C94B-40D9-8FEF-C486EA7E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860" y="3924300"/>
            <a:ext cx="4358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00131-239E-4C2D-BAE2-EF06632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低频 30.6%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90B82-3F97-46A7-9D61-DBD1D78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81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中频 25.4%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4DD88-B93A-4016-B0AE-92930196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高频 44.0%</a:t>
            </a:r>
          </a:p>
        </p:txBody>
      </p:sp>
      <p:sp>
        <p:nvSpPr>
          <p:cNvPr id="26" name="quote-2-行动含义">
            <a:extLst xmlns:a="http://schemas.openxmlformats.org/drawingml/2006/main">
              <a:ext uri="{FF2B5EF4-FFF2-40B4-BE49-F238E27FC236}">
                <a16:creationId xmlns:a16="http://schemas.microsoft.com/office/drawing/2014/main" id="{D52EC038-C399-49A6-9D91-69FF96A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C4B85-EF77-46BF-ADD1-513C647D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F00DA-176C-4377-A8DD-99DBCDFC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行动含义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BCD624-E6A4-459D-B0F1-D015EB2C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全员覆盖安全与基础认知，业务骨干进入场景实训，成熟项目团队获得进阶辅导。</a:t>
            </a:r>
          </a:p>
        </p:txBody>
      </p:sp>
      <p:sp>
        <p:nvSpPr>
          <p:cNvPr id="3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590B5FA-0146-4A90-8F40-A7E7AF65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473EA6AA-0383-428E-99A6-2984C302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来源：问卷原始结果表；n=134。频率均分原始表3.13、汇总表3.16，已并列标注。</a:t>
            </a:r>
          </a:p>
        </p:txBody>
      </p:sp>
      <p:sp>
        <p:nvSpPr>
          <p:cNvPr id="3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50AB1573-6E29-400F-80CD-77962A0C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86961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3">
            <a:extLst xmlns:a="http://schemas.openxmlformats.org/drawingml/2006/main">
              <a:ext uri="{FF2B5EF4-FFF2-40B4-BE49-F238E27FC236}">
                <a16:creationId xmlns:a16="http://schemas.microsoft.com/office/drawing/2014/main" id="{41054C63-727A-4D52-B123-43F3782E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CE0225C4-16DB-4F0D-A2E8-808FD914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A2A5A1C5-F9BA-4D3B-8CCA-66DACCE8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应用缺口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D4FEEB4A-7851-4D76-AEDB-8AC17AC7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流程协作是从通用办公走向业务落地的明显缺口</a:t>
            </a:r>
          </a:p>
        </p:txBody>
      </p:sp>
      <p:sp>
        <p:nvSpPr>
          <p:cNvPr id="5" name="support-3">
            <a:extLst xmlns:a="http://schemas.openxmlformats.org/drawingml/2006/main">
              <a:ext uri="{FF2B5EF4-FFF2-40B4-BE49-F238E27FC236}">
                <a16:creationId xmlns:a16="http://schemas.microsoft.com/office/drawing/2014/main" id="{AA3C5348-5956-4BDD-A410-FC18C600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当前应用集中在文案、学习和数据处理；系统集成、技能、安全和可靠性同时成为障碍。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CEFB3-50C7-445D-A7E6-25409DFE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当前AI应用场景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4CA12-8AD5-4706-8ADD-EFF2CF36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文案创作</a:t>
            </a:r>
          </a:p>
        </p:txBody>
      </p:sp>
      <p:sp>
        <p:nvSpPr>
          <p:cNvPr id="8" name="bar-track-3-0">
            <a:extLst xmlns:a="http://schemas.openxmlformats.org/drawingml/2006/main">
              <a:ext uri="{FF2B5EF4-FFF2-40B4-BE49-F238E27FC236}">
                <a16:creationId xmlns:a16="http://schemas.microsoft.com/office/drawing/2014/main" id="{6C7AD2D9-3C95-4DC8-A9A8-390107C1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ar-3-0">
            <a:extLst xmlns:a="http://schemas.openxmlformats.org/drawingml/2006/main">
              <a:ext uri="{FF2B5EF4-FFF2-40B4-BE49-F238E27FC236}">
                <a16:creationId xmlns:a16="http://schemas.microsoft.com/office/drawing/2014/main" id="{D33F3203-2B86-46B6-B3AE-45DDD81B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269918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250E9-D2BA-49CF-A0F1-F4B7D78B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73.1%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53C83-2121-4FE0-9701-950DF9DA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学习培训</a:t>
            </a:r>
          </a:p>
        </p:txBody>
      </p:sp>
      <p:sp>
        <p:nvSpPr>
          <p:cNvPr id="12" name="bar-track-3-1">
            <a:extLst xmlns:a="http://schemas.openxmlformats.org/drawingml/2006/main">
              <a:ext uri="{FF2B5EF4-FFF2-40B4-BE49-F238E27FC236}">
                <a16:creationId xmlns:a16="http://schemas.microsoft.com/office/drawing/2014/main" id="{53D91C1A-8D5E-4939-8657-D0985850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037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bar-3-1">
            <a:extLst xmlns:a="http://schemas.openxmlformats.org/drawingml/2006/main">
              <a:ext uri="{FF2B5EF4-FFF2-40B4-BE49-F238E27FC236}">
                <a16:creationId xmlns:a16="http://schemas.microsoft.com/office/drawing/2014/main" id="{CCA403DB-408B-4DAC-AB93-42C49BE1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0375"/>
            <a:ext cx="203813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EE484-2767-42F3-8CE2-3FA6CC57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55.2%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24D94-1CD1-4A08-B1AB-68BB3997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432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16" name="bar-track-3-2">
            <a:extLst xmlns:a="http://schemas.openxmlformats.org/drawingml/2006/main">
              <a:ext uri="{FF2B5EF4-FFF2-40B4-BE49-F238E27FC236}">
                <a16:creationId xmlns:a16="http://schemas.microsoft.com/office/drawing/2014/main" id="{2F6E258D-A550-43E4-9469-0406871B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bar-3-2">
            <a:extLst xmlns:a="http://schemas.openxmlformats.org/drawingml/2006/main">
              <a:ext uri="{FF2B5EF4-FFF2-40B4-BE49-F238E27FC236}">
                <a16:creationId xmlns:a16="http://schemas.microsoft.com/office/drawing/2014/main" id="{D2F77BAB-3E10-4570-9CB8-C200D5C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187315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018BB-0EC8-478F-A11F-4032546F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50.8%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6CF68-FFCF-4F01-A4E0-34457588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信息管理</a:t>
            </a:r>
          </a:p>
        </p:txBody>
      </p:sp>
      <p:sp>
        <p:nvSpPr>
          <p:cNvPr id="20" name="bar-track-3-3">
            <a:extLst xmlns:a="http://schemas.openxmlformats.org/drawingml/2006/main">
              <a:ext uri="{FF2B5EF4-FFF2-40B4-BE49-F238E27FC236}">
                <a16:creationId xmlns:a16="http://schemas.microsoft.com/office/drawing/2014/main" id="{0C785D32-36EF-4D31-907F-65A48DD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5287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bar-3-3">
            <a:extLst xmlns:a="http://schemas.openxmlformats.org/drawingml/2006/main">
              <a:ext uri="{FF2B5EF4-FFF2-40B4-BE49-F238E27FC236}">
                <a16:creationId xmlns:a16="http://schemas.microsoft.com/office/drawing/2014/main" id="{082E28CA-EA99-46B1-AC22-C0E081A9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52875"/>
            <a:ext cx="176279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F892C-42E5-40DD-BA58-025D452A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47.8%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FD2EF-D9E1-47AA-B2CD-36DF9EFF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多媒体创作</a:t>
            </a:r>
          </a:p>
        </p:txBody>
      </p:sp>
      <p:sp>
        <p:nvSpPr>
          <p:cNvPr id="24" name="bar-track-3-4">
            <a:extLst xmlns:a="http://schemas.openxmlformats.org/drawingml/2006/main">
              <a:ext uri="{FF2B5EF4-FFF2-40B4-BE49-F238E27FC236}">
                <a16:creationId xmlns:a16="http://schemas.microsoft.com/office/drawing/2014/main" id="{DCCF2822-54FB-4271-83DC-83C7161E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bar-3-4">
            <a:extLst xmlns:a="http://schemas.openxmlformats.org/drawingml/2006/main">
              <a:ext uri="{FF2B5EF4-FFF2-40B4-BE49-F238E27FC236}">
                <a16:creationId xmlns:a16="http://schemas.microsoft.com/office/drawing/2014/main" id="{5BF4D981-D3DB-4C3C-8935-78CDCECF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96407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1F1FA-4DAF-464C-A287-97345B18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26.1%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59C8D-0D8D-4AB4-BE5B-D34B83DD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流程协作</a:t>
            </a:r>
          </a:p>
        </p:txBody>
      </p:sp>
      <p:sp>
        <p:nvSpPr>
          <p:cNvPr id="28" name="bar-track-3-5">
            <a:extLst xmlns:a="http://schemas.openxmlformats.org/drawingml/2006/main">
              <a:ext uri="{FF2B5EF4-FFF2-40B4-BE49-F238E27FC236}">
                <a16:creationId xmlns:a16="http://schemas.microsoft.com/office/drawing/2014/main" id="{A090B7A2-68E8-48B4-8216-0DDB2082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bar-3-5">
            <a:extLst xmlns:a="http://schemas.openxmlformats.org/drawingml/2006/main">
              <a:ext uri="{FF2B5EF4-FFF2-40B4-BE49-F238E27FC236}">
                <a16:creationId xmlns:a16="http://schemas.microsoft.com/office/drawing/2014/main" id="{303EA520-C19F-4D4C-AA58-89392F9E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63336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80BDC-D066-44CD-ABC7-89C29DBB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17.2%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2C44B3-4C01-4CE1-BAD7-ED129590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主要障碍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560D58-1C57-444D-8FC8-79386C92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9077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流程系统集成难</a:t>
            </a:r>
          </a:p>
        </p:txBody>
      </p:sp>
      <p:sp>
        <p:nvSpPr>
          <p:cNvPr id="33" name="bar-track-3-0">
            <a:extLst xmlns:a="http://schemas.openxmlformats.org/drawingml/2006/main">
              <a:ext uri="{FF2B5EF4-FFF2-40B4-BE49-F238E27FC236}">
                <a16:creationId xmlns:a16="http://schemas.microsoft.com/office/drawing/2014/main" id="{98848FC4-571C-4E14-97F9-343724CA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bar-3-0">
            <a:extLst xmlns:a="http://schemas.openxmlformats.org/drawingml/2006/main">
              <a:ext uri="{FF2B5EF4-FFF2-40B4-BE49-F238E27FC236}">
                <a16:creationId xmlns:a16="http://schemas.microsoft.com/office/drawing/2014/main" id="{03674A59-3ED6-4D05-9D84-B4184B49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245452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DDF549-6B5D-44F7-B43F-625FE5DE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8125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55.2%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61BD8E-3482-4E45-9DAD-EBD136C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6702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技能知识不足</a:t>
            </a:r>
          </a:p>
        </p:txBody>
      </p:sp>
      <p:sp>
        <p:nvSpPr>
          <p:cNvPr id="37" name="bar-track-3-1">
            <a:extLst xmlns:a="http://schemas.openxmlformats.org/drawingml/2006/main">
              <a:ext uri="{FF2B5EF4-FFF2-40B4-BE49-F238E27FC236}">
                <a16:creationId xmlns:a16="http://schemas.microsoft.com/office/drawing/2014/main" id="{0178C525-797D-44E2-B6CC-7F169A6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0375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bar-3-1">
            <a:extLst xmlns:a="http://schemas.openxmlformats.org/drawingml/2006/main">
              <a:ext uri="{FF2B5EF4-FFF2-40B4-BE49-F238E27FC236}">
                <a16:creationId xmlns:a16="http://schemas.microsoft.com/office/drawing/2014/main" id="{EEE561CA-4DED-4150-A093-D0B435D9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0375"/>
            <a:ext cx="238829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6E910C-9032-4076-8A3C-8AE3ADEA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53.7%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D08833-4FFC-4C86-9A5A-8B34BD83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4327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数据安全担忧</a:t>
            </a:r>
          </a:p>
        </p:txBody>
      </p:sp>
      <p:sp>
        <p:nvSpPr>
          <p:cNvPr id="41" name="bar-track-3-2">
            <a:extLst xmlns:a="http://schemas.openxmlformats.org/drawingml/2006/main">
              <a:ext uri="{FF2B5EF4-FFF2-40B4-BE49-F238E27FC236}">
                <a16:creationId xmlns:a16="http://schemas.microsoft.com/office/drawing/2014/main" id="{6482BE2D-00CE-435F-8D69-E5E34BEC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bar-3-2">
            <a:extLst xmlns:a="http://schemas.openxmlformats.org/drawingml/2006/main">
              <a:ext uri="{FF2B5EF4-FFF2-40B4-BE49-F238E27FC236}">
                <a16:creationId xmlns:a16="http://schemas.microsoft.com/office/drawing/2014/main" id="{34EEEC62-EA7E-4F65-B8B5-3D856885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238829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B1F201-F798-433D-914E-C2344BF6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53.7%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1EDF35-E97B-44C2-B030-64CD0DA2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可靠性准确性存疑</a:t>
            </a:r>
          </a:p>
        </p:txBody>
      </p:sp>
      <p:sp>
        <p:nvSpPr>
          <p:cNvPr id="45" name="bar-track-3-3">
            <a:extLst xmlns:a="http://schemas.openxmlformats.org/drawingml/2006/main">
              <a:ext uri="{FF2B5EF4-FFF2-40B4-BE49-F238E27FC236}">
                <a16:creationId xmlns:a16="http://schemas.microsoft.com/office/drawing/2014/main" id="{E276AA04-7DDB-4B41-946C-B0DCB2A6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52875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bar-3-3">
            <a:extLst xmlns:a="http://schemas.openxmlformats.org/drawingml/2006/main">
              <a:ext uri="{FF2B5EF4-FFF2-40B4-BE49-F238E27FC236}">
                <a16:creationId xmlns:a16="http://schemas.microsoft.com/office/drawing/2014/main" id="{F053EFB7-480B-498B-8F10-6988CB6E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52875"/>
            <a:ext cx="232206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6072AE-3925-4CD8-96F5-87AA382D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52.2%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26262D-C90B-4249-8195-CF69D86A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9577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工具成本较高</a:t>
            </a:r>
          </a:p>
        </p:txBody>
      </p:sp>
      <p:sp>
        <p:nvSpPr>
          <p:cNvPr id="49" name="bar-track-3-4">
            <a:extLst xmlns:a="http://schemas.openxmlformats.org/drawingml/2006/main">
              <a:ext uri="{FF2B5EF4-FFF2-40B4-BE49-F238E27FC236}">
                <a16:creationId xmlns:a16="http://schemas.microsoft.com/office/drawing/2014/main" id="{8ACD884A-5675-4940-8EC1-91628830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bar-3-4">
            <a:extLst xmlns:a="http://schemas.openxmlformats.org/drawingml/2006/main">
              <a:ext uri="{FF2B5EF4-FFF2-40B4-BE49-F238E27FC236}">
                <a16:creationId xmlns:a16="http://schemas.microsoft.com/office/drawing/2014/main" id="{AB436172-DC96-4113-BBC0-B0F894F4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139306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F30A3E-1494-4655-8459-BB8C441F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8625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31.3%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BB3EAF-AFF4-4EDF-A7D9-B3D62646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原则边界不清</a:t>
            </a:r>
          </a:p>
        </p:txBody>
      </p:sp>
      <p:sp>
        <p:nvSpPr>
          <p:cNvPr id="53" name="bar-track-3-5">
            <a:extLst xmlns:a="http://schemas.openxmlformats.org/drawingml/2006/main">
              <a:ext uri="{FF2B5EF4-FFF2-40B4-BE49-F238E27FC236}">
                <a16:creationId xmlns:a16="http://schemas.microsoft.com/office/drawing/2014/main" id="{33F400B5-CBE5-4A32-910C-DF315AE1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05375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bar-3-5">
            <a:extLst xmlns:a="http://schemas.openxmlformats.org/drawingml/2006/main">
              <a:ext uri="{FF2B5EF4-FFF2-40B4-BE49-F238E27FC236}">
                <a16:creationId xmlns:a16="http://schemas.microsoft.com/office/drawing/2014/main" id="{88C07DD0-287F-45E4-A78F-8D85A728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05375"/>
            <a:ext cx="72986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AC1126-E817-4557-B4FB-FB79BD61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6250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16.4%</a:t>
            </a:r>
          </a:p>
        </p:txBody>
      </p:sp>
      <p:sp>
        <p:nvSpPr>
          <p:cNvPr id="56" name="quote-3-结论">
            <a:extLst xmlns:a="http://schemas.openxmlformats.org/drawingml/2006/main">
              <a:ext uri="{FF2B5EF4-FFF2-40B4-BE49-F238E27FC236}">
                <a16:creationId xmlns:a16="http://schemas.microsoft.com/office/drawing/2014/main" id="{BE891EAC-FF6D-405E-AD1D-617BC4D6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DBEF7A-90FA-45F5-8A0B-9AA9FDDA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6F3129-F12B-4817-AEEE-C34B3CEE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591860-02E8-4EED-8913-CCFD7E11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32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不能只做一次工具培训。能力建设、安全边界、流程改造和实际验证必须同步推进。</a:t>
            </a:r>
          </a:p>
        </p:txBody>
      </p:sp>
      <p:sp>
        <p:nvSpPr>
          <p:cNvPr id="60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ACC88DAD-D98D-4E04-B87D-26A46650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7EBBF19C-AC1F-4A2B-BEE2-703782B9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来源：问卷汇总结果表；总体多选题比例，n=134。</a:t>
            </a:r>
          </a:p>
        </p:txBody>
      </p:sp>
      <p:sp>
        <p:nvSpPr>
          <p:cNvPr id="62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3557EC2-7A07-4758-A878-26ACFE9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78836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4">
            <a:extLst xmlns:a="http://schemas.openxmlformats.org/drawingml/2006/main">
              <a:ext uri="{FF2B5EF4-FFF2-40B4-BE49-F238E27FC236}">
                <a16:creationId xmlns:a16="http://schemas.microsoft.com/office/drawing/2014/main" id="{1276058C-9934-49E0-9DCB-4A90C17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6B07DAE7-0315-4F0C-84C7-3C8BA578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AFBD7CDF-90C5-4524-8D89-5E448611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领导信号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4318ED5B-F3F0-44DA-A6A2-ACC92E38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公司领导与中层领导共同指向：实用优先、安全前置、专业参与</a:t>
            </a:r>
          </a:p>
        </p:txBody>
      </p:sp>
      <p:sp>
        <p:nvSpPr>
          <p:cNvPr id="5" name="support-4">
            <a:extLst xmlns:a="http://schemas.openxmlformats.org/drawingml/2006/main">
              <a:ext uri="{FF2B5EF4-FFF2-40B4-BE49-F238E27FC236}">
                <a16:creationId xmlns:a16="http://schemas.microsoft.com/office/drawing/2014/main" id="{23DDBB3B-3E6E-44F2-9742-6FB95CC4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两类管理人员都关注真实工作问题，而不是单纯的工具展示。</a:t>
            </a:r>
          </a:p>
        </p:txBody>
      </p:sp>
      <p:sp>
        <p:nvSpPr>
          <p:cNvPr id="6" name="leaders-panel">
            <a:extLst xmlns:a="http://schemas.openxmlformats.org/drawingml/2006/main">
              <a:ext uri="{FF2B5EF4-FFF2-40B4-BE49-F238E27FC236}">
                <a16:creationId xmlns:a16="http://schemas.microsoft.com/office/drawing/2014/main" id="{CDD94FC4-49D0-4B45-80CB-7E8F9066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048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6E6F7-6344-481D-8781-49C9ACC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公司领导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83C7F-34E6-4199-8DA9-F8ACE811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n=6  |  平均频率 2.67  |  高频使用 16.7%</a:t>
            </a:r>
          </a:p>
        </p:txBody>
      </p:sp>
      <p:sp>
        <p:nvSpPr>
          <p:cNvPr id="9" name="quote-4-匿名共识">
            <a:extLst xmlns:a="http://schemas.openxmlformats.org/drawingml/2006/main">
              <a:ext uri="{FF2B5EF4-FFF2-40B4-BE49-F238E27FC236}">
                <a16:creationId xmlns:a16="http://schemas.microsoft.com/office/drawing/2014/main" id="{B0FF2E3E-B548-49D4-B87C-F1D9F8EA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41D1C-EC85-4AA8-B4F9-594371D0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2780E-8D10-40C5-B245-02DB4CFE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匿名共识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31328-26AB-463C-B3F7-6A7C00F7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先做基础培训，再挖掘可能性。</a:t>
            </a:r>
          </a:p>
        </p:txBody>
      </p:sp>
      <p:sp>
        <p:nvSpPr>
          <p:cNvPr id="13" name="quote-4-匿名共识">
            <a:extLst xmlns:a="http://schemas.openxmlformats.org/drawingml/2006/main">
              <a:ext uri="{FF2B5EF4-FFF2-40B4-BE49-F238E27FC236}">
                <a16:creationId xmlns:a16="http://schemas.microsoft.com/office/drawing/2014/main" id="{C3184110-FA41-4430-89F8-FE2F9800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81D9E-E5BE-4981-B8AE-75FF6F36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35766-F1F3-4A04-B3DF-AF90C1B6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匿名共识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4AA02-4143-4BB5-8C4C-EC180DA9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注意公司信息保密，关注投资、成本、设计等专业辅助。</a:t>
            </a:r>
          </a:p>
        </p:txBody>
      </p:sp>
      <p:sp>
        <p:nvSpPr>
          <p:cNvPr id="17" name="middle-panel">
            <a:extLst xmlns:a="http://schemas.openxmlformats.org/drawingml/2006/main">
              <a:ext uri="{FF2B5EF4-FFF2-40B4-BE49-F238E27FC236}">
                <a16:creationId xmlns:a16="http://schemas.microsoft.com/office/drawing/2014/main" id="{04F81E33-0A9F-4EAC-ABFF-B2D62D7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048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F2630-574A-4B96-AD87-F50B2CBE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中层领导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86153-12F6-4870-A5B3-3E6439F6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n=12  |  平均频率 3.25  |  高频使用 41.7%</a:t>
            </a:r>
          </a:p>
        </p:txBody>
      </p:sp>
      <p:sp>
        <p:nvSpPr>
          <p:cNvPr id="20" name="quote-4-匿名共识">
            <a:extLst xmlns:a="http://schemas.openxmlformats.org/drawingml/2006/main">
              <a:ext uri="{FF2B5EF4-FFF2-40B4-BE49-F238E27FC236}">
                <a16:creationId xmlns:a16="http://schemas.microsoft.com/office/drawing/2014/main" id="{CBCA018B-EC2B-4FB4-88B0-9678D68A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69789-66AE-4279-8A0B-BABA013B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25E59-D73F-4D44-B677-AFBE2C0E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匿名共识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6A595-8B57-4E48-8785-32251437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从小场景入手，贴合业务，优先解决实际工作问题。</a:t>
            </a:r>
          </a:p>
        </p:txBody>
      </p:sp>
      <p:sp>
        <p:nvSpPr>
          <p:cNvPr id="24" name="quote-4-匿名共识">
            <a:extLst xmlns:a="http://schemas.openxmlformats.org/drawingml/2006/main">
              <a:ext uri="{FF2B5EF4-FFF2-40B4-BE49-F238E27FC236}">
                <a16:creationId xmlns:a16="http://schemas.microsoft.com/office/drawing/2014/main" id="{41DCEF94-B808-4B28-AF29-2BF920B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71F3F-2DB0-46F9-AD00-AB2258C7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BAE66-8261-4F59-972D-D389E256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匿名共识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357CE-7F96-4B3F-8541-31BE3A2B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2435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分层培训、岗位实操、骨干进阶和常态复训。</a:t>
            </a:r>
          </a:p>
        </p:txBody>
      </p:sp>
      <p:sp>
        <p:nvSpPr>
          <p:cNvPr id="28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8805152E-5770-4063-B5F6-18A385E3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FFF5F064-BF77-4867-AEEB-EA908C5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来源：问卷原始结果表；公司领导定义为部门=领导班子，中层领导定义含中心总经理、中心副总经理和中心总经理助理。</a:t>
            </a:r>
          </a:p>
        </p:txBody>
      </p:sp>
      <p:sp>
        <p:nvSpPr>
          <p:cNvPr id="3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4B8D4425-CDDE-4B36-A337-832772F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84912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5">
            <a:extLst xmlns:a="http://schemas.openxmlformats.org/drawingml/2006/main">
              <a:ext uri="{FF2B5EF4-FFF2-40B4-BE49-F238E27FC236}">
                <a16:creationId xmlns:a16="http://schemas.microsoft.com/office/drawing/2014/main" id="{B5003005-5E22-4903-A525-B7395F81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47BC5223-16B9-4E0F-92EE-0651A52C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585E65EC-6A96-4FE1-8A93-B06BF8CF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年度主线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58A1974A-AAA2-4E0A-9A29-0172000A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AI大赛不是起点，而是前序工作的成果出口</a:t>
            </a:r>
          </a:p>
        </p:txBody>
      </p:sp>
      <p:sp>
        <p:nvSpPr>
          <p:cNvPr id="5" name="support-5">
            <a:extLst xmlns:a="http://schemas.openxmlformats.org/drawingml/2006/main">
              <a:ext uri="{FF2B5EF4-FFF2-40B4-BE49-F238E27FC236}">
                <a16:creationId xmlns:a16="http://schemas.microsoft.com/office/drawing/2014/main" id="{33662B93-71C4-4C39-AC59-3E91BD07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rPr>
              <a:t>培训、摸排和试点都要服务于真实业务成果的形成。</a:t>
            </a:r>
          </a:p>
        </p:txBody>
      </p:sp>
      <p:sp>
        <p:nvSpPr>
          <p:cNvPr id="6" name="stage-5-0">
            <a:extLst xmlns:a="http://schemas.openxmlformats.org/drawingml/2006/main">
              <a:ext uri="{FF2B5EF4-FFF2-40B4-BE49-F238E27FC236}">
                <a16:creationId xmlns:a16="http://schemas.microsoft.com/office/drawing/2014/main" id="{4AD71D61-111A-47B8-BD24-0C655BE1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74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DD3DD-FC53-481D-AD96-F2455135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E5991-EBB2-4B39-81E7-DC510DFC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调研诊断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ECBEC-BD45-478B-AE42-1267193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识别真实需求</a:t>
            </a:r>
          </a:p>
        </p:txBody>
      </p:sp>
      <p:sp>
        <p:nvSpPr>
          <p:cNvPr id="10" name="stage-link-5-0">
            <a:extLst xmlns:a="http://schemas.openxmlformats.org/drawingml/2006/main">
              <a:ext uri="{FF2B5EF4-FFF2-40B4-BE49-F238E27FC236}">
                <a16:creationId xmlns:a16="http://schemas.microsoft.com/office/drawing/2014/main" id="{2A2AEFA6-56ED-4BBB-B235-E15B60A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50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5-1">
            <a:extLst xmlns:a="http://schemas.openxmlformats.org/drawingml/2006/main">
              <a:ext uri="{FF2B5EF4-FFF2-40B4-BE49-F238E27FC236}">
                <a16:creationId xmlns:a16="http://schemas.microsoft.com/office/drawing/2014/main" id="{E3C884D9-4CF8-45FC-AA19-12A14FD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050" y="2571750"/>
            <a:ext cx="174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62731-FDD3-4100-B075-516A6B7D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2686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109D4-406B-4133-91D5-B7ED1732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29337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分层培训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9540C-343A-4B97-A3CB-41F778FA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32289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形成基础能力</a:t>
            </a:r>
          </a:p>
        </p:txBody>
      </p:sp>
      <p:sp>
        <p:nvSpPr>
          <p:cNvPr id="15" name="stage-link-5-1">
            <a:extLst xmlns:a="http://schemas.openxmlformats.org/drawingml/2006/main">
              <a:ext uri="{FF2B5EF4-FFF2-40B4-BE49-F238E27FC236}">
                <a16:creationId xmlns:a16="http://schemas.microsoft.com/office/drawing/2014/main" id="{3B9F49AE-7863-4A7F-8A0E-D66DFDFC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tage-5-2">
            <a:extLst xmlns:a="http://schemas.openxmlformats.org/drawingml/2006/main">
              <a:ext uri="{FF2B5EF4-FFF2-40B4-BE49-F238E27FC236}">
                <a16:creationId xmlns:a16="http://schemas.microsoft.com/office/drawing/2014/main" id="{4C50BC07-8BCB-40DC-BC4B-5D2AD840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571750"/>
            <a:ext cx="174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4BF9A-8C9E-4FAD-9072-D7D5C33A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686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8E920-05D5-4E2C-BDE1-E4CB556E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9337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场景摸排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FF740-98F0-4F63-A02C-48E0AFF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289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建立单位项目池</a:t>
            </a:r>
          </a:p>
        </p:txBody>
      </p:sp>
      <p:sp>
        <p:nvSpPr>
          <p:cNvPr id="20" name="stage-link-5-2">
            <a:extLst xmlns:a="http://schemas.openxmlformats.org/drawingml/2006/main">
              <a:ext uri="{FF2B5EF4-FFF2-40B4-BE49-F238E27FC236}">
                <a16:creationId xmlns:a16="http://schemas.microsoft.com/office/drawing/2014/main" id="{09839E98-F513-49B0-979E-B0915B1F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tage-5-3">
            <a:extLst xmlns:a="http://schemas.openxmlformats.org/drawingml/2006/main">
              <a:ext uri="{FF2B5EF4-FFF2-40B4-BE49-F238E27FC236}">
                <a16:creationId xmlns:a16="http://schemas.microsoft.com/office/drawing/2014/main" id="{6595ED57-6458-4703-BADF-F12C9CD2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74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37743-4F7A-4811-86F3-0544E4F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B3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CB69F-25C0-4FD0-ACC4-BF0595AF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项目试点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C616A-4BD6-434C-B8B9-F3A55A81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289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记录前后变化</a:t>
            </a:r>
          </a:p>
        </p:txBody>
      </p:sp>
      <p:sp>
        <p:nvSpPr>
          <p:cNvPr id="25" name="stage-link-5-3">
            <a:extLst xmlns:a="http://schemas.openxmlformats.org/drawingml/2006/main">
              <a:ext uri="{FF2B5EF4-FFF2-40B4-BE49-F238E27FC236}">
                <a16:creationId xmlns:a16="http://schemas.microsoft.com/office/drawing/2014/main" id="{342FA2F0-52A2-402B-AFDF-0F334E53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tage-5-4">
            <a:extLst xmlns:a="http://schemas.openxmlformats.org/drawingml/2006/main">
              <a:ext uri="{FF2B5EF4-FFF2-40B4-BE49-F238E27FC236}">
                <a16:creationId xmlns:a16="http://schemas.microsoft.com/office/drawing/2014/main" id="{11C6A384-F875-4EEC-9403-1D46132D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71750"/>
            <a:ext cx="174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C0B878-71A7-4F64-99B3-37DAED67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88258D-9D64-4FD1-AFBD-073AF39F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9337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AI大赛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00F8CE-ADBC-42E1-B0AA-ECA1D5FA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2289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展示实际成果</a:t>
            </a:r>
          </a:p>
        </p:txBody>
      </p:sp>
      <p:sp>
        <p:nvSpPr>
          <p:cNvPr id="30" name="stage-link-5-4">
            <a:extLst xmlns:a="http://schemas.openxmlformats.org/drawingml/2006/main">
              <a:ext uri="{FF2B5EF4-FFF2-40B4-BE49-F238E27FC236}">
                <a16:creationId xmlns:a16="http://schemas.microsoft.com/office/drawing/2014/main" id="{109ABA06-DE47-4BD1-A9D0-A54B4032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950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tage-5-5">
            <a:extLst xmlns:a="http://schemas.openxmlformats.org/drawingml/2006/main">
              <a:ext uri="{FF2B5EF4-FFF2-40B4-BE49-F238E27FC236}">
                <a16:creationId xmlns:a16="http://schemas.microsoft.com/office/drawing/2014/main" id="{964B97E9-4C06-4513-B590-02E60D61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2571750"/>
            <a:ext cx="174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651ED5-E60F-4996-A428-DB7369E2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550" y="2686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2C0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4A52DB-DA6A-4C10-8BA3-50EE1B62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550" y="2933700"/>
            <a:ext cx="151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成果转化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3B9F33-8A55-4538-91BE-ACA6838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550" y="3228975"/>
            <a:ext cx="151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复制成熟方法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DEDC1E-D12E-4708-BF2A-27E6D6DB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前四个阶段解决“能不能做、怎么做、是否有效”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C52DCB-1517-48B7-BE49-6E73FBA3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后两个阶段解决“如何展示、如何复制”</a:t>
            </a:r>
          </a:p>
        </p:txBody>
      </p:sp>
      <p:sp>
        <p:nvSpPr>
          <p:cNvPr id="37" name="mainline-callout">
            <a:extLst xmlns:a="http://schemas.openxmlformats.org/drawingml/2006/main">
              <a:ext uri="{FF2B5EF4-FFF2-40B4-BE49-F238E27FC236}">
                <a16:creationId xmlns:a16="http://schemas.microsoft.com/office/drawing/2014/main" id="{6B1313D3-3732-4A55-BC52-DD9D1A2B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39B5F4-9820-4BC6-8564-7B653AA7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项目只有形成业务价值、实际提效证据和安全边界，才进入AI大赛决赛与成果转化。</a:t>
            </a:r>
          </a:p>
        </p:txBody>
      </p:sp>
      <p:sp>
        <p:nvSpPr>
          <p:cNvPr id="39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3EF74F3-89B6-4FFD-85AE-9B3632A8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3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28884B3E-C1A2-4E5A-83DD-1487E02A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年度工作主线：调研诊断 → 分层培训 → 场景摸排 → 项目试点 → AI大赛 → 成果转化</a:t>
            </a:r>
          </a:p>
        </p:txBody>
      </p:sp>
      <p:sp>
        <p:nvSpPr>
          <p:cNvPr id="41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70969545-4CF2-4193-9D4C-501C63CB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3907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6">
            <a:extLst xmlns:a="http://schemas.openxmlformats.org/drawingml/2006/main">
              <a:ext uri="{FF2B5EF4-FFF2-40B4-BE49-F238E27FC236}">
                <a16:creationId xmlns:a16="http://schemas.microsoft.com/office/drawing/2014/main" id="{A7C7E6FD-3EDA-4A4F-8057-6B9A71B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4DA8D46F-EB1D-45FC-8A1A-EFB5941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FCF232C0-F4C5-4E29-B0C0-95FE9FBB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执行节奏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B143EDED-DBAA-4DBD-9A14-A7352692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2026年6月至12月按五个阶段推进</a:t>
            </a:r>
          </a:p>
        </p:txBody>
      </p:sp>
      <p:sp>
        <p:nvSpPr>
          <p:cNvPr id="5" name="support-6">
            <a:extLst xmlns:a="http://schemas.openxmlformats.org/drawingml/2006/main">
              <a:ext uri="{FF2B5EF4-FFF2-40B4-BE49-F238E27FC236}">
                <a16:creationId xmlns:a16="http://schemas.microsoft.com/office/drawing/2014/main" id="{94702F93-0199-4617-B37F-B3EFAC89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每个阶段都有明确交付，并逐步收敛为可参赛、可复制的项目成果。</a:t>
            </a:r>
          </a:p>
        </p:txBody>
      </p:sp>
      <p:sp>
        <p:nvSpPr>
          <p:cNvPr id="6" name="phase-0">
            <a:extLst xmlns:a="http://schemas.openxmlformats.org/drawingml/2006/main">
              <a:ext uri="{FF2B5EF4-FFF2-40B4-BE49-F238E27FC236}">
                <a16:creationId xmlns:a16="http://schemas.microsoft.com/office/drawing/2014/main" id="{8DC19B3B-13F9-4AF4-A27E-B2A89017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08788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1C258-F1B4-4356-BB17-AEA95B52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08788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5BC19-FD97-41A2-A9B3-FB2D940B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74498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6月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89FFE-A7C6-43F9-B043-972FE97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74498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基础搭建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C5F56-AD71-446F-8C3A-AA325D07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92FCB-64DB-46F3-B94E-A464B48C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章程完善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5AEAA-41DB-4A7C-93D0-4F02F69C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1D83F-386D-4D11-A8A2-8B3EEDA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调研发布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4E103-2F31-4ACE-BCDF-066344D5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B6903-34DC-48E1-90B4-EB0FDC08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场景确认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9912A-65E6-46FE-9A11-AFE201A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3AFF-3D4A-456F-8983-98A6F755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安全基础培训</a:t>
            </a:r>
          </a:p>
        </p:txBody>
      </p:sp>
      <p:sp>
        <p:nvSpPr>
          <p:cNvPr id="18" name="phase-1">
            <a:extLst xmlns:a="http://schemas.openxmlformats.org/drawingml/2006/main">
              <a:ext uri="{FF2B5EF4-FFF2-40B4-BE49-F238E27FC236}">
                <a16:creationId xmlns:a16="http://schemas.microsoft.com/office/drawing/2014/main" id="{67526FA4-64F0-457D-885E-983F6C75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2286000"/>
            <a:ext cx="208788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1E412-9692-449D-8E48-154E4C7E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2286000"/>
            <a:ext cx="208788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3E4E4-80EC-41CA-9816-10A81424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571750"/>
            <a:ext cx="174498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7—8月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3B7F1-8B9C-4A88-8266-5438B97C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952750"/>
            <a:ext cx="174498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能力与项目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3A15F-FF05-49AD-9BFE-A6F958C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79BC4-6163-4560-89CC-E114E237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730" y="34290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办公提效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8B708-F37F-4AF0-8EE0-F9854F89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F2DA85-4CA3-4623-B30A-6357D498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730" y="38290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场景挖掘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5A8EA-86F1-48C5-881B-48D41818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434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B70EA-9C9D-4612-B461-E2AD7E56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730" y="42291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知识管理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4349C-2C1C-4C4A-8FF7-0EC89FD4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A1E0C7-6E3B-460E-B7B5-384C0134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730" y="46291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岗位实训</a:t>
            </a:r>
          </a:p>
        </p:txBody>
      </p:sp>
      <p:sp>
        <p:nvSpPr>
          <p:cNvPr id="30" name="phase-2">
            <a:extLst xmlns:a="http://schemas.openxmlformats.org/drawingml/2006/main">
              <a:ext uri="{FF2B5EF4-FFF2-40B4-BE49-F238E27FC236}">
                <a16:creationId xmlns:a16="http://schemas.microsoft.com/office/drawing/2014/main" id="{299626CC-0BF8-40D6-9673-DBF2A7CC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286000"/>
            <a:ext cx="208788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CA608-42FA-415C-9D14-784E9F7C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286000"/>
            <a:ext cx="208788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CDE242-3044-434D-BD75-FB3F5D2D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2571750"/>
            <a:ext cx="174498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9—10月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AA9544-E700-4627-82A7-62A191AE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2952750"/>
            <a:ext cx="174498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重点试点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24E9C-56EF-4E06-A5CD-D897D257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9754-099F-4E6E-9D3E-1E534F5C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010" y="34290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自动化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3948FE-DF50-4F64-9F06-8351B885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577989-0362-41FF-B81B-9DC92CC7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010" y="38290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512F40-C482-4342-8480-EC569F92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434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BE8695-92FE-47F1-9593-8708A187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010" y="42291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流程协作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4F45A8-3F7D-4128-A97B-676B3A2B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8E1856-3FF8-4498-9784-4217F3EB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010" y="46291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效果验证</a:t>
            </a:r>
          </a:p>
        </p:txBody>
      </p:sp>
      <p:sp>
        <p:nvSpPr>
          <p:cNvPr id="42" name="phase-3">
            <a:extLst xmlns:a="http://schemas.openxmlformats.org/drawingml/2006/main">
              <a:ext uri="{FF2B5EF4-FFF2-40B4-BE49-F238E27FC236}">
                <a16:creationId xmlns:a16="http://schemas.microsoft.com/office/drawing/2014/main" id="{4130D151-F1DF-4FCA-906A-B4957507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286000"/>
            <a:ext cx="208788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71A20F-5409-4398-BBBC-B84F216E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286000"/>
            <a:ext cx="208788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CEC5E5-F5C8-46A9-AADD-ADC9ECF6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71750"/>
            <a:ext cx="174498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11月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8B8ADD-F6D3-4BA7-A6D1-DBFCEE1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952750"/>
            <a:ext cx="174498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大赛辅导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98FD1C-0907-4EE4-9315-66E7C5BE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229B67-0A2E-4371-8DF1-6219DC61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290" y="34290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成果完善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BB885-095F-4CA6-B70A-423D0E8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D4D768-8CDF-49CD-AFCD-A696A7F0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290" y="38290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风险说明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1176ED-15C6-46F7-BC79-04B383E9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434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C5AEE1-373D-4079-8DD6-E8D4A425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290" y="42291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展示材料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215C50-E503-4634-AA83-15A25648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9573ED-D3F1-419C-BA84-DF97E81B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290" y="46291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项目初评</a:t>
            </a:r>
          </a:p>
        </p:txBody>
      </p:sp>
      <p:sp>
        <p:nvSpPr>
          <p:cNvPr id="54" name="phase-4">
            <a:extLst xmlns:a="http://schemas.openxmlformats.org/drawingml/2006/main">
              <a:ext uri="{FF2B5EF4-FFF2-40B4-BE49-F238E27FC236}">
                <a16:creationId xmlns:a16="http://schemas.microsoft.com/office/drawing/2014/main" id="{56C41B22-287E-4D46-9C7A-6905690E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0" y="2286000"/>
            <a:ext cx="208788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D2D22A-3E9F-44F4-996E-06426FD8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0" y="2286000"/>
            <a:ext cx="208788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6380DD-1268-4884-BDE3-A8071DA0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2571750"/>
            <a:ext cx="174498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407ACA-4B3C-4174-BD31-76A4611C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2952750"/>
            <a:ext cx="174498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决赛与转化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2720E1-458B-474D-8975-EABC009B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88CD44-FFD3-4C57-9B7A-1F6C9D27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570" y="34290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AI大赛决赛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A4027C-D9E9-4A34-BF30-55715EF3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63577D-6D4A-471F-A586-6032D590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570" y="38290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成果复盘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408866-B8C8-436F-81DE-328E96F6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434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57132D-0FF2-454F-BDCA-04B29F72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570" y="422910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案例沉淀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E7B748-C3A5-4CE0-A343-D7257559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27B810-EB57-4B58-9743-B267C1F0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570" y="46291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推广清单</a:t>
            </a:r>
          </a:p>
        </p:txBody>
      </p:sp>
      <p:sp>
        <p:nvSpPr>
          <p:cNvPr id="66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F6726352-F51D-4E90-97C6-5FB5A366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5106075E-3897-46E2-9DC9-7C8FD994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时间范围：2026年6月至12月；预算口径：待审。</a:t>
            </a:r>
          </a:p>
        </p:txBody>
      </p:sp>
      <p:sp>
        <p:nvSpPr>
          <p:cNvPr id="68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D27060A-315F-4E32-A1DD-A123FBBC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62307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7">
            <a:extLst xmlns:a="http://schemas.openxmlformats.org/drawingml/2006/main">
              <a:ext uri="{FF2B5EF4-FFF2-40B4-BE49-F238E27FC236}">
                <a16:creationId xmlns:a16="http://schemas.microsoft.com/office/drawing/2014/main" id="{66630E8F-0EDF-436C-A399-9516E49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0C274D70-3565-4B52-8570-86AA93D7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67048705-C3AD-4745-8EC0-9EA40A02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66E6F76E-E0DE-46E8-8479-28665F34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分层培训让全员覆盖与项目深度同时成立</a:t>
            </a:r>
          </a:p>
        </p:txBody>
      </p:sp>
      <p:sp>
        <p:nvSpPr>
          <p:cNvPr id="5" name="support-7">
            <a:extLst xmlns:a="http://schemas.openxmlformats.org/drawingml/2006/main">
              <a:ext uri="{FF2B5EF4-FFF2-40B4-BE49-F238E27FC236}">
                <a16:creationId xmlns:a16="http://schemas.microsoft.com/office/drawing/2014/main" id="{6E168F84-9B83-4C87-8687-85D5F43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课程从安全和办公提效起步，逐步进入场景定义、自动化、验证和大赛辅导。</a:t>
            </a:r>
          </a:p>
        </p:txBody>
      </p:sp>
      <p:sp>
        <p:nvSpPr>
          <p:cNvPr id="6" name="tier-0">
            <a:extLst xmlns:a="http://schemas.openxmlformats.org/drawingml/2006/main">
              <a:ext uri="{FF2B5EF4-FFF2-40B4-BE49-F238E27FC236}">
                <a16:creationId xmlns:a16="http://schemas.microsoft.com/office/drawing/2014/main" id="{BCFF514C-4677-44B0-B37A-AE8AFD7B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E6BB5-0E6D-4392-8703-33AEBA9B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E196D-E170-4746-8814-B6130861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14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成熟项目团队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1604E-D4E8-4F5C-8E4B-3879EF9C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62250"/>
            <a:ext cx="388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进阶辅导 / 大赛展示 / 成果转化</a:t>
            </a:r>
          </a:p>
        </p:txBody>
      </p:sp>
      <p:sp>
        <p:nvSpPr>
          <p:cNvPr id="10" name="tier-1">
            <a:extLst xmlns:a="http://schemas.openxmlformats.org/drawingml/2006/main">
              <a:ext uri="{FF2B5EF4-FFF2-40B4-BE49-F238E27FC236}">
                <a16:creationId xmlns:a16="http://schemas.microsoft.com/office/drawing/2014/main" id="{3F8C511A-82EA-45B1-B3B8-E16E666C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575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39E67-6472-468B-97A7-68698346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575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68CA7-AC28-4664-86AE-AB510C5C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390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各单位业务骨干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57355-FD7C-4679-A157-D645626A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38550"/>
            <a:ext cx="569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岗位实训 / 场景定义 / 重点试点</a:t>
            </a:r>
          </a:p>
        </p:txBody>
      </p:sp>
      <p:sp>
        <p:nvSpPr>
          <p:cNvPr id="14" name="tier-2">
            <a:extLst xmlns:a="http://schemas.openxmlformats.org/drawingml/2006/main">
              <a:ext uri="{FF2B5EF4-FFF2-40B4-BE49-F238E27FC236}">
                <a16:creationId xmlns:a16="http://schemas.microsoft.com/office/drawing/2014/main" id="{84C02DC0-635F-4BE9-BEC1-F1D9B84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3385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962E2-416B-4836-9D0C-1DBFB881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338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33AE2-1A73-4566-87D7-7D81515D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全体员工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E6BC1-4DE9-4C1E-89B8-F4685FC0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750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安全合规 / 基础认知 / 办公提效</a:t>
            </a:r>
          </a:p>
        </p:txBody>
      </p:sp>
      <p:sp>
        <p:nvSpPr>
          <p:cNvPr id="18" name="curriculum-rail">
            <a:extLst xmlns:a="http://schemas.openxmlformats.org/drawingml/2006/main">
              <a:ext uri="{FF2B5EF4-FFF2-40B4-BE49-F238E27FC236}">
                <a16:creationId xmlns:a16="http://schemas.microsoft.com/office/drawing/2014/main" id="{E42E08FF-B1CF-45C7-8983-4DAACF69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23812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94295-838A-4014-9B85-F75C1D96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重点课程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BFA3E-0DD6-4116-A988-3518456E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0242D-0667-4FD4-B2D7-342157D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95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AI办公技巧 73.13%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7984A-C09A-4792-A4DB-501597A2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B0F7A-2E22-4955-9280-E03381B3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业务场景挖掘 46.27%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B7EF2-2A32-4582-A8C3-D5A1572A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0EF15-24A0-4FE9-8F0F-332276D6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19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进阶自动化 29.10%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9437B-B1BF-45FA-B7A9-10DCF3AB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54D69-8B11-4B6C-B23F-20D1D24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81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输出甄别 28.36%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8575B6-8F8B-478F-8978-494F080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57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E0497-E5F5-4933-9218-21827D65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工具选型 26.12%</a:t>
            </a:r>
          </a:p>
        </p:txBody>
      </p:sp>
      <p:sp>
        <p:nvSpPr>
          <p:cNvPr id="30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2D7EABCF-18AC-4ACB-ADB3-674BFEC1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C3ACF065-ECC6-49AD-B3E3-7E3B9E29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来源：问卷汇总结果表；培训采用分层参与制。</a:t>
            </a:r>
          </a:p>
        </p:txBody>
      </p:sp>
      <p:sp>
        <p:nvSpPr>
          <p:cNvPr id="3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0443CF6-6DBF-486C-B5D1-CBD6E21E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73406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8">
            <a:extLst xmlns:a="http://schemas.openxmlformats.org/drawingml/2006/main">
              <a:ext uri="{FF2B5EF4-FFF2-40B4-BE49-F238E27FC236}">
                <a16:creationId xmlns:a16="http://schemas.microsoft.com/office/drawing/2014/main" id="{FF864C0A-7473-4767-B3CB-3A383CE8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0109A305-4EF3-425A-9301-DAE2CE4E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5F86DF49-09FF-47B2-ADF5-0AAB99E9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项目池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F3B10D3C-2A51-4A16-AAA0-616D91C2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全部单位进入项目池，重点资源集中支持12个试点</a:t>
            </a:r>
          </a:p>
        </p:txBody>
      </p:sp>
      <p:sp>
        <p:nvSpPr>
          <p:cNvPr id="5" name="support-8">
            <a:extLst xmlns:a="http://schemas.openxmlformats.org/drawingml/2006/main">
              <a:ext uri="{FF2B5EF4-FFF2-40B4-BE49-F238E27FC236}">
                <a16:creationId xmlns:a16="http://schemas.microsoft.com/office/drawing/2014/main" id="{3B77E650-8F03-45A6-ACB2-59A37428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全面覆盖避免场景漏项，集中支持避免资源分散和形式化申报。</a:t>
            </a:r>
          </a:p>
        </p:txBody>
      </p:sp>
      <p:sp>
        <p:nvSpPr>
          <p:cNvPr id="6" name="funnel-0">
            <a:extLst xmlns:a="http://schemas.openxmlformats.org/drawingml/2006/main">
              <a:ext uri="{FF2B5EF4-FFF2-40B4-BE49-F238E27FC236}">
                <a16:creationId xmlns:a16="http://schemas.microsoft.com/office/drawing/2014/main" id="{9BFEB746-2274-4812-AAE1-79C7A458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1F2C4-740F-4AAE-BDC1-A5457C81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AEAF3-BAC4-44F1-AC8C-5C28F4EA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正式业务单位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969ED-6E28-463F-90B0-A7314B9D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33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完成场景确认</a:t>
            </a:r>
          </a:p>
        </p:txBody>
      </p:sp>
      <p:sp>
        <p:nvSpPr>
          <p:cNvPr id="10" name="funnel-1">
            <a:extLst xmlns:a="http://schemas.openxmlformats.org/drawingml/2006/main">
              <a:ext uri="{FF2B5EF4-FFF2-40B4-BE49-F238E27FC236}">
                <a16:creationId xmlns:a16="http://schemas.microsoft.com/office/drawing/2014/main" id="{967F6B4C-0302-4A9A-A3FF-AE22B0FF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10C77-7505-4DD9-888C-D764895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CCB8D-039C-4E67-83FB-ED94BCB2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05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重点试点建议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E7E3D-75AC-4BDE-B929-61F9A585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访谈与受控验证</a:t>
            </a:r>
          </a:p>
        </p:txBody>
      </p:sp>
      <p:sp>
        <p:nvSpPr>
          <p:cNvPr id="14" name="funnel-2">
            <a:extLst xmlns:a="http://schemas.openxmlformats.org/drawingml/2006/main">
              <a:ext uri="{FF2B5EF4-FFF2-40B4-BE49-F238E27FC236}">
                <a16:creationId xmlns:a16="http://schemas.microsoft.com/office/drawing/2014/main" id="{29F9D738-0E5A-4C7F-9D22-1142583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100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5698D-730F-41E6-AE4F-6A7E1E43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052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97ACF-5AE9-4704-B2C8-A1450145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决赛项目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47BB0-C524-4734-830C-CDE8950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3385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形成实际提效证据</a:t>
            </a:r>
          </a:p>
        </p:txBody>
      </p:sp>
      <p:sp>
        <p:nvSpPr>
          <p:cNvPr id="18" name="funnel-3">
            <a:extLst xmlns:a="http://schemas.openxmlformats.org/drawingml/2006/main">
              <a:ext uri="{FF2B5EF4-FFF2-40B4-BE49-F238E27FC236}">
                <a16:creationId xmlns:a16="http://schemas.microsoft.com/office/drawing/2014/main" id="{671D9374-28A6-4EB5-8CE3-4DAF28BA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77FD6-ED35-473E-B740-0D63963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AD235-74C4-4704-9433-4CAB1AE4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053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可复制成果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F0042-496F-44AE-B646-3EC18403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模板、边界、说明</a:t>
            </a:r>
          </a:p>
        </p:txBody>
      </p:sp>
      <p:sp>
        <p:nvSpPr>
          <p:cNvPr id="22" name="coverage-rail">
            <a:extLst xmlns:a="http://schemas.openxmlformats.org/drawingml/2006/main">
              <a:ext uri="{FF2B5EF4-FFF2-40B4-BE49-F238E27FC236}">
                <a16:creationId xmlns:a16="http://schemas.microsoft.com/office/drawing/2014/main" id="{74A2980C-0BBC-4EF5-9C4A-3F0FC49D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2095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319239-7B5F-445C-901E-E3F7935E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95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覆盖口径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DB3782-5CC4-4104-8B23-34E7895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1619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14个中心/汇总单元</a:t>
            </a:r>
          </a:p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23个正式业务单位</a:t>
            </a:r>
          </a:p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22个单位已有问卷证据</a:t>
            </a:r>
          </a:p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1个单位待访谈验证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BF5A6-E99B-4AA2-A8C4-19A17166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624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领导班子作为跨公司指导意见来源，不作为项目申报单位。</a:t>
            </a:r>
          </a:p>
        </p:txBody>
      </p:sp>
      <p:sp>
        <p:nvSpPr>
          <p:cNvPr id="26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E2A0715-938A-451A-B05B-9886EDFA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F1E9C852-EC5B-49D8-8528-5835EBF9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组织层级依据公司通讯录核对；问卷中的“项目营销组（虚拟）”映射为正式单位“项目营销团队”。</a:t>
            </a:r>
          </a:p>
        </p:txBody>
      </p:sp>
      <p:sp>
        <p:nvSpPr>
          <p:cNvPr id="28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E9123F96-F2E9-40FE-82E7-E7E8FA75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37873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9">
            <a:extLst xmlns:a="http://schemas.openxmlformats.org/drawingml/2006/main">
              <a:ext uri="{FF2B5EF4-FFF2-40B4-BE49-F238E27FC236}">
                <a16:creationId xmlns:a16="http://schemas.microsoft.com/office/drawing/2014/main" id="{DF8BD143-0766-4A6E-90E4-6015EFBE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AC7A16CC-FA85-43FB-A63B-C409FE09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B663C978-54FE-4FD5-A243-1F97F4C6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试点组合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BF98EE6F-F16D-4404-AD48-54A41C90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重点试点组合先快后深，兼顾专业价值与风险</a:t>
            </a:r>
          </a:p>
        </p:txBody>
      </p:sp>
      <p:sp>
        <p:nvSpPr>
          <p:cNvPr id="5" name="support-9">
            <a:extLst xmlns:a="http://schemas.openxmlformats.org/drawingml/2006/main">
              <a:ext uri="{FF2B5EF4-FFF2-40B4-BE49-F238E27FC236}">
                <a16:creationId xmlns:a16="http://schemas.microsoft.com/office/drawing/2014/main" id="{D25720F1-25C7-422D-A4BB-242FA68C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低风险项目先形成可见实效，高风险专业场景在受控环境和人工复核下验证。</a:t>
            </a:r>
          </a:p>
        </p:txBody>
      </p:sp>
      <p:sp>
        <p:nvSpPr>
          <p:cNvPr id="6" name="pilot-group-0">
            <a:extLst xmlns:a="http://schemas.openxmlformats.org/drawingml/2006/main">
              <a:ext uri="{FF2B5EF4-FFF2-40B4-BE49-F238E27FC236}">
                <a16:creationId xmlns:a16="http://schemas.microsoft.com/office/drawing/2014/main" id="{4C217D7C-0C58-487F-A9F0-56955744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09B8B-61EE-4D32-937E-7F81B521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3840E-9952-4E3E-B9DF-C2749AC5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快速见效</a:t>
            </a:r>
          </a:p>
        </p:txBody>
      </p:sp>
      <p:sp>
        <p:nvSpPr>
          <p:cNvPr id="9" name="risk-9-335-270">
            <a:extLst xmlns:a="http://schemas.openxmlformats.org/drawingml/2006/main">
              <a:ext uri="{FF2B5EF4-FFF2-40B4-BE49-F238E27FC236}">
                <a16:creationId xmlns:a16="http://schemas.microsoft.com/office/drawing/2014/main" id="{51EC1D37-31BB-4288-9D02-8E2212DB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71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02376-A005-492A-93AB-16DFF12A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71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8B5E1-A8AA-498D-8A29-38E2C8B5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CA7D0-A3AE-433F-8F4A-BAE072A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周报与材料收集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45403-1CDB-44AE-BDD9-E189B80C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8FF7C-9E70-455C-BE9E-C961F8B2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工程汇报可视化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A61E4-ECCD-4B89-95F9-3590A3F2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D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77102-9D31-47A2-99C6-BEC674B1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项目流程跟踪</a:t>
            </a:r>
          </a:p>
        </p:txBody>
      </p:sp>
      <p:sp>
        <p:nvSpPr>
          <p:cNvPr id="17" name="pilot-group-1">
            <a:extLst xmlns:a="http://schemas.openxmlformats.org/drawingml/2006/main">
              <a:ext uri="{FF2B5EF4-FFF2-40B4-BE49-F238E27FC236}">
                <a16:creationId xmlns:a16="http://schemas.microsoft.com/office/drawing/2014/main" id="{0D1FF8E9-FA74-42CB-9858-4289FDC3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88863-8FA0-4E9E-93C6-10B0774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52ED0-DC70-4993-BC79-7323CCA4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业务深化</a:t>
            </a:r>
          </a:p>
        </p:txBody>
      </p:sp>
      <p:sp>
        <p:nvSpPr>
          <p:cNvPr id="20" name="risk-9-725-270">
            <a:extLst xmlns:a="http://schemas.openxmlformats.org/drawingml/2006/main">
              <a:ext uri="{FF2B5EF4-FFF2-40B4-BE49-F238E27FC236}">
                <a16:creationId xmlns:a16="http://schemas.microsoft.com/office/drawing/2014/main" id="{86C151ED-05CC-4D8D-8797-2B89BC0A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7A6C9-07C6-49C2-890C-A5A2BCF1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C2996-739B-465D-8492-0928B95D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D6826-9337-4681-A022-5910CE27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67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公文与制度知识库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23C37-E74D-4285-9E1D-C4773156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6EB27-9226-4FBD-BEE2-E7F15261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385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营销方案与合规提醒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71C940-D610-48AA-84E3-E9F361DF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D4E253-6965-407D-8B1C-DF5723C0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10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投资信息核验清单</a:t>
            </a:r>
          </a:p>
        </p:txBody>
      </p:sp>
      <p:sp>
        <p:nvSpPr>
          <p:cNvPr id="28" name="pilot-group-2">
            <a:extLst xmlns:a="http://schemas.openxmlformats.org/drawingml/2006/main">
              <a:ext uri="{FF2B5EF4-FFF2-40B4-BE49-F238E27FC236}">
                <a16:creationId xmlns:a16="http://schemas.microsoft.com/office/drawing/2014/main" id="{3B65E695-A6B6-4B37-8AD6-477C59DA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2C949E-5FAC-440D-8FAA-3FDB203F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467EC-5207-4E93-99B6-8177B82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受控专业</a:t>
            </a:r>
          </a:p>
        </p:txBody>
      </p:sp>
      <p:sp>
        <p:nvSpPr>
          <p:cNvPr id="31" name="risk-9-1115-270">
            <a:extLst xmlns:a="http://schemas.openxmlformats.org/drawingml/2006/main">
              <a:ext uri="{FF2B5EF4-FFF2-40B4-BE49-F238E27FC236}">
                <a16:creationId xmlns:a16="http://schemas.microsoft.com/office/drawing/2014/main" id="{D18FF9B9-DE8B-4CC6-A722-903DD02E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71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DF1FA4-F12D-41CB-A76A-04F9C8CC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71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656780-7294-4DFE-B023-9D16C19A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4D70D2-98AC-4515-B400-9D9CAFB2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67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财务数据与对账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535522-DDB5-480E-A4C0-35157320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B9E740-64E4-48D8-B239-E2178EAB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385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成本清标与清单复核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728808-4333-4F74-A9CD-25A1B6B6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31106A-BDB1-4E87-B639-4E4A461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0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产品审图与风险线索</a:t>
            </a:r>
          </a:p>
        </p:txBody>
      </p:sp>
      <p:sp>
        <p:nvSpPr>
          <p:cNvPr id="39" name="quote-9-项目门槛">
            <a:extLst xmlns:a="http://schemas.openxmlformats.org/drawingml/2006/main">
              <a:ext uri="{FF2B5EF4-FFF2-40B4-BE49-F238E27FC236}">
                <a16:creationId xmlns:a16="http://schemas.microsoft.com/office/drawing/2014/main" id="{23340034-7ECA-4C84-B6D5-34EBB416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BF5B6C-03CF-4E62-A53F-03DAD69C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902B92-703A-4C5D-9286-FE7D6FF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项目门槛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D264B3-759D-40EA-B8F0-F8C2D739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32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无负责人、无明确指标、风险不可控或无实际证据的项目，不进入AI大赛决赛。</a:t>
            </a:r>
          </a:p>
        </p:txBody>
      </p:sp>
      <p:sp>
        <p:nvSpPr>
          <p:cNvPr id="4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5D3844F9-98B6-43C8-A194-AD86F540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ooter-source-9">
            <a:extLst xmlns:a="http://schemas.openxmlformats.org/drawingml/2006/main">
              <a:ext uri="{FF2B5EF4-FFF2-40B4-BE49-F238E27FC236}">
                <a16:creationId xmlns:a16="http://schemas.microsoft.com/office/drawing/2014/main" id="{D66908A1-A6FB-46B8-AF5C-89180D2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来源：问卷开放题意见、单位场景归纳和重点试点建议评分；进入试点前仍需访谈确认。</a:t>
            </a:r>
          </a:p>
        </p:txBody>
      </p:sp>
      <p:sp>
        <p:nvSpPr>
          <p:cNvPr id="4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67D5A7E5-173B-4D59-8924-2271A71D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401982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0">
            <a:extLst xmlns:a="http://schemas.openxmlformats.org/drawingml/2006/main">
              <a:ext uri="{FF2B5EF4-FFF2-40B4-BE49-F238E27FC236}">
                <a16:creationId xmlns:a16="http://schemas.microsoft.com/office/drawing/2014/main" id="{B3472904-B439-45F8-BEB6-C951B980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22517A65-1BB7-4A43-A776-EE9D89B9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8EC686A-F679-49F2-ABFB-87106293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大赛评审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AAD7FFB2-60CE-4437-B9B4-65199C8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AI大赛以实际提效证据评审，不以工具展示取胜</a:t>
            </a:r>
          </a:p>
        </p:txBody>
      </p:sp>
      <p:sp>
        <p:nvSpPr>
          <p:cNvPr id="5" name="support-10">
            <a:extLst xmlns:a="http://schemas.openxmlformats.org/drawingml/2006/main">
              <a:ext uri="{FF2B5EF4-FFF2-40B4-BE49-F238E27FC236}">
                <a16:creationId xmlns:a16="http://schemas.microsoft.com/office/drawing/2014/main" id="{0C37A6F0-24BD-4FDF-BFBA-08329CF5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项目必须证明业务价值、可复制性和安全边界。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91275-5706-472C-B01E-ADC88D5A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7" name="bar-track-10-0">
            <a:extLst xmlns:a="http://schemas.openxmlformats.org/drawingml/2006/main">
              <a:ext uri="{FF2B5EF4-FFF2-40B4-BE49-F238E27FC236}">
                <a16:creationId xmlns:a16="http://schemas.microsoft.com/office/drawing/2014/main" id="{0B3E9542-3B31-40C9-ADC2-FB3E35F9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47925"/>
            <a:ext cx="400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bar-10-0">
            <a:extLst xmlns:a="http://schemas.openxmlformats.org/drawingml/2006/main">
              <a:ext uri="{FF2B5EF4-FFF2-40B4-BE49-F238E27FC236}">
                <a16:creationId xmlns:a16="http://schemas.microsoft.com/office/drawing/2014/main" id="{CE9C1F73-7F34-4154-91F6-7FD70F57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47925"/>
            <a:ext cx="400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BE9A7-9F51-49C5-9C9A-46DE8DE7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E7D32-8950-477C-9C52-E76D526D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实际提效证据</a:t>
            </a:r>
          </a:p>
        </p:txBody>
      </p:sp>
      <p:sp>
        <p:nvSpPr>
          <p:cNvPr id="11" name="bar-track-10-1">
            <a:extLst xmlns:a="http://schemas.openxmlformats.org/drawingml/2006/main">
              <a:ext uri="{FF2B5EF4-FFF2-40B4-BE49-F238E27FC236}">
                <a16:creationId xmlns:a16="http://schemas.microsoft.com/office/drawing/2014/main" id="{22E6FE5F-7421-4C39-A10B-0322CEF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24175"/>
            <a:ext cx="400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bar-10-1">
            <a:extLst xmlns:a="http://schemas.openxmlformats.org/drawingml/2006/main">
              <a:ext uri="{FF2B5EF4-FFF2-40B4-BE49-F238E27FC236}">
                <a16:creationId xmlns:a16="http://schemas.microsoft.com/office/drawing/2014/main" id="{422CA19B-6652-489E-A288-7B5971F0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24175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C4837-6CC4-4996-9FC9-D615641C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D673F-FABF-479C-A6D2-F129D8A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可复制性</a:t>
            </a:r>
          </a:p>
        </p:txBody>
      </p:sp>
      <p:sp>
        <p:nvSpPr>
          <p:cNvPr id="15" name="bar-track-10-2">
            <a:extLst xmlns:a="http://schemas.openxmlformats.org/drawingml/2006/main">
              <a:ext uri="{FF2B5EF4-FFF2-40B4-BE49-F238E27FC236}">
                <a16:creationId xmlns:a16="http://schemas.microsoft.com/office/drawing/2014/main" id="{74FADE97-9622-4D85-A3DA-8170BE65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00425"/>
            <a:ext cx="400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ar-10-2">
            <a:extLst xmlns:a="http://schemas.openxmlformats.org/drawingml/2006/main">
              <a:ext uri="{FF2B5EF4-FFF2-40B4-BE49-F238E27FC236}">
                <a16:creationId xmlns:a16="http://schemas.microsoft.com/office/drawing/2014/main" id="{B1944010-9F21-403C-8103-A331C9CA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00425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22824-937E-4DA5-83EC-F2AC68E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130BB-C785-4849-897A-AB6A2FBE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安全合规</a:t>
            </a:r>
          </a:p>
        </p:txBody>
      </p:sp>
      <p:sp>
        <p:nvSpPr>
          <p:cNvPr id="19" name="bar-track-10-3">
            <a:extLst xmlns:a="http://schemas.openxmlformats.org/drawingml/2006/main">
              <a:ext uri="{FF2B5EF4-FFF2-40B4-BE49-F238E27FC236}">
                <a16:creationId xmlns:a16="http://schemas.microsoft.com/office/drawing/2014/main" id="{C3690525-24AC-425D-A4B9-E519365F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76675"/>
            <a:ext cx="400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bar-10-3">
            <a:extLst xmlns:a="http://schemas.openxmlformats.org/drawingml/2006/main">
              <a:ext uri="{FF2B5EF4-FFF2-40B4-BE49-F238E27FC236}">
                <a16:creationId xmlns:a16="http://schemas.microsoft.com/office/drawing/2014/main" id="{F5DE6D95-999D-4C1B-BFAD-CB2EF6F4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76675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E769C-D631-4960-92AC-506CA634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7A1C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444FB-6D06-457F-BC8F-332C43BF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用户体验</a:t>
            </a:r>
          </a:p>
        </p:txBody>
      </p:sp>
      <p:sp>
        <p:nvSpPr>
          <p:cNvPr id="23" name="bar-track-10-4">
            <a:extLst xmlns:a="http://schemas.openxmlformats.org/drawingml/2006/main">
              <a:ext uri="{FF2B5EF4-FFF2-40B4-BE49-F238E27FC236}">
                <a16:creationId xmlns:a16="http://schemas.microsoft.com/office/drawing/2014/main" id="{6FCBEA1D-819E-40AD-A010-9DC3377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52925"/>
            <a:ext cx="400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bar-10-4">
            <a:extLst xmlns:a="http://schemas.openxmlformats.org/drawingml/2006/main">
              <a:ext uri="{FF2B5EF4-FFF2-40B4-BE49-F238E27FC236}">
                <a16:creationId xmlns:a16="http://schemas.microsoft.com/office/drawing/2014/main" id="{85DB4A51-3301-41E0-BFA5-16F0EB0A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52925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B5788-6806-44C9-A7B8-FB4806AC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7E51B-5CBD-493A-BFEE-3BCD8740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成果完整度</a:t>
            </a:r>
          </a:p>
        </p:txBody>
      </p:sp>
      <p:sp>
        <p:nvSpPr>
          <p:cNvPr id="27" name="bar-track-10-5">
            <a:extLst xmlns:a="http://schemas.openxmlformats.org/drawingml/2006/main">
              <a:ext uri="{FF2B5EF4-FFF2-40B4-BE49-F238E27FC236}">
                <a16:creationId xmlns:a16="http://schemas.microsoft.com/office/drawing/2014/main" id="{CAA2B892-016E-4A90-9AB4-9D2AE857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29175"/>
            <a:ext cx="400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bar-10-5">
            <a:extLst xmlns:a="http://schemas.openxmlformats.org/drawingml/2006/main">
              <a:ext uri="{FF2B5EF4-FFF2-40B4-BE49-F238E27FC236}">
                <a16:creationId xmlns:a16="http://schemas.microsoft.com/office/drawing/2014/main" id="{E36AC56E-9608-41CD-822D-A8F59A5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2917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70BB1-9F7E-493F-9066-C4639D91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57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30" name="competition-proof">
            <a:extLst xmlns:a="http://schemas.openxmlformats.org/drawingml/2006/main">
              <a:ext uri="{FF2B5EF4-FFF2-40B4-BE49-F238E27FC236}">
                <a16:creationId xmlns:a16="http://schemas.microsoft.com/office/drawing/2014/main" id="{5B9EFF03-717A-45E8-B1D4-C2097B6D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3619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4AD62-B0B9-41E9-9371-004DD786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参赛项目必须提交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E1D39F-8887-4E1D-8DD9-1A612D37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04CE10-BEC6-48F1-8386-DC45A621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真实业务痛点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F1710E-3987-4297-AD54-63B711E5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3E259A-06D5-4B22-BF71-8C288EC2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14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当前流程与目标流程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2A3A3E-4A3C-48CE-82BA-E15B8C7D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A295B4-D41A-49B3-9BBE-1E95F4AB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数据边界与人工复核点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57B2FF-0391-4CF0-9B16-D7BDAAAF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C95AB3-D3D1-4EC5-8D34-C8051517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529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试点前后对比证据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1A23FB-008E-4DD4-9E52-62A7A274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843D2E-EE5F-439A-A8A2-5BE8B5F1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可复制模板与使用说明</a:t>
            </a:r>
          </a:p>
        </p:txBody>
      </p:sp>
      <p:sp>
        <p:nvSpPr>
          <p:cNvPr id="42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8C09A76D-7444-4A8F-8866-C000B2EC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E7DA1436-CA5B-4ECD-9F88-4E579CB2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大赛评分：业务价值30%、实际提效证据25%、可复制性15%、安全合规15%、用户体验10%、成果完整度5%。</a:t>
            </a:r>
          </a:p>
        </p:txBody>
      </p:sp>
      <p:sp>
        <p:nvSpPr>
          <p:cNvPr id="44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9D24FA67-F3A9-44FD-A93E-7F9B477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09109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1">
            <a:extLst xmlns:a="http://schemas.openxmlformats.org/drawingml/2006/main">
              <a:ext uri="{FF2B5EF4-FFF2-40B4-BE49-F238E27FC236}">
                <a16:creationId xmlns:a16="http://schemas.microsoft.com/office/drawing/2014/main" id="{8E54ABB1-75A0-46AF-BB2D-85BDB753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12DC0943-31C8-48B3-8682-521F130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CC576406-1FF0-46B5-960C-289DEC8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A7F8E"/>
                </a:solidFill>
                <a:latin typeface="Microsoft YaHei"/>
                <a:ea typeface="Microsoft YaHei"/>
                <a:cs typeface="Microsoft YaHei"/>
              </a:rPr>
              <a:t>治理边界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A908AE4F-EBD2-479A-9F6B-2B01600C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治理和安全边界决定成果能否推广</a:t>
            </a:r>
          </a:p>
        </p:txBody>
      </p:sp>
      <p:sp>
        <p:nvSpPr>
          <p:cNvPr id="5" name="support-11">
            <a:extLst xmlns:a="http://schemas.openxmlformats.org/drawingml/2006/main">
              <a:ext uri="{FF2B5EF4-FFF2-40B4-BE49-F238E27FC236}">
                <a16:creationId xmlns:a16="http://schemas.microsoft.com/office/drawing/2014/main" id="{D596981E-AC03-4583-82C5-9B3E95B4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协会提供方法与协作支持，各单位仍对数据、专业判断、审批和最终输出负责。</a:t>
            </a:r>
          </a:p>
        </p:txBody>
      </p:sp>
      <p:sp>
        <p:nvSpPr>
          <p:cNvPr id="6" name="lane-0">
            <a:extLst xmlns:a="http://schemas.openxmlformats.org/drawingml/2006/main">
              <a:ext uri="{FF2B5EF4-FFF2-40B4-BE49-F238E27FC236}">
                <a16:creationId xmlns:a16="http://schemas.microsoft.com/office/drawing/2014/main" id="{BC5C8B20-B547-4B0A-B416-95C39387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1C24A-DBC9-432E-960D-53D3E36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76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17EC3-BBD8-4C21-B30A-CD66620E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协会理事会与秘书组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777B4-3005-4F03-9CB2-08CB513E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统筹计划、培训、项目台账、成果复盘</a:t>
            </a:r>
          </a:p>
        </p:txBody>
      </p:sp>
      <p:sp>
        <p:nvSpPr>
          <p:cNvPr id="10" name="lane-1">
            <a:extLst xmlns:a="http://schemas.openxmlformats.org/drawingml/2006/main">
              <a:ext uri="{FF2B5EF4-FFF2-40B4-BE49-F238E27FC236}">
                <a16:creationId xmlns:a16="http://schemas.microsoft.com/office/drawing/2014/main" id="{FB799571-5700-4335-B6DE-AAD86B63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0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6EEA9-D5FD-4250-A357-EE81CBCB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76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058E4-703B-40DE-8527-CD249E96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单位场景负责人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11754-0367-41AB-828F-9412334C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确认痛点、责任人、数据边界和验证指标</a:t>
            </a:r>
          </a:p>
        </p:txBody>
      </p:sp>
      <p:sp>
        <p:nvSpPr>
          <p:cNvPr id="14" name="lane-2">
            <a:extLst xmlns:a="http://schemas.openxmlformats.org/drawingml/2006/main">
              <a:ext uri="{FF2B5EF4-FFF2-40B4-BE49-F238E27FC236}">
                <a16:creationId xmlns:a16="http://schemas.microsoft.com/office/drawing/2014/main" id="{F79C5E4E-DE57-4563-8737-3253A966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7D44D-6057-4A2D-9D3E-2FD5B29D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76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6B71A-BE8F-40C8-A47F-AB086BDC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项目团队与专业导师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458F1-FAE2-4B86-83CE-4FAA65E9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957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试用、复核、记录证据、完善成果</a:t>
            </a:r>
          </a:p>
        </p:txBody>
      </p:sp>
      <p:sp>
        <p:nvSpPr>
          <p:cNvPr id="18" name="lane-3">
            <a:extLst xmlns:a="http://schemas.openxmlformats.org/drawingml/2006/main">
              <a:ext uri="{FF2B5EF4-FFF2-40B4-BE49-F238E27FC236}">
                <a16:creationId xmlns:a16="http://schemas.microsoft.com/office/drawing/2014/main" id="{F2BA6463-9396-4E27-89EA-97699641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18AA1-D91E-4FA9-A117-E6F01B77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76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BC84B-1548-4E1B-9407-FFC15BF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评审与相关支持单位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CFB8C-EBB8-41CC-89D4-F632FBD4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96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审议风险、评价成果、推动复制或系统化</a:t>
            </a:r>
          </a:p>
        </p:txBody>
      </p:sp>
      <p:sp>
        <p:nvSpPr>
          <p:cNvPr id="22" name="quote-11-安全底线">
            <a:extLst xmlns:a="http://schemas.openxmlformats.org/drawingml/2006/main">
              <a:ext uri="{FF2B5EF4-FFF2-40B4-BE49-F238E27FC236}">
                <a16:creationId xmlns:a16="http://schemas.microsoft.com/office/drawing/2014/main" id="{FA08242A-C206-4EE1-BF19-AA676072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D8399-2F11-4CA9-9F14-1E0FB85D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C8FE0-DD7A-426D-9064-D0FCD1D5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43B3B"/>
                </a:solidFill>
                <a:latin typeface="Microsoft YaHei"/>
                <a:ea typeface="Microsoft YaHei"/>
                <a:cs typeface="Microsoft YaHei"/>
              </a:rPr>
              <a:t>安全底线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1031A-692C-4B45-BA8A-FBC33C0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32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不得上传涉密、敏感、个人信息或未经授权的数据；重要结论必须人工复核，AI不得替代专业责任。</a:t>
            </a:r>
          </a:p>
        </p:txBody>
      </p:sp>
      <p:sp>
        <p:nvSpPr>
          <p:cNvPr id="26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61D0FC4C-7318-46EE-BBED-B62E25C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ooter-source-11">
            <a:extLst xmlns:a="http://schemas.openxmlformats.org/drawingml/2006/main">
              <a:ext uri="{FF2B5EF4-FFF2-40B4-BE49-F238E27FC236}">
                <a16:creationId xmlns:a16="http://schemas.microsoft.com/office/drawing/2014/main" id="{0CED9081-8BC1-4ED9-AFA3-9D9BC402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来源：问卷障碍与匿名意见归纳；数据安全、可靠性和流程集成均为高关注问题。</a:t>
            </a:r>
          </a:p>
        </p:txBody>
      </p:sp>
      <p:sp>
        <p:nvSpPr>
          <p:cNvPr id="28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85ACA593-E1C6-4A62-A100-C9CF39F3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402646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2">
            <a:extLst xmlns:a="http://schemas.openxmlformats.org/drawingml/2006/main">
              <a:ext uri="{FF2B5EF4-FFF2-40B4-BE49-F238E27FC236}">
                <a16:creationId xmlns:a16="http://schemas.microsoft.com/office/drawing/2014/main" id="{5470F176-E557-46CF-8596-402C6D2D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AB4A2809-CE7B-4531-B2F8-424A67F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D191FE3F-155E-45B5-BB4F-66282C18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年度验收</a:t>
            </a:r>
          </a:p>
        </p:txBody>
      </p:sp>
      <p:sp>
        <p:nvSpPr>
          <p:cNvPr id="4" name="title-12">
            <a:extLst xmlns:a="http://schemas.openxmlformats.org/drawingml/2006/main">
              <a:ext uri="{FF2B5EF4-FFF2-40B4-BE49-F238E27FC236}">
                <a16:creationId xmlns:a16="http://schemas.microsoft.com/office/drawing/2014/main" id="{D74A4FEC-1013-4589-8958-FD1C2B2A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年度验收以项目证据和可复制成果为准</a:t>
            </a:r>
          </a:p>
        </p:txBody>
      </p:sp>
      <p:sp>
        <p:nvSpPr>
          <p:cNvPr id="5" name="support-12">
            <a:extLst xmlns:a="http://schemas.openxmlformats.org/drawingml/2006/main">
              <a:ext uri="{FF2B5EF4-FFF2-40B4-BE49-F238E27FC236}">
                <a16:creationId xmlns:a16="http://schemas.microsoft.com/office/drawing/2014/main" id="{29A441AA-A3F2-4F7A-850C-7482DD69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0E8"/>
                </a:solidFill>
                <a:latin typeface="Microsoft YaHei"/>
                <a:ea typeface="Microsoft YaHei"/>
                <a:cs typeface="Microsoft YaHei"/>
              </a:rPr>
              <a:t>2026年12月的AI大赛既是展示节点，也是成果转化的起点。</a:t>
            </a:r>
          </a:p>
        </p:txBody>
      </p:sp>
      <p:sp>
        <p:nvSpPr>
          <p:cNvPr id="6" name="metric-12-单位候选项目覆盖">
            <a:extLst xmlns:a="http://schemas.openxmlformats.org/drawingml/2006/main">
              <a:ext uri="{FF2B5EF4-FFF2-40B4-BE49-F238E27FC236}">
                <a16:creationId xmlns:a16="http://schemas.microsoft.com/office/drawing/2014/main" id="{5A72851E-6121-4297-BA17-7E8EA77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6E6AB-23AE-4849-94F8-B3E8CEDB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49132-F8B2-4087-A3B4-6F39CB07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单位候选项目覆盖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96548-2A22-4F6C-8D85-F7148AC2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全部正式业务单位</a:t>
            </a:r>
          </a:p>
        </p:txBody>
      </p:sp>
      <p:sp>
        <p:nvSpPr>
          <p:cNvPr id="10" name="metric-12-重点试点">
            <a:extLst xmlns:a="http://schemas.openxmlformats.org/drawingml/2006/main">
              <a:ext uri="{FF2B5EF4-FFF2-40B4-BE49-F238E27FC236}">
                <a16:creationId xmlns:a16="http://schemas.microsoft.com/office/drawing/2014/main" id="{6343CCB6-AD41-4238-B457-3CC7FC92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14258-A76D-4B32-9891-F95CDF2D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193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8—12个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AFCFA-1FB5-44D7-9E40-DB2B9D9B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289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重点试点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2C189-8DA3-4799-88B2-494FB6D9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670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形成验证记录</a:t>
            </a:r>
          </a:p>
        </p:txBody>
      </p:sp>
      <p:sp>
        <p:nvSpPr>
          <p:cNvPr id="14" name="metric-12-决赛项目">
            <a:extLst xmlns:a="http://schemas.openxmlformats.org/drawingml/2006/main">
              <a:ext uri="{FF2B5EF4-FFF2-40B4-BE49-F238E27FC236}">
                <a16:creationId xmlns:a16="http://schemas.microsoft.com/office/drawing/2014/main" id="{F1BE8D7C-6081-4941-9088-983B1133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860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7344C-9828-464A-8213-73BED60D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193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6—8个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8F33A-02FD-450F-A476-0D9EA627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289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决赛项目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5EB05-1911-44C4-BD74-90FC804B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具备展示与风险说明</a:t>
            </a:r>
          </a:p>
        </p:txBody>
      </p:sp>
      <p:sp>
        <p:nvSpPr>
          <p:cNvPr id="18" name="metric-12-可复制成果">
            <a:extLst xmlns:a="http://schemas.openxmlformats.org/drawingml/2006/main">
              <a:ext uri="{FF2B5EF4-FFF2-40B4-BE49-F238E27FC236}">
                <a16:creationId xmlns:a16="http://schemas.microsoft.com/office/drawing/2014/main" id="{4685E564-6B6B-4067-BA23-878A3B86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09715-543F-48F8-BF76-9E3A8847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≥3个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DC47E-20A5-4B80-A5F7-26D50174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289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可复制成果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76F07-6423-47E6-A2A6-7E64A101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模板、边界、使用说明</a:t>
            </a:r>
          </a:p>
        </p:txBody>
      </p:sp>
      <p:sp>
        <p:nvSpPr>
          <p:cNvPr id="22" name="annual-acceptance-callout">
            <a:extLst xmlns:a="http://schemas.openxmlformats.org/drawingml/2006/main">
              <a:ext uri="{FF2B5EF4-FFF2-40B4-BE49-F238E27FC236}">
                <a16:creationId xmlns:a16="http://schemas.microsoft.com/office/drawing/2014/main" id="{2394BDF6-4C25-4C1D-9F35-806983D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962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0ADFF-398E-4148-97F3-6BA527C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904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下一步：完成各单位场景确认，锁定项目负责人，启动6月安全基础培训与候选项目申报。</a:t>
            </a:r>
          </a:p>
        </p:txBody>
      </p:sp>
      <p:sp>
        <p:nvSpPr>
          <p:cNvPr id="2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0A178A1A-D409-4BB5-9E0D-31C07303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3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ooter-source-12">
            <a:extLst xmlns:a="http://schemas.openxmlformats.org/drawingml/2006/main">
              <a:ext uri="{FF2B5EF4-FFF2-40B4-BE49-F238E27FC236}">
                <a16:creationId xmlns:a16="http://schemas.microsoft.com/office/drawing/2014/main" id="{9CFB338F-6EBB-46D2-8D4C-09BA7A2A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审阅通过后，再按目录版本规则升级为当前版本。</a:t>
            </a:r>
          </a:p>
        </p:txBody>
      </p:sp>
      <p:sp>
        <p:nvSpPr>
          <p:cNvPr id="2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CB56205D-C242-443B-9F3A-546F826A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8C6D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3267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2026-06-03T07:41:47.3540000Z</dcterms:created>
  <dcterms:modified xsi:type="dcterms:W3CDTF">2026-06-03T07:41:47.3540000Z</dcterms:modified>
</coreProperties>
</file>